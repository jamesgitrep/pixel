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ea99074-6f74-f41f-1d34-56e59155d5cd}">
          <p14:sldIdLst>
            <p14:sldId id="256"/>
            <p14:sldId id="257"/>
          </p14:sldIdLst>
        </p14:section>
        <p14:section name="Cloud architecture" id="{a00d8720-715a-ba67-cccc-cb902c538486}">
          <p14:sldIdLst>
            <p14:sldId id="258"/>
            <p14:sldId id="259"/>
            <p14:sldId id="260"/>
            <p14:sldId id="261"/>
          </p14:sldIdLst>
        </p14:section>
        <p14:section name="Google Cloud services" id="{f6683ccf-ff3e-f13f-8e42-a27421f9bdaf}">
          <p14:sldIdLst>
            <p14:sldId id="262"/>
            <p14:sldId id="263"/>
            <p14:sldId id="264"/>
          </p14:sldIdLst>
        </p14:section>
        <p14:section name="Product" id="{73cf1bb2-4adb-8ec2-c1b7-5681edc541fa}">
          <p14:sldIdLst>
            <p14:sldId id="265"/>
            <p14:sldId id="266"/>
            <p14:sldId id="267"/>
            <p14:sldId id="268"/>
          </p14:sldIdLst>
        </p14:section>
        <p14:section name="Operations" id="{5f31ea2d-3e6a-a054-20cc-e10519d097df}">
          <p14:sldIdLst>
            <p14:sldId id="269"/>
            <p14:sldId id="270"/>
          </p14:sldIdLst>
        </p14:section>
        <p14:section name="Status and next steps" id="{c899a20b-a666-2c94-f432-36074e27806b}">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platform that turns thousands of photos into one large photo mosaic. It is built as separate microservices and deployed on Google Cloud. Fill in your names and course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give artists and communities a way to build one large artwork from many photos. Tiles come from the shared community library and from each user's private vault. Live event submissions were part of the original plan and are now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project belongs on the cloud. Rendering is bursty: a large mosaic needs many CPUs for a short time, so autoscaling groups grow for the render and shrink back afterwards, and Spot VMs make that heavy maths cheap. Failures are routine and handled automatically. Users only reach the website through the load balancer. All state lives in Cloud Storage, so any VM can be replaced at any time without losing photos, accounts or results. Releases are one command and roll out without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path left to right. Users reach only the external load balancer, which forwards to the frontend VMs. The frontend sends /api requests through a private internal load balancer to the API Gateway. The gateway, the workers and the assembler share nothing except the private buckets: the gateway handles accounts and uploads and writes job tasks, workers pull tasks and write results, the assembler stitches the final image. Workers and the assembler accept no inbound traffic. On the left: Terraform creates everything, Cloud Build builds the images, and VMs pull them from Artifact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used in each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guarantees the deployment enforces. Users can only ever reach the frontend. Storage is private, uploads are relayed through the gateway with single-use tickets, each service has its own minimal identity, and personal vaults are tied to signed-in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 side. Each microservice has an instance template and a regional managed instance group with its own autoscaler, from 1 to 7 VMs. Health checks drive auto-healing, and workers use Spot VMs to keep the heavy maths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supporting services: two load balancers, a private VPC with firewall rules and Cloud NAT, private Cloud Storage buckets as the only data store, and Cloud Build plus Artifact Registry for images. IAM gives each service its own identity, and Logging collects every container's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runs between 1 and 7 VMs. Machines are the smallest that work: the frontend is an e2-micro, the gateway and assembler need about 4 GB for large images, and workers are small Spot VMs. The project's quota is 12 vCPUs, so small machines give the autoscaler the most headroom.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Studio is the main product. Every control in the BRD works: the engine picker, the personal-versus-community blend slider, strict tag filters, grid density, the no-repeat radius, and an alpha-tint slider you can still adjust after rendering. While the workers process, the canvas shows a ghosted version of the target; once every chunk is done, all the tiles fly in from the edges and dock into place. Click any tile to see the original photo, who contributed it and its colour-match score. Zooming past 200% swaps in sharp 256-pixel tiles, and large exports are stitched from the original photos. Exports go up to 12,000 pixels as PNG or JPEG.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Signing in is optional. Guests can upload their own photos and make mosaics straight away, but their vault only lasts for that browser session: the Studio shows a clear warning, the browser asks before they leave, and a storage lifecycle rule deletes guest photos after a day. If a guest signs up or signs in, everything they uploaded moves into their account. Accounts make the personal vault persistent. A user signs up once; photos they upload are saved under their account id in Cloud Storage, so signing in on any other device shows the same vault. There is still no database: each account is a small JSON file in a private bucket, and usernames and emails are claimed with create-if-absent writes so they can't be taken twice. Sessions are signed cookies that any gateway VM can verify. Forgot password works as a stub: the reset link is written to the server log until an email service is added. The Account page gives each user full control: their profile, storage used against a 500 MB quota, a grid to delete individual photos, and a danger zone that deletes the account and every personal photo after they type their username or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engines, all on ordinary CPUs. Photomosaic is the core: it compares colours perceptually in CIELAB space and matches each tile's internal layout. It searches in two stages: a single matrix product finds the 256 closest photos for every cell, then the exact CIEDE2000 formula picks among them, which matches 1,700 cells against 11,800 photos in about a second with the same result as a full search. ASCII equalises brightness with CLAHE so midtones such as skin use the whole glyph ramp, turns the strongest edges into line glyphs, and can paint every glyph in the photo's own colour. Kuwahara gives an oil-paint look by averaging each pixel's calmest neighbourhood quadrant; it is computed entirely with box filters, so a 4K frame takes about 0.3 seconds. The flow field paints brush strokes along the edges of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numbers from the local cluster: a 60-column grid on a 4:3 target gives 2,700 tiles, split into 9 row bands and processed by 3 workers, producing a 7,980 × 5,985 image in about 7 seconds. Coordination is entirely through lock files in the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Workers publish a heartbeat to the coordination bucket every three seconds, with real CPU readings and throughput counters. The admin dashboard aggregates them. The dashboard refreshes every five seconds. The same page has a moderation grid of every community photo; deleting one removes its original, tiles and index entry, and requires a signed-in admin account. The page is only reachable on an unlisted URL; audience pages never show cluster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images run in both environments; only environment variables change. Locally the network layout mirrors the cloud firewall: the frontend is the only open port. Before deploying, the full test suite also ran against a local Cloud Storage emulator in production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core scope is built, tested end to end, and deployed to Google Cloud, including user accounts with a personal vault that persists across devices. There are 43 automated tests: engine unit tests plus end-to-end tests that also ran against the live deployment. The automated browser test ran against the live deployment: upload 30 photos, render a 60 by 40 mosaic, export it and clear the vault, in 44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Event Arena is the main item moved to future scope: QR-code joining, phone selfies, a spotlight on the big screen, and Find My Photo. Much of its groundwork already exists in the gateway, since its state is already stored in buckets. Everything else not yet built is listed on the right: event-driven ingestion with Pub/Sub, emailing password-reset links (today a stub that logs the link), putting the read-only dashboards behind the admin role that already guards moderation, HTTPS on a custom domain, Cloud Monitoring dashboards and alerts, and the deep-zoom viewer with an assembly time-lapse.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 The deployed application is live on Google Cloud at the address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rtlCol="0"/>
          <a:lstStyle>
            <a:lvl1pPr algn="l" indent="0" marL="0">
              <a:buNone/>
              <a:defRPr lang="en-US" sz="1200" b="1" spc="300" kern="0" dirty="0">
                <a:solidFill>
                  <a:schemeClr val="accent4"/>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583680" cy="320040"/>
          </a:xfrm>
          <a:prstGeom prst="rect">
            <a:avLst/>
          </a:prstGeom>
          <a:noFill/>
          <a:ln/>
        </p:spPr>
        <p:txBody>
          <a:bodyPr wrap="square" rtlCol="0"/>
          <a:lstStyle>
            <a:lvl1pPr algn="l" indent="0" marL="0">
              <a:buNone/>
              <a:defRPr lang="en-US" sz="1300" b="1" spc="400" kern="0" dirty="0">
                <a:solidFill>
                  <a:schemeClr val="accent4"/>
                </a:solidFill>
              </a:defRPr>
            </a:lvl1pPr>
          </a:lstStyle>
          <a:p>
            <a:pPr algn="l" indent="0" marL="0">
              <a:buNone/>
            </a:pPr>
            <a:endParaRPr lang="en-US" sz="1300" dirty="0"/>
          </a:p>
        </p:txBody>
      </p:sp>
      <p:sp>
        <p:nvSpPr>
          <p:cNvPr id="3" name="Text 0"/>
          <p:cNvSpPr/>
          <p:nvPr>
            <p:ph idx="101" type="title" hasCustomPrompt="1"/>
          </p:nvPr>
        </p:nvSpPr>
        <p:spPr>
          <a:xfrm>
            <a:off x="548640" y="1463040"/>
            <a:ext cx="6766560" cy="265176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4" name="Text 0"/>
          <p:cNvSpPr/>
          <p:nvPr>
            <p:ph idx="102" type="body" hasCustomPrompt="1"/>
          </p:nvPr>
        </p:nvSpPr>
        <p:spPr>
          <a:xfrm>
            <a:off x="548640" y="4206240"/>
            <a:ext cx="658368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5" name="Text 0"/>
          <p:cNvSpPr/>
          <p:nvPr>
            <p:ph idx="103" type="body" hasCustomPrompt="1"/>
          </p:nvPr>
        </p:nvSpPr>
        <p:spPr>
          <a:xfrm>
            <a:off x="548640" y="5760720"/>
            <a:ext cx="8229600"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8.233.196.233"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3.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8.233.196.233" TargetMode="Externa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583680" cy="320040"/>
          </a:xfrm>
          <a:prstGeom prst="rect">
            <a:avLst/>
          </a:prstGeom>
          <a:noFill/>
          <a:ln/>
        </p:spPr>
        <p:txBody>
          <a:bodyPr wrap="square" lIns="0" tIns="0" rIns="0" bIns="0" rtlCol="0"/>
          <a:lstStyle/>
          <a:p>
            <a:pPr algn="l" indent="0" marL="0">
              <a:buNone/>
            </a:pPr>
            <a:r>
              <a:rPr lang="en-US" sz="1300" b="1" spc="400" kern="0" dirty="0">
                <a:solidFill>
                  <a:schemeClr val="accent4"/>
                </a:solidFill>
              </a:rPr>
              <a:t>CLOUD COMPUTING PROJECT · BRD</a:t>
            </a:r>
            <a:endParaRPr lang="en-US" sz="1300" dirty="0"/>
          </a:p>
        </p:txBody>
      </p:sp>
      <p:sp>
        <p:nvSpPr>
          <p:cNvPr id="3" name="Text 0"/>
          <p:cNvSpPr/>
          <p:nvPr>
            <p:ph idx="101" type="title" hasCustomPrompt="1"/>
          </p:nvPr>
        </p:nvSpPr>
        <p:spPr>
          <a:xfrm>
            <a:off x="548640" y="1463040"/>
            <a:ext cx="6766560" cy="2651760"/>
          </a:xfrm>
          <a:prstGeom prst="rect">
            <a:avLst/>
          </a:prstGeom>
          <a:noFill/>
          <a:ln/>
        </p:spPr>
        <p:txBody>
          <a:bodyPr wrap="square" lIns="0" tIns="0" rIns="0" bIns="0" rtlCol="0" anchor="t"/>
          <a:lstStyle/>
          <a:p>
            <a:pPr algn="l" indent="0" marL="0">
              <a:buNone/>
            </a:pPr>
            <a:r>
              <a:rPr lang="en-US" sz="5200" b="1" dirty="0">
                <a:solidFill>
                  <a:schemeClr val="bg1"/>
                </a:solidFill>
              </a:rPr>
              <a:t>Crowd-Sourced Pixel Art Mosaic Generator</a:t>
            </a:r>
            <a:endParaRPr lang="en-US" sz="5200" dirty="0"/>
          </a:p>
        </p:txBody>
      </p:sp>
      <p:sp>
        <p:nvSpPr>
          <p:cNvPr id="4" name="Text 0"/>
          <p:cNvSpPr/>
          <p:nvPr>
            <p:ph idx="102" type="body" hasCustomPrompt="1"/>
          </p:nvPr>
        </p:nvSpPr>
        <p:spPr>
          <a:xfrm>
            <a:off x="548640" y="4206240"/>
            <a:ext cx="6583680" cy="822960"/>
          </a:xfrm>
          <a:prstGeom prst="rect">
            <a:avLst/>
          </a:prstGeom>
          <a:noFill/>
          <a:ln/>
        </p:spPr>
        <p:txBody>
          <a:bodyPr wrap="square" lIns="0" tIns="0" rIns="0" bIns="0" rtlCol="0" anchor="t"/>
          <a:lstStyle/>
          <a:p>
            <a:pPr algn="l" indent="0" marL="0">
              <a:buNone/>
            </a:pPr>
            <a:r>
              <a:rPr lang="en-US" sz="2000" dirty="0">
                <a:solidFill>
                  <a:schemeClr val="accent6"/>
                </a:solidFill>
              </a:rPr>
              <a:t>A photo mosaic platform built as microservices on Google Cloud</a:t>
            </a:r>
            <a:endParaRPr lang="en-US" sz="2000" dirty="0"/>
          </a:p>
        </p:txBody>
      </p:sp>
      <p:sp>
        <p:nvSpPr>
          <p:cNvPr id="5" name="Text 0"/>
          <p:cNvSpPr/>
          <p:nvPr>
            <p:ph idx="103" type="body" hasCustomPrompt="1"/>
          </p:nvPr>
        </p:nvSpPr>
        <p:spPr>
          <a:xfrm>
            <a:off x="548640" y="5760720"/>
            <a:ext cx="8229600" cy="365760"/>
          </a:xfrm>
          <a:prstGeom prst="rect">
            <a:avLst/>
          </a:prstGeom>
          <a:noFill/>
          <a:ln/>
        </p:spPr>
        <p:txBody>
          <a:bodyPr wrap="square" lIns="0" tIns="0" rIns="0" bIns="0" rtlCol="0"/>
          <a:lstStyle/>
          <a:p>
            <a:pPr algn="l" indent="0" marL="0">
              <a:buNone/>
            </a:pPr>
            <a:r>
              <a:rPr lang="en-US" sz="1400" b="1" dirty="0">
                <a:solidFill>
                  <a:schemeClr val="bg1"/>
                </a:solidFill>
              </a:rPr>
              <a:t>Roll No. 24 &amp; 25</a:t>
            </a:r>
            <a:pPr algn="l" indent="0" marL="0">
              <a:buNone/>
            </a:pPr>
            <a:r>
              <a:rPr lang="en-US" sz="1400" dirty="0">
                <a:solidFill>
                  <a:schemeClr val="accent6"/>
                </a:solidFill>
              </a:rPr>
              <a:t> · [Name 1] &amp; [Name 2] · [College / course]</a:t>
            </a:r>
            <a:endParaRPr lang="en-US" sz="1400" dirty="0"/>
          </a:p>
        </p:txBody>
      </p:sp>
      <p:sp>
        <p:nvSpPr>
          <p:cNvPr id="6" name="tile-0-0"/>
          <p:cNvSpPr/>
          <p:nvPr/>
        </p:nvSpPr>
        <p:spPr>
          <a:xfrm>
            <a:off x="7909560" y="1234440"/>
            <a:ext cx="402336" cy="402336"/>
          </a:xfrm>
          <a:prstGeom prst="roundRect">
            <a:avLst>
              <a:gd name="adj" fmla="val 13636"/>
            </a:avLst>
          </a:prstGeom>
          <a:solidFill>
            <a:srgbClr val="1E293B"/>
          </a:solidFill>
          <a:ln/>
        </p:spPr>
      </p:sp>
      <p:sp>
        <p:nvSpPr>
          <p:cNvPr id="7" name="tile-0-1"/>
          <p:cNvSpPr/>
          <p:nvPr/>
        </p:nvSpPr>
        <p:spPr>
          <a:xfrm>
            <a:off x="8403336" y="1234440"/>
            <a:ext cx="402336" cy="402336"/>
          </a:xfrm>
          <a:prstGeom prst="roundRect">
            <a:avLst>
              <a:gd name="adj" fmla="val 13636"/>
            </a:avLst>
          </a:prstGeom>
          <a:solidFill>
            <a:srgbClr val="BE185D">
              <a:alpha val="92000"/>
            </a:srgbClr>
          </a:solidFill>
          <a:ln/>
        </p:spPr>
      </p:sp>
      <p:sp>
        <p:nvSpPr>
          <p:cNvPr id="8" name="tile-0-2"/>
          <p:cNvSpPr/>
          <p:nvPr/>
        </p:nvSpPr>
        <p:spPr>
          <a:xfrm>
            <a:off x="8897112" y="1234440"/>
            <a:ext cx="402336" cy="402336"/>
          </a:xfrm>
          <a:prstGeom prst="roundRect">
            <a:avLst>
              <a:gd name="adj" fmla="val 13636"/>
            </a:avLst>
          </a:prstGeom>
          <a:solidFill>
            <a:srgbClr val="F472B6">
              <a:alpha val="92000"/>
            </a:srgbClr>
          </a:solidFill>
          <a:ln/>
        </p:spPr>
      </p:sp>
      <p:sp>
        <p:nvSpPr>
          <p:cNvPr id="9" name="tile-0-3"/>
          <p:cNvSpPr/>
          <p:nvPr/>
        </p:nvSpPr>
        <p:spPr>
          <a:xfrm>
            <a:off x="9390888" y="1234440"/>
            <a:ext cx="402336" cy="402336"/>
          </a:xfrm>
          <a:prstGeom prst="roundRect">
            <a:avLst>
              <a:gd name="adj" fmla="val 13636"/>
            </a:avLst>
          </a:prstGeom>
          <a:solidFill>
            <a:srgbClr val="22D3EE">
              <a:alpha val="92000"/>
            </a:srgbClr>
          </a:solidFill>
          <a:ln/>
        </p:spPr>
      </p:sp>
      <p:sp>
        <p:nvSpPr>
          <p:cNvPr id="10" name="tile-0-4"/>
          <p:cNvSpPr/>
          <p:nvPr/>
        </p:nvSpPr>
        <p:spPr>
          <a:xfrm>
            <a:off x="9884664" y="1234440"/>
            <a:ext cx="402336" cy="402336"/>
          </a:xfrm>
          <a:prstGeom prst="roundRect">
            <a:avLst>
              <a:gd name="adj" fmla="val 13636"/>
            </a:avLst>
          </a:prstGeom>
          <a:solidFill>
            <a:srgbClr val="F472B6">
              <a:alpha val="92000"/>
            </a:srgbClr>
          </a:solidFill>
          <a:ln/>
        </p:spPr>
      </p:sp>
      <p:sp>
        <p:nvSpPr>
          <p:cNvPr id="11" name="tile-0-5"/>
          <p:cNvSpPr/>
          <p:nvPr/>
        </p:nvSpPr>
        <p:spPr>
          <a:xfrm>
            <a:off x="10378440" y="1234440"/>
            <a:ext cx="402336" cy="402336"/>
          </a:xfrm>
          <a:prstGeom prst="roundRect">
            <a:avLst>
              <a:gd name="adj" fmla="val 13636"/>
            </a:avLst>
          </a:prstGeom>
          <a:solidFill>
            <a:srgbClr val="0E7490">
              <a:alpha val="92000"/>
            </a:srgbClr>
          </a:solidFill>
          <a:ln/>
        </p:spPr>
      </p:sp>
      <p:sp>
        <p:nvSpPr>
          <p:cNvPr id="12" name="tile-0-6"/>
          <p:cNvSpPr/>
          <p:nvPr/>
        </p:nvSpPr>
        <p:spPr>
          <a:xfrm>
            <a:off x="10872216" y="1234440"/>
            <a:ext cx="402336" cy="402336"/>
          </a:xfrm>
          <a:prstGeom prst="roundRect">
            <a:avLst>
              <a:gd name="adj" fmla="val 13636"/>
            </a:avLst>
          </a:prstGeom>
          <a:solidFill>
            <a:srgbClr val="F472B6">
              <a:alpha val="92000"/>
            </a:srgbClr>
          </a:solidFill>
          <a:ln/>
        </p:spPr>
      </p:sp>
      <p:sp>
        <p:nvSpPr>
          <p:cNvPr id="13" name="tile-0-7"/>
          <p:cNvSpPr/>
          <p:nvPr/>
        </p:nvSpPr>
        <p:spPr>
          <a:xfrm>
            <a:off x="11365992" y="1234440"/>
            <a:ext cx="402336" cy="402336"/>
          </a:xfrm>
          <a:prstGeom prst="roundRect">
            <a:avLst>
              <a:gd name="adj" fmla="val 13636"/>
            </a:avLst>
          </a:prstGeom>
          <a:solidFill>
            <a:srgbClr val="F472B6">
              <a:alpha val="92000"/>
            </a:srgbClr>
          </a:solidFill>
          <a:ln/>
        </p:spPr>
      </p:sp>
      <p:sp>
        <p:nvSpPr>
          <p:cNvPr id="14" name="tile-1-0"/>
          <p:cNvSpPr/>
          <p:nvPr/>
        </p:nvSpPr>
        <p:spPr>
          <a:xfrm>
            <a:off x="7909560" y="1728216"/>
            <a:ext cx="402336" cy="402336"/>
          </a:xfrm>
          <a:prstGeom prst="roundRect">
            <a:avLst>
              <a:gd name="adj" fmla="val 13636"/>
            </a:avLst>
          </a:prstGeom>
          <a:solidFill>
            <a:srgbClr val="0E7490">
              <a:alpha val="92000"/>
            </a:srgbClr>
          </a:solidFill>
          <a:ln/>
        </p:spPr>
      </p:sp>
      <p:sp>
        <p:nvSpPr>
          <p:cNvPr id="15" name="tile-1-1"/>
          <p:cNvSpPr/>
          <p:nvPr/>
        </p:nvSpPr>
        <p:spPr>
          <a:xfrm>
            <a:off x="8403336" y="1728216"/>
            <a:ext cx="402336" cy="402336"/>
          </a:xfrm>
          <a:prstGeom prst="roundRect">
            <a:avLst>
              <a:gd name="adj" fmla="val 13636"/>
            </a:avLst>
          </a:prstGeom>
          <a:solidFill>
            <a:srgbClr val="6D28D9">
              <a:alpha val="92000"/>
            </a:srgbClr>
          </a:solidFill>
          <a:ln/>
        </p:spPr>
      </p:sp>
      <p:sp>
        <p:nvSpPr>
          <p:cNvPr id="16" name="tile-1-2"/>
          <p:cNvSpPr/>
          <p:nvPr/>
        </p:nvSpPr>
        <p:spPr>
          <a:xfrm>
            <a:off x="8897112" y="1728216"/>
            <a:ext cx="402336" cy="402336"/>
          </a:xfrm>
          <a:prstGeom prst="roundRect">
            <a:avLst>
              <a:gd name="adj" fmla="val 13636"/>
            </a:avLst>
          </a:prstGeom>
          <a:solidFill>
            <a:srgbClr val="1E293B"/>
          </a:solidFill>
          <a:ln/>
        </p:spPr>
      </p:sp>
      <p:sp>
        <p:nvSpPr>
          <p:cNvPr id="17" name="tile-1-3"/>
          <p:cNvSpPr/>
          <p:nvPr/>
        </p:nvSpPr>
        <p:spPr>
          <a:xfrm>
            <a:off x="9390888" y="1728216"/>
            <a:ext cx="402336" cy="402336"/>
          </a:xfrm>
          <a:prstGeom prst="roundRect">
            <a:avLst>
              <a:gd name="adj" fmla="val 13636"/>
            </a:avLst>
          </a:prstGeom>
          <a:solidFill>
            <a:srgbClr val="BE185D">
              <a:alpha val="92000"/>
            </a:srgbClr>
          </a:solidFill>
          <a:ln/>
        </p:spPr>
      </p:sp>
      <p:sp>
        <p:nvSpPr>
          <p:cNvPr id="18" name="tile-1-4"/>
          <p:cNvSpPr/>
          <p:nvPr/>
        </p:nvSpPr>
        <p:spPr>
          <a:xfrm>
            <a:off x="9884664" y="1728216"/>
            <a:ext cx="402336" cy="402336"/>
          </a:xfrm>
          <a:prstGeom prst="roundRect">
            <a:avLst>
              <a:gd name="adj" fmla="val 13636"/>
            </a:avLst>
          </a:prstGeom>
          <a:solidFill>
            <a:srgbClr val="BE185D">
              <a:alpha val="92000"/>
            </a:srgbClr>
          </a:solidFill>
          <a:ln/>
        </p:spPr>
      </p:sp>
      <p:sp>
        <p:nvSpPr>
          <p:cNvPr id="19" name="tile-1-5"/>
          <p:cNvSpPr/>
          <p:nvPr/>
        </p:nvSpPr>
        <p:spPr>
          <a:xfrm>
            <a:off x="10378440" y="1728216"/>
            <a:ext cx="402336" cy="402336"/>
          </a:xfrm>
          <a:prstGeom prst="roundRect">
            <a:avLst>
              <a:gd name="adj" fmla="val 13636"/>
            </a:avLst>
          </a:prstGeom>
          <a:solidFill>
            <a:srgbClr val="1E293B"/>
          </a:solidFill>
          <a:ln/>
        </p:spPr>
      </p:sp>
      <p:sp>
        <p:nvSpPr>
          <p:cNvPr id="20" name="tile-1-6"/>
          <p:cNvSpPr/>
          <p:nvPr/>
        </p:nvSpPr>
        <p:spPr>
          <a:xfrm>
            <a:off x="10872216" y="1728216"/>
            <a:ext cx="402336" cy="402336"/>
          </a:xfrm>
          <a:prstGeom prst="roundRect">
            <a:avLst>
              <a:gd name="adj" fmla="val 13636"/>
            </a:avLst>
          </a:prstGeom>
          <a:solidFill>
            <a:srgbClr val="F472B6">
              <a:alpha val="92000"/>
            </a:srgbClr>
          </a:solidFill>
          <a:ln/>
        </p:spPr>
      </p:sp>
      <p:sp>
        <p:nvSpPr>
          <p:cNvPr id="21" name="tile-1-7"/>
          <p:cNvSpPr/>
          <p:nvPr/>
        </p:nvSpPr>
        <p:spPr>
          <a:xfrm>
            <a:off x="11365992" y="1728216"/>
            <a:ext cx="402336" cy="402336"/>
          </a:xfrm>
          <a:prstGeom prst="roundRect">
            <a:avLst>
              <a:gd name="adj" fmla="val 13636"/>
            </a:avLst>
          </a:prstGeom>
          <a:solidFill>
            <a:srgbClr val="6D28D9">
              <a:alpha val="92000"/>
            </a:srgbClr>
          </a:solidFill>
          <a:ln/>
        </p:spPr>
      </p:sp>
      <p:sp>
        <p:nvSpPr>
          <p:cNvPr id="22" name="tile-2-0"/>
          <p:cNvSpPr/>
          <p:nvPr/>
        </p:nvSpPr>
        <p:spPr>
          <a:xfrm>
            <a:off x="7909560" y="2221992"/>
            <a:ext cx="402336" cy="402336"/>
          </a:xfrm>
          <a:prstGeom prst="roundRect">
            <a:avLst>
              <a:gd name="adj" fmla="val 13636"/>
            </a:avLst>
          </a:prstGeom>
          <a:solidFill>
            <a:srgbClr val="6D28D9">
              <a:alpha val="92000"/>
            </a:srgbClr>
          </a:solidFill>
          <a:ln/>
        </p:spPr>
      </p:sp>
      <p:sp>
        <p:nvSpPr>
          <p:cNvPr id="23" name="tile-2-1"/>
          <p:cNvSpPr/>
          <p:nvPr/>
        </p:nvSpPr>
        <p:spPr>
          <a:xfrm>
            <a:off x="8403336" y="2221992"/>
            <a:ext cx="402336" cy="402336"/>
          </a:xfrm>
          <a:prstGeom prst="roundRect">
            <a:avLst>
              <a:gd name="adj" fmla="val 13636"/>
            </a:avLst>
          </a:prstGeom>
          <a:solidFill>
            <a:srgbClr val="1E293B"/>
          </a:solidFill>
          <a:ln/>
        </p:spPr>
      </p:sp>
      <p:sp>
        <p:nvSpPr>
          <p:cNvPr id="24" name="tile-2-2"/>
          <p:cNvSpPr/>
          <p:nvPr/>
        </p:nvSpPr>
        <p:spPr>
          <a:xfrm>
            <a:off x="8897112" y="2221992"/>
            <a:ext cx="402336" cy="402336"/>
          </a:xfrm>
          <a:prstGeom prst="roundRect">
            <a:avLst>
              <a:gd name="adj" fmla="val 13636"/>
            </a:avLst>
          </a:prstGeom>
          <a:solidFill>
            <a:srgbClr val="F472B6">
              <a:alpha val="92000"/>
            </a:srgbClr>
          </a:solidFill>
          <a:ln/>
        </p:spPr>
      </p:sp>
      <p:sp>
        <p:nvSpPr>
          <p:cNvPr id="25" name="tile-2-3"/>
          <p:cNvSpPr/>
          <p:nvPr/>
        </p:nvSpPr>
        <p:spPr>
          <a:xfrm>
            <a:off x="9390888" y="2221992"/>
            <a:ext cx="402336" cy="402336"/>
          </a:xfrm>
          <a:prstGeom prst="roundRect">
            <a:avLst>
              <a:gd name="adj" fmla="val 13636"/>
            </a:avLst>
          </a:prstGeom>
          <a:solidFill>
            <a:srgbClr val="0E7490">
              <a:alpha val="92000"/>
            </a:srgbClr>
          </a:solidFill>
          <a:ln/>
        </p:spPr>
      </p:sp>
      <p:sp>
        <p:nvSpPr>
          <p:cNvPr id="26" name="tile-2-4"/>
          <p:cNvSpPr/>
          <p:nvPr/>
        </p:nvSpPr>
        <p:spPr>
          <a:xfrm>
            <a:off x="9884664" y="2221992"/>
            <a:ext cx="402336" cy="402336"/>
          </a:xfrm>
          <a:prstGeom prst="roundRect">
            <a:avLst>
              <a:gd name="adj" fmla="val 13636"/>
            </a:avLst>
          </a:prstGeom>
          <a:solidFill>
            <a:srgbClr val="22D3EE">
              <a:alpha val="92000"/>
            </a:srgbClr>
          </a:solidFill>
          <a:ln/>
        </p:spPr>
      </p:sp>
      <p:sp>
        <p:nvSpPr>
          <p:cNvPr id="27" name="tile-2-5"/>
          <p:cNvSpPr/>
          <p:nvPr/>
        </p:nvSpPr>
        <p:spPr>
          <a:xfrm>
            <a:off x="10378440" y="2221992"/>
            <a:ext cx="402336" cy="402336"/>
          </a:xfrm>
          <a:prstGeom prst="roundRect">
            <a:avLst>
              <a:gd name="adj" fmla="val 13636"/>
            </a:avLst>
          </a:prstGeom>
          <a:solidFill>
            <a:srgbClr val="0E7490">
              <a:alpha val="92000"/>
            </a:srgbClr>
          </a:solidFill>
          <a:ln/>
        </p:spPr>
      </p:sp>
      <p:sp>
        <p:nvSpPr>
          <p:cNvPr id="28" name="tile-2-6"/>
          <p:cNvSpPr/>
          <p:nvPr/>
        </p:nvSpPr>
        <p:spPr>
          <a:xfrm>
            <a:off x="10872216" y="2221992"/>
            <a:ext cx="402336" cy="402336"/>
          </a:xfrm>
          <a:prstGeom prst="roundRect">
            <a:avLst>
              <a:gd name="adj" fmla="val 13636"/>
            </a:avLst>
          </a:prstGeom>
          <a:solidFill>
            <a:srgbClr val="22D3EE">
              <a:alpha val="92000"/>
            </a:srgbClr>
          </a:solidFill>
          <a:ln/>
        </p:spPr>
      </p:sp>
      <p:sp>
        <p:nvSpPr>
          <p:cNvPr id="29" name="tile-2-7"/>
          <p:cNvSpPr/>
          <p:nvPr/>
        </p:nvSpPr>
        <p:spPr>
          <a:xfrm>
            <a:off x="11365992" y="2221992"/>
            <a:ext cx="402336" cy="402336"/>
          </a:xfrm>
          <a:prstGeom prst="roundRect">
            <a:avLst>
              <a:gd name="adj" fmla="val 13636"/>
            </a:avLst>
          </a:prstGeom>
          <a:solidFill>
            <a:srgbClr val="F472B6">
              <a:alpha val="92000"/>
            </a:srgbClr>
          </a:solidFill>
          <a:ln/>
        </p:spPr>
      </p:sp>
      <p:sp>
        <p:nvSpPr>
          <p:cNvPr id="30" name="tile-3-0"/>
          <p:cNvSpPr/>
          <p:nvPr/>
        </p:nvSpPr>
        <p:spPr>
          <a:xfrm>
            <a:off x="7909560" y="2715768"/>
            <a:ext cx="402336" cy="402336"/>
          </a:xfrm>
          <a:prstGeom prst="roundRect">
            <a:avLst>
              <a:gd name="adj" fmla="val 13636"/>
            </a:avLst>
          </a:prstGeom>
          <a:solidFill>
            <a:srgbClr val="6D28D9">
              <a:alpha val="92000"/>
            </a:srgbClr>
          </a:solidFill>
          <a:ln/>
        </p:spPr>
      </p:sp>
      <p:sp>
        <p:nvSpPr>
          <p:cNvPr id="31" name="tile-3-1"/>
          <p:cNvSpPr/>
          <p:nvPr/>
        </p:nvSpPr>
        <p:spPr>
          <a:xfrm>
            <a:off x="8403336" y="2715768"/>
            <a:ext cx="402336" cy="402336"/>
          </a:xfrm>
          <a:prstGeom prst="roundRect">
            <a:avLst>
              <a:gd name="adj" fmla="val 13636"/>
            </a:avLst>
          </a:prstGeom>
          <a:solidFill>
            <a:srgbClr val="1E293B"/>
          </a:solidFill>
          <a:ln/>
        </p:spPr>
      </p:sp>
      <p:sp>
        <p:nvSpPr>
          <p:cNvPr id="32" name="tile-3-2"/>
          <p:cNvSpPr/>
          <p:nvPr/>
        </p:nvSpPr>
        <p:spPr>
          <a:xfrm>
            <a:off x="8897112" y="2715768"/>
            <a:ext cx="402336" cy="402336"/>
          </a:xfrm>
          <a:prstGeom prst="roundRect">
            <a:avLst>
              <a:gd name="adj" fmla="val 13636"/>
            </a:avLst>
          </a:prstGeom>
          <a:solidFill>
            <a:srgbClr val="1E293B"/>
          </a:solidFill>
          <a:ln/>
        </p:spPr>
      </p:sp>
      <p:sp>
        <p:nvSpPr>
          <p:cNvPr id="33" name="tile-3-3"/>
          <p:cNvSpPr/>
          <p:nvPr/>
        </p:nvSpPr>
        <p:spPr>
          <a:xfrm>
            <a:off x="9390888" y="2715768"/>
            <a:ext cx="402336" cy="402336"/>
          </a:xfrm>
          <a:prstGeom prst="roundRect">
            <a:avLst>
              <a:gd name="adj" fmla="val 13636"/>
            </a:avLst>
          </a:prstGeom>
          <a:solidFill>
            <a:srgbClr val="1E293B"/>
          </a:solidFill>
          <a:ln/>
        </p:spPr>
      </p:sp>
      <p:sp>
        <p:nvSpPr>
          <p:cNvPr id="34" name="tile-3-4"/>
          <p:cNvSpPr/>
          <p:nvPr/>
        </p:nvSpPr>
        <p:spPr>
          <a:xfrm>
            <a:off x="9884664" y="2715768"/>
            <a:ext cx="402336" cy="402336"/>
          </a:xfrm>
          <a:prstGeom prst="roundRect">
            <a:avLst>
              <a:gd name="adj" fmla="val 13636"/>
            </a:avLst>
          </a:prstGeom>
          <a:solidFill>
            <a:srgbClr val="0E7490">
              <a:alpha val="92000"/>
            </a:srgbClr>
          </a:solidFill>
          <a:ln/>
        </p:spPr>
      </p:sp>
      <p:sp>
        <p:nvSpPr>
          <p:cNvPr id="35" name="tile-3-5"/>
          <p:cNvSpPr/>
          <p:nvPr/>
        </p:nvSpPr>
        <p:spPr>
          <a:xfrm>
            <a:off x="10378440" y="2715768"/>
            <a:ext cx="402336" cy="402336"/>
          </a:xfrm>
          <a:prstGeom prst="roundRect">
            <a:avLst>
              <a:gd name="adj" fmla="val 13636"/>
            </a:avLst>
          </a:prstGeom>
          <a:solidFill>
            <a:srgbClr val="6D28D9">
              <a:alpha val="92000"/>
            </a:srgbClr>
          </a:solidFill>
          <a:ln/>
        </p:spPr>
      </p:sp>
      <p:sp>
        <p:nvSpPr>
          <p:cNvPr id="36" name="tile-3-6"/>
          <p:cNvSpPr/>
          <p:nvPr/>
        </p:nvSpPr>
        <p:spPr>
          <a:xfrm>
            <a:off x="10872216" y="2715768"/>
            <a:ext cx="402336" cy="402336"/>
          </a:xfrm>
          <a:prstGeom prst="roundRect">
            <a:avLst>
              <a:gd name="adj" fmla="val 13636"/>
            </a:avLst>
          </a:prstGeom>
          <a:solidFill>
            <a:srgbClr val="BE185D">
              <a:alpha val="92000"/>
            </a:srgbClr>
          </a:solidFill>
          <a:ln/>
        </p:spPr>
      </p:sp>
      <p:sp>
        <p:nvSpPr>
          <p:cNvPr id="37" name="tile-3-7"/>
          <p:cNvSpPr/>
          <p:nvPr/>
        </p:nvSpPr>
        <p:spPr>
          <a:xfrm>
            <a:off x="11365992" y="2715768"/>
            <a:ext cx="402336" cy="402336"/>
          </a:xfrm>
          <a:prstGeom prst="roundRect">
            <a:avLst>
              <a:gd name="adj" fmla="val 13636"/>
            </a:avLst>
          </a:prstGeom>
          <a:solidFill>
            <a:srgbClr val="22D3EE">
              <a:alpha val="92000"/>
            </a:srgbClr>
          </a:solidFill>
          <a:ln/>
        </p:spPr>
      </p:sp>
      <p:sp>
        <p:nvSpPr>
          <p:cNvPr id="38" name="tile-4-0"/>
          <p:cNvSpPr/>
          <p:nvPr/>
        </p:nvSpPr>
        <p:spPr>
          <a:xfrm>
            <a:off x="7909560" y="3209544"/>
            <a:ext cx="402336" cy="402336"/>
          </a:xfrm>
          <a:prstGeom prst="roundRect">
            <a:avLst>
              <a:gd name="adj" fmla="val 13636"/>
            </a:avLst>
          </a:prstGeom>
          <a:solidFill>
            <a:srgbClr val="22D3EE">
              <a:alpha val="92000"/>
            </a:srgbClr>
          </a:solidFill>
          <a:ln/>
        </p:spPr>
      </p:sp>
      <p:sp>
        <p:nvSpPr>
          <p:cNvPr id="39" name="tile-4-1"/>
          <p:cNvSpPr/>
          <p:nvPr/>
        </p:nvSpPr>
        <p:spPr>
          <a:xfrm>
            <a:off x="8403336" y="3209544"/>
            <a:ext cx="402336" cy="402336"/>
          </a:xfrm>
          <a:prstGeom prst="roundRect">
            <a:avLst>
              <a:gd name="adj" fmla="val 13636"/>
            </a:avLst>
          </a:prstGeom>
          <a:solidFill>
            <a:srgbClr val="6D28D9">
              <a:alpha val="92000"/>
            </a:srgbClr>
          </a:solidFill>
          <a:ln/>
        </p:spPr>
      </p:sp>
      <p:sp>
        <p:nvSpPr>
          <p:cNvPr id="40" name="tile-4-2"/>
          <p:cNvSpPr/>
          <p:nvPr/>
        </p:nvSpPr>
        <p:spPr>
          <a:xfrm>
            <a:off x="8897112" y="3209544"/>
            <a:ext cx="402336" cy="402336"/>
          </a:xfrm>
          <a:prstGeom prst="roundRect">
            <a:avLst>
              <a:gd name="adj" fmla="val 13636"/>
            </a:avLst>
          </a:prstGeom>
          <a:solidFill>
            <a:srgbClr val="BE185D">
              <a:alpha val="92000"/>
            </a:srgbClr>
          </a:solidFill>
          <a:ln/>
        </p:spPr>
      </p:sp>
      <p:sp>
        <p:nvSpPr>
          <p:cNvPr id="41" name="tile-4-3"/>
          <p:cNvSpPr/>
          <p:nvPr/>
        </p:nvSpPr>
        <p:spPr>
          <a:xfrm>
            <a:off x="9390888" y="3209544"/>
            <a:ext cx="402336" cy="402336"/>
          </a:xfrm>
          <a:prstGeom prst="roundRect">
            <a:avLst>
              <a:gd name="adj" fmla="val 13636"/>
            </a:avLst>
          </a:prstGeom>
          <a:solidFill>
            <a:srgbClr val="22D3EE">
              <a:alpha val="92000"/>
            </a:srgbClr>
          </a:solidFill>
          <a:ln/>
        </p:spPr>
      </p:sp>
      <p:sp>
        <p:nvSpPr>
          <p:cNvPr id="42" name="tile-4-4"/>
          <p:cNvSpPr/>
          <p:nvPr/>
        </p:nvSpPr>
        <p:spPr>
          <a:xfrm>
            <a:off x="9884664" y="3209544"/>
            <a:ext cx="402336" cy="402336"/>
          </a:xfrm>
          <a:prstGeom prst="roundRect">
            <a:avLst>
              <a:gd name="adj" fmla="val 13636"/>
            </a:avLst>
          </a:prstGeom>
          <a:solidFill>
            <a:srgbClr val="0E7490">
              <a:alpha val="92000"/>
            </a:srgbClr>
          </a:solidFill>
          <a:ln/>
        </p:spPr>
      </p:sp>
      <p:sp>
        <p:nvSpPr>
          <p:cNvPr id="43" name="tile-4-5"/>
          <p:cNvSpPr/>
          <p:nvPr/>
        </p:nvSpPr>
        <p:spPr>
          <a:xfrm>
            <a:off x="10378440" y="3209544"/>
            <a:ext cx="402336" cy="402336"/>
          </a:xfrm>
          <a:prstGeom prst="roundRect">
            <a:avLst>
              <a:gd name="adj" fmla="val 13636"/>
            </a:avLst>
          </a:prstGeom>
          <a:solidFill>
            <a:srgbClr val="1E293B"/>
          </a:solidFill>
          <a:ln/>
        </p:spPr>
      </p:sp>
      <p:sp>
        <p:nvSpPr>
          <p:cNvPr id="44" name="tile-4-6"/>
          <p:cNvSpPr/>
          <p:nvPr/>
        </p:nvSpPr>
        <p:spPr>
          <a:xfrm>
            <a:off x="10872216" y="3209544"/>
            <a:ext cx="402336" cy="402336"/>
          </a:xfrm>
          <a:prstGeom prst="roundRect">
            <a:avLst>
              <a:gd name="adj" fmla="val 13636"/>
            </a:avLst>
          </a:prstGeom>
          <a:solidFill>
            <a:srgbClr val="BE185D">
              <a:alpha val="92000"/>
            </a:srgbClr>
          </a:solidFill>
          <a:ln/>
        </p:spPr>
      </p:sp>
      <p:sp>
        <p:nvSpPr>
          <p:cNvPr id="45" name="tile-4-7"/>
          <p:cNvSpPr/>
          <p:nvPr/>
        </p:nvSpPr>
        <p:spPr>
          <a:xfrm>
            <a:off x="11365992" y="3209544"/>
            <a:ext cx="402336" cy="402336"/>
          </a:xfrm>
          <a:prstGeom prst="roundRect">
            <a:avLst>
              <a:gd name="adj" fmla="val 13636"/>
            </a:avLst>
          </a:prstGeom>
          <a:solidFill>
            <a:srgbClr val="6D28D9">
              <a:alpha val="92000"/>
            </a:srgbClr>
          </a:solidFill>
          <a:ln/>
        </p:spPr>
      </p:sp>
      <p:sp>
        <p:nvSpPr>
          <p:cNvPr id="46" name="tile-5-0"/>
          <p:cNvSpPr/>
          <p:nvPr/>
        </p:nvSpPr>
        <p:spPr>
          <a:xfrm>
            <a:off x="7909560" y="3703320"/>
            <a:ext cx="402336" cy="402336"/>
          </a:xfrm>
          <a:prstGeom prst="roundRect">
            <a:avLst>
              <a:gd name="adj" fmla="val 13636"/>
            </a:avLst>
          </a:prstGeom>
          <a:solidFill>
            <a:srgbClr val="0E7490">
              <a:alpha val="92000"/>
            </a:srgbClr>
          </a:solidFill>
          <a:ln/>
        </p:spPr>
      </p:sp>
      <p:sp>
        <p:nvSpPr>
          <p:cNvPr id="47" name="tile-5-1"/>
          <p:cNvSpPr/>
          <p:nvPr/>
        </p:nvSpPr>
        <p:spPr>
          <a:xfrm>
            <a:off x="8403336" y="3703320"/>
            <a:ext cx="402336" cy="402336"/>
          </a:xfrm>
          <a:prstGeom prst="roundRect">
            <a:avLst>
              <a:gd name="adj" fmla="val 13636"/>
            </a:avLst>
          </a:prstGeom>
          <a:solidFill>
            <a:srgbClr val="0E7490">
              <a:alpha val="92000"/>
            </a:srgbClr>
          </a:solidFill>
          <a:ln/>
        </p:spPr>
      </p:sp>
      <p:sp>
        <p:nvSpPr>
          <p:cNvPr id="48" name="tile-5-2"/>
          <p:cNvSpPr/>
          <p:nvPr/>
        </p:nvSpPr>
        <p:spPr>
          <a:xfrm>
            <a:off x="8897112" y="3703320"/>
            <a:ext cx="402336" cy="402336"/>
          </a:xfrm>
          <a:prstGeom prst="roundRect">
            <a:avLst>
              <a:gd name="adj" fmla="val 13636"/>
            </a:avLst>
          </a:prstGeom>
          <a:solidFill>
            <a:srgbClr val="1E293B"/>
          </a:solidFill>
          <a:ln/>
        </p:spPr>
      </p:sp>
      <p:sp>
        <p:nvSpPr>
          <p:cNvPr id="49" name="tile-5-3"/>
          <p:cNvSpPr/>
          <p:nvPr/>
        </p:nvSpPr>
        <p:spPr>
          <a:xfrm>
            <a:off x="9390888" y="3703320"/>
            <a:ext cx="402336" cy="402336"/>
          </a:xfrm>
          <a:prstGeom prst="roundRect">
            <a:avLst>
              <a:gd name="adj" fmla="val 13636"/>
            </a:avLst>
          </a:prstGeom>
          <a:solidFill>
            <a:srgbClr val="0E7490">
              <a:alpha val="92000"/>
            </a:srgbClr>
          </a:solidFill>
          <a:ln/>
        </p:spPr>
      </p:sp>
      <p:sp>
        <p:nvSpPr>
          <p:cNvPr id="50" name="tile-5-4"/>
          <p:cNvSpPr/>
          <p:nvPr/>
        </p:nvSpPr>
        <p:spPr>
          <a:xfrm>
            <a:off x="9884664" y="3703320"/>
            <a:ext cx="402336" cy="402336"/>
          </a:xfrm>
          <a:prstGeom prst="roundRect">
            <a:avLst>
              <a:gd name="adj" fmla="val 13636"/>
            </a:avLst>
          </a:prstGeom>
          <a:solidFill>
            <a:srgbClr val="F472B6">
              <a:alpha val="92000"/>
            </a:srgbClr>
          </a:solidFill>
          <a:ln/>
        </p:spPr>
      </p:sp>
      <p:sp>
        <p:nvSpPr>
          <p:cNvPr id="51" name="tile-5-5"/>
          <p:cNvSpPr/>
          <p:nvPr/>
        </p:nvSpPr>
        <p:spPr>
          <a:xfrm>
            <a:off x="10378440" y="3703320"/>
            <a:ext cx="402336" cy="402336"/>
          </a:xfrm>
          <a:prstGeom prst="roundRect">
            <a:avLst>
              <a:gd name="adj" fmla="val 13636"/>
            </a:avLst>
          </a:prstGeom>
          <a:solidFill>
            <a:srgbClr val="BE185D">
              <a:alpha val="92000"/>
            </a:srgbClr>
          </a:solidFill>
          <a:ln/>
        </p:spPr>
      </p:sp>
      <p:sp>
        <p:nvSpPr>
          <p:cNvPr id="52" name="tile-5-6"/>
          <p:cNvSpPr/>
          <p:nvPr/>
        </p:nvSpPr>
        <p:spPr>
          <a:xfrm>
            <a:off x="10872216" y="3703320"/>
            <a:ext cx="402336" cy="402336"/>
          </a:xfrm>
          <a:prstGeom prst="roundRect">
            <a:avLst>
              <a:gd name="adj" fmla="val 13636"/>
            </a:avLst>
          </a:prstGeom>
          <a:solidFill>
            <a:srgbClr val="0E7490">
              <a:alpha val="92000"/>
            </a:srgbClr>
          </a:solidFill>
          <a:ln/>
        </p:spPr>
      </p:sp>
      <p:sp>
        <p:nvSpPr>
          <p:cNvPr id="53" name="tile-5-7"/>
          <p:cNvSpPr/>
          <p:nvPr/>
        </p:nvSpPr>
        <p:spPr>
          <a:xfrm>
            <a:off x="11365992" y="3703320"/>
            <a:ext cx="402336" cy="402336"/>
          </a:xfrm>
          <a:prstGeom prst="roundRect">
            <a:avLst>
              <a:gd name="adj" fmla="val 13636"/>
            </a:avLst>
          </a:prstGeom>
          <a:solidFill>
            <a:srgbClr val="0E7490">
              <a:alpha val="92000"/>
            </a:srgbClr>
          </a:solidFill>
          <a:ln/>
        </p:spPr>
      </p:sp>
      <p:sp>
        <p:nvSpPr>
          <p:cNvPr id="54" name="tile-6-0"/>
          <p:cNvSpPr/>
          <p:nvPr/>
        </p:nvSpPr>
        <p:spPr>
          <a:xfrm>
            <a:off x="7909560" y="4197096"/>
            <a:ext cx="402336" cy="402336"/>
          </a:xfrm>
          <a:prstGeom prst="roundRect">
            <a:avLst>
              <a:gd name="adj" fmla="val 13636"/>
            </a:avLst>
          </a:prstGeom>
          <a:solidFill>
            <a:srgbClr val="1E293B"/>
          </a:solidFill>
          <a:ln/>
        </p:spPr>
      </p:sp>
      <p:sp>
        <p:nvSpPr>
          <p:cNvPr id="55" name="tile-6-1"/>
          <p:cNvSpPr/>
          <p:nvPr/>
        </p:nvSpPr>
        <p:spPr>
          <a:xfrm>
            <a:off x="8403336" y="4197096"/>
            <a:ext cx="402336" cy="402336"/>
          </a:xfrm>
          <a:prstGeom prst="roundRect">
            <a:avLst>
              <a:gd name="adj" fmla="val 13636"/>
            </a:avLst>
          </a:prstGeom>
          <a:solidFill>
            <a:srgbClr val="6D28D9">
              <a:alpha val="92000"/>
            </a:srgbClr>
          </a:solidFill>
          <a:ln/>
        </p:spPr>
      </p:sp>
      <p:sp>
        <p:nvSpPr>
          <p:cNvPr id="56" name="tile-6-2"/>
          <p:cNvSpPr/>
          <p:nvPr/>
        </p:nvSpPr>
        <p:spPr>
          <a:xfrm>
            <a:off x="8897112" y="4197096"/>
            <a:ext cx="402336" cy="402336"/>
          </a:xfrm>
          <a:prstGeom prst="roundRect">
            <a:avLst>
              <a:gd name="adj" fmla="val 13636"/>
            </a:avLst>
          </a:prstGeom>
          <a:solidFill>
            <a:srgbClr val="0E7490">
              <a:alpha val="92000"/>
            </a:srgbClr>
          </a:solidFill>
          <a:ln/>
        </p:spPr>
      </p:sp>
      <p:sp>
        <p:nvSpPr>
          <p:cNvPr id="57" name="tile-6-3"/>
          <p:cNvSpPr/>
          <p:nvPr/>
        </p:nvSpPr>
        <p:spPr>
          <a:xfrm>
            <a:off x="9390888" y="4197096"/>
            <a:ext cx="402336" cy="402336"/>
          </a:xfrm>
          <a:prstGeom prst="roundRect">
            <a:avLst>
              <a:gd name="adj" fmla="val 13636"/>
            </a:avLst>
          </a:prstGeom>
          <a:solidFill>
            <a:srgbClr val="F472B6">
              <a:alpha val="92000"/>
            </a:srgbClr>
          </a:solidFill>
          <a:ln/>
        </p:spPr>
      </p:sp>
      <p:sp>
        <p:nvSpPr>
          <p:cNvPr id="58" name="tile-6-4"/>
          <p:cNvSpPr/>
          <p:nvPr/>
        </p:nvSpPr>
        <p:spPr>
          <a:xfrm>
            <a:off x="9884664" y="4197096"/>
            <a:ext cx="402336" cy="402336"/>
          </a:xfrm>
          <a:prstGeom prst="roundRect">
            <a:avLst>
              <a:gd name="adj" fmla="val 13636"/>
            </a:avLst>
          </a:prstGeom>
          <a:solidFill>
            <a:srgbClr val="F472B6">
              <a:alpha val="92000"/>
            </a:srgbClr>
          </a:solidFill>
          <a:ln/>
        </p:spPr>
      </p:sp>
      <p:sp>
        <p:nvSpPr>
          <p:cNvPr id="59" name="tile-6-5"/>
          <p:cNvSpPr/>
          <p:nvPr/>
        </p:nvSpPr>
        <p:spPr>
          <a:xfrm>
            <a:off x="10378440" y="4197096"/>
            <a:ext cx="402336" cy="402336"/>
          </a:xfrm>
          <a:prstGeom prst="roundRect">
            <a:avLst>
              <a:gd name="adj" fmla="val 13636"/>
            </a:avLst>
          </a:prstGeom>
          <a:solidFill>
            <a:srgbClr val="1E293B"/>
          </a:solidFill>
          <a:ln/>
        </p:spPr>
      </p:sp>
      <p:sp>
        <p:nvSpPr>
          <p:cNvPr id="60" name="tile-6-6"/>
          <p:cNvSpPr/>
          <p:nvPr/>
        </p:nvSpPr>
        <p:spPr>
          <a:xfrm>
            <a:off x="10872216" y="4197096"/>
            <a:ext cx="402336" cy="402336"/>
          </a:xfrm>
          <a:prstGeom prst="roundRect">
            <a:avLst>
              <a:gd name="adj" fmla="val 13636"/>
            </a:avLst>
          </a:prstGeom>
          <a:solidFill>
            <a:srgbClr val="F472B6">
              <a:alpha val="92000"/>
            </a:srgbClr>
          </a:solidFill>
          <a:ln/>
        </p:spPr>
      </p:sp>
      <p:sp>
        <p:nvSpPr>
          <p:cNvPr id="61" name="tile-6-7"/>
          <p:cNvSpPr/>
          <p:nvPr/>
        </p:nvSpPr>
        <p:spPr>
          <a:xfrm>
            <a:off x="11365992" y="4197096"/>
            <a:ext cx="402336" cy="402336"/>
          </a:xfrm>
          <a:prstGeom prst="roundRect">
            <a:avLst>
              <a:gd name="adj" fmla="val 13636"/>
            </a:avLst>
          </a:prstGeom>
          <a:solidFill>
            <a:srgbClr val="6D28D9">
              <a:alpha val="92000"/>
            </a:srgbClr>
          </a:solidFill>
          <a:ln/>
        </p:spPr>
      </p:sp>
      <p:sp>
        <p:nvSpPr>
          <p:cNvPr id="62" name="tile-7-0"/>
          <p:cNvSpPr/>
          <p:nvPr/>
        </p:nvSpPr>
        <p:spPr>
          <a:xfrm>
            <a:off x="7909560" y="4690872"/>
            <a:ext cx="402336" cy="402336"/>
          </a:xfrm>
          <a:prstGeom prst="roundRect">
            <a:avLst>
              <a:gd name="adj" fmla="val 13636"/>
            </a:avLst>
          </a:prstGeom>
          <a:solidFill>
            <a:srgbClr val="1E293B"/>
          </a:solidFill>
          <a:ln/>
        </p:spPr>
      </p:sp>
      <p:sp>
        <p:nvSpPr>
          <p:cNvPr id="63" name="tile-7-1"/>
          <p:cNvSpPr/>
          <p:nvPr/>
        </p:nvSpPr>
        <p:spPr>
          <a:xfrm>
            <a:off x="8403336" y="4690872"/>
            <a:ext cx="402336" cy="402336"/>
          </a:xfrm>
          <a:prstGeom prst="roundRect">
            <a:avLst>
              <a:gd name="adj" fmla="val 13636"/>
            </a:avLst>
          </a:prstGeom>
          <a:solidFill>
            <a:srgbClr val="BE185D">
              <a:alpha val="92000"/>
            </a:srgbClr>
          </a:solidFill>
          <a:ln/>
        </p:spPr>
      </p:sp>
      <p:sp>
        <p:nvSpPr>
          <p:cNvPr id="64" name="tile-7-2"/>
          <p:cNvSpPr/>
          <p:nvPr/>
        </p:nvSpPr>
        <p:spPr>
          <a:xfrm>
            <a:off x="8897112" y="4690872"/>
            <a:ext cx="402336" cy="402336"/>
          </a:xfrm>
          <a:prstGeom prst="roundRect">
            <a:avLst>
              <a:gd name="adj" fmla="val 13636"/>
            </a:avLst>
          </a:prstGeom>
          <a:solidFill>
            <a:srgbClr val="6D28D9">
              <a:alpha val="92000"/>
            </a:srgbClr>
          </a:solidFill>
          <a:ln/>
        </p:spPr>
      </p:sp>
      <p:sp>
        <p:nvSpPr>
          <p:cNvPr id="65" name="tile-7-3"/>
          <p:cNvSpPr/>
          <p:nvPr/>
        </p:nvSpPr>
        <p:spPr>
          <a:xfrm>
            <a:off x="9390888" y="4690872"/>
            <a:ext cx="402336" cy="402336"/>
          </a:xfrm>
          <a:prstGeom prst="roundRect">
            <a:avLst>
              <a:gd name="adj" fmla="val 13636"/>
            </a:avLst>
          </a:prstGeom>
          <a:solidFill>
            <a:srgbClr val="F472B6">
              <a:alpha val="92000"/>
            </a:srgbClr>
          </a:solidFill>
          <a:ln/>
        </p:spPr>
      </p:sp>
      <p:sp>
        <p:nvSpPr>
          <p:cNvPr id="66" name="tile-7-4"/>
          <p:cNvSpPr/>
          <p:nvPr/>
        </p:nvSpPr>
        <p:spPr>
          <a:xfrm>
            <a:off x="9884664" y="4690872"/>
            <a:ext cx="402336" cy="402336"/>
          </a:xfrm>
          <a:prstGeom prst="roundRect">
            <a:avLst>
              <a:gd name="adj" fmla="val 13636"/>
            </a:avLst>
          </a:prstGeom>
          <a:solidFill>
            <a:srgbClr val="0E7490">
              <a:alpha val="92000"/>
            </a:srgbClr>
          </a:solidFill>
          <a:ln/>
        </p:spPr>
      </p:sp>
      <p:sp>
        <p:nvSpPr>
          <p:cNvPr id="67" name="tile-7-5"/>
          <p:cNvSpPr/>
          <p:nvPr/>
        </p:nvSpPr>
        <p:spPr>
          <a:xfrm>
            <a:off x="10378440" y="4690872"/>
            <a:ext cx="402336" cy="402336"/>
          </a:xfrm>
          <a:prstGeom prst="roundRect">
            <a:avLst>
              <a:gd name="adj" fmla="val 13636"/>
            </a:avLst>
          </a:prstGeom>
          <a:solidFill>
            <a:srgbClr val="0E7490">
              <a:alpha val="92000"/>
            </a:srgbClr>
          </a:solidFill>
          <a:ln/>
        </p:spPr>
      </p:sp>
      <p:sp>
        <p:nvSpPr>
          <p:cNvPr id="68" name="tile-7-6"/>
          <p:cNvSpPr/>
          <p:nvPr/>
        </p:nvSpPr>
        <p:spPr>
          <a:xfrm>
            <a:off x="10872216" y="4690872"/>
            <a:ext cx="402336" cy="402336"/>
          </a:xfrm>
          <a:prstGeom prst="roundRect">
            <a:avLst>
              <a:gd name="adj" fmla="val 13636"/>
            </a:avLst>
          </a:prstGeom>
          <a:solidFill>
            <a:srgbClr val="BE185D">
              <a:alpha val="92000"/>
            </a:srgbClr>
          </a:solidFill>
          <a:ln/>
        </p:spPr>
      </p:sp>
      <p:sp>
        <p:nvSpPr>
          <p:cNvPr id="69" name="tile-7-7"/>
          <p:cNvSpPr/>
          <p:nvPr/>
        </p:nvSpPr>
        <p:spPr>
          <a:xfrm>
            <a:off x="11365992" y="4690872"/>
            <a:ext cx="402336" cy="402336"/>
          </a:xfrm>
          <a:prstGeom prst="roundRect">
            <a:avLst>
              <a:gd name="adj" fmla="val 13636"/>
            </a:avLst>
          </a:prstGeom>
          <a:solidFill>
            <a:srgbClr val="22D3EE">
              <a:alpha val="92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4"/>
                </a:solidFill>
              </a:rPr>
              <a:t>1 · PRODUCT OBJECTIVE</a:t>
            </a:r>
            <a:endParaRPr lang="en-US" sz="1200" dirty="0"/>
          </a:p>
        </p:txBody>
      </p:sp>
      <p:sp>
        <p:nvSpPr>
          <p:cNvPr id="3" name="Text 1"/>
          <p:cNvSpPr txBox="1"/>
          <p:nvPr/>
        </p:nvSpPr>
        <p:spPr>
          <a:xfrm>
            <a:off x="548640" y="960120"/>
            <a:ext cx="10241280" cy="173736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Turn thousands of photos into </a:t>
            </a:r>
            <a:pPr indent="0" marL="0">
              <a:buNone/>
            </a:pPr>
            <a:r>
              <a:rPr lang="en-US" sz="3400" b="1" dirty="0">
                <a:solidFill>
                  <a:schemeClr val="accent4"/>
                </a:solidFill>
                <a:latin typeface="Arial" pitchFamily="34" charset="0"/>
                <a:ea typeface="Arial" pitchFamily="34" charset="-122"/>
                <a:cs typeface="Arial" pitchFamily="34" charset="-120"/>
              </a:rPr>
              <a:t>one giant, high-resolution photo mosaic</a:t>
            </a:r>
            <a:pPr indent="0" marL="0">
              <a:buNone/>
            </a:pPr>
            <a:r>
              <a:rPr lang="en-US" sz="3400" b="1" dirty="0">
                <a:solidFill>
                  <a:schemeClr val="bg1"/>
                </a:solidFill>
                <a:latin typeface="Arial" pitchFamily="34" charset="0"/>
                <a:ea typeface="Arial" pitchFamily="34" charset="-122"/>
                <a:cs typeface="Arial" pitchFamily="34" charset="-120"/>
              </a:rPr>
              <a:t>, rendered by a cluster of cloud machines.</a:t>
            </a:r>
            <a:endParaRPr lang="en-US" sz="3400" dirty="0"/>
          </a:p>
        </p:txBody>
      </p:sp>
      <p:sp>
        <p:nvSpPr>
          <p:cNvPr id="4" name="Text 2"/>
          <p:cNvSpPr txBox="1"/>
          <p:nvPr/>
        </p:nvSpPr>
        <p:spPr>
          <a:xfrm>
            <a:off x="548640" y="3246120"/>
            <a:ext cx="7315200" cy="320040"/>
          </a:xfrm>
          <a:prstGeom prst="rect">
            <a:avLst/>
          </a:prstGeom>
          <a:noFill/>
          <a:ln/>
        </p:spPr>
        <p:txBody>
          <a:bodyPr wrap="square" lIns="0" tIns="0" rIns="0" bIns="0" rtlCol="0" anchor="t"/>
          <a:lstStyle/>
          <a:p>
            <a:pPr indent="0" marL="0">
              <a:buNone/>
            </a:pPr>
            <a:r>
              <a:rPr lang="en-US" sz="1500" dirty="0">
                <a:solidFill>
                  <a:schemeClr val="accent6"/>
                </a:solidFill>
              </a:rPr>
              <a:t>Two sources of tiles (dual-asset sourcing):</a:t>
            </a:r>
            <a:endParaRPr lang="en-US" sz="1500" dirty="0"/>
          </a:p>
        </p:txBody>
      </p:sp>
      <p:sp>
        <p:nvSpPr>
          <p:cNvPr id="5" name="source-0"/>
          <p:cNvSpPr/>
          <p:nvPr/>
        </p:nvSpPr>
        <p:spPr>
          <a:xfrm>
            <a:off x="548640" y="3703320"/>
            <a:ext cx="3657600" cy="1508760"/>
          </a:xfrm>
          <a:prstGeom prst="roundRect">
            <a:avLst>
              <a:gd name="adj" fmla="val 7273"/>
            </a:avLst>
          </a:prstGeom>
          <a:solidFill>
            <a:srgbClr val="151B2B"/>
          </a:solidFill>
          <a:ln w="12700">
            <a:solidFill>
              <a:srgbClr val="26304A"/>
            </a:solidFill>
            <a:prstDash val="solid"/>
          </a:ln>
        </p:spPr>
      </p:sp>
      <p:sp>
        <p:nvSpPr>
          <p:cNvPr id="6" name="badge-FaImages"/>
          <p:cNvSpPr/>
          <p:nvPr/>
        </p:nvSpPr>
        <p:spPr>
          <a:xfrm>
            <a:off x="822960" y="3931920"/>
            <a:ext cx="548640" cy="548640"/>
          </a:xfrm>
          <a:prstGeom prst="roundRect">
            <a:avLst>
              <a:gd name="adj" fmla="val 16667"/>
            </a:avLst>
          </a:prstGeom>
          <a:solidFill>
            <a:srgbClr val="1E293B"/>
          </a:solidFill>
          <a:ln/>
        </p:spPr>
      </p:sp>
      <p:pic>
        <p:nvPicPr>
          <p:cNvPr id="7" name="Image 0" descr="Images">    </p:cNvPr>
          <p:cNvPicPr>
            <a:picLocks noChangeAspect="1"/>
          </p:cNvPicPr>
          <p:nvPr/>
        </p:nvPicPr>
        <p:blipFill>
          <a:blip r:embed="rId1"/>
          <a:stretch>
            <a:fillRect/>
          </a:stretch>
        </p:blipFill>
        <p:spPr>
          <a:xfrm>
            <a:off x="954634" y="4063594"/>
            <a:ext cx="285293" cy="285293"/>
          </a:xfrm>
          <a:prstGeom prst="rect">
            <a:avLst/>
          </a:prstGeom>
        </p:spPr>
      </p:pic>
      <p:sp>
        <p:nvSpPr>
          <p:cNvPr id="8" name="Text 5"/>
          <p:cNvSpPr txBox="1"/>
          <p:nvPr/>
        </p:nvSpPr>
        <p:spPr>
          <a:xfrm>
            <a:off x="1554480" y="3931920"/>
            <a:ext cx="2468880" cy="365760"/>
          </a:xfrm>
          <a:prstGeom prst="rect">
            <a:avLst/>
          </a:prstGeom>
          <a:noFill/>
          <a:ln/>
        </p:spPr>
        <p:txBody>
          <a:bodyPr wrap="square" lIns="0" tIns="0" rIns="0" bIns="0" rtlCol="0" anchor="t"/>
          <a:lstStyle/>
          <a:p>
            <a:pPr indent="0" marL="0">
              <a:buNone/>
            </a:pPr>
            <a:r>
              <a:rPr lang="en-US" sz="1800" b="1" dirty="0">
                <a:solidFill>
                  <a:schemeClr val="accent4"/>
                </a:solidFill>
              </a:rPr>
              <a:t>Community library</a:t>
            </a:r>
            <a:endParaRPr lang="en-US" sz="1800" dirty="0"/>
          </a:p>
        </p:txBody>
      </p:sp>
      <p:sp>
        <p:nvSpPr>
          <p:cNvPr id="9" name="Text 6"/>
          <p:cNvSpPr txBox="1"/>
          <p:nvPr/>
        </p:nvSpPr>
        <p:spPr>
          <a:xfrm>
            <a:off x="1554480" y="4343400"/>
            <a:ext cx="2468880" cy="777240"/>
          </a:xfrm>
          <a:prstGeom prst="rect">
            <a:avLst/>
          </a:prstGeom>
          <a:noFill/>
          <a:ln/>
        </p:spPr>
        <p:txBody>
          <a:bodyPr wrap="square" lIns="0" tIns="0" rIns="0" bIns="0" rtlCol="0" anchor="t"/>
          <a:lstStyle/>
          <a:p>
            <a:pPr indent="0" marL="0">
              <a:buNone/>
            </a:pPr>
            <a:r>
              <a:rPr lang="en-US" sz="1400" dirty="0">
                <a:solidFill>
                  <a:schemeClr val="accent6"/>
                </a:solidFill>
              </a:rPr>
              <a:t>A shared pool everyone can donate to, filterable by category tags</a:t>
            </a:r>
            <a:endParaRPr lang="en-US" sz="1400" dirty="0"/>
          </a:p>
        </p:txBody>
      </p:sp>
      <p:sp>
        <p:nvSpPr>
          <p:cNvPr id="10" name="source-1"/>
          <p:cNvSpPr/>
          <p:nvPr/>
        </p:nvSpPr>
        <p:spPr>
          <a:xfrm>
            <a:off x="4434840" y="3703320"/>
            <a:ext cx="3657600" cy="1508760"/>
          </a:xfrm>
          <a:prstGeom prst="roundRect">
            <a:avLst>
              <a:gd name="adj" fmla="val 7273"/>
            </a:avLst>
          </a:prstGeom>
          <a:solidFill>
            <a:srgbClr val="151B2B"/>
          </a:solidFill>
          <a:ln w="12700">
            <a:solidFill>
              <a:srgbClr val="26304A"/>
            </a:solidFill>
            <a:prstDash val="solid"/>
          </a:ln>
        </p:spPr>
      </p:sp>
      <p:sp>
        <p:nvSpPr>
          <p:cNvPr id="11" name="badge-FaUserLock"/>
          <p:cNvSpPr/>
          <p:nvPr/>
        </p:nvSpPr>
        <p:spPr>
          <a:xfrm>
            <a:off x="4709160" y="3931920"/>
            <a:ext cx="548640" cy="548640"/>
          </a:xfrm>
          <a:prstGeom prst="roundRect">
            <a:avLst>
              <a:gd name="adj" fmla="val 16667"/>
            </a:avLst>
          </a:prstGeom>
          <a:solidFill>
            <a:srgbClr val="1E293B"/>
          </a:solidFill>
          <a:ln/>
        </p:spPr>
      </p:sp>
      <p:pic>
        <p:nvPicPr>
          <p:cNvPr id="12" name="Image 1" descr="UserLock">    </p:cNvPr>
          <p:cNvPicPr>
            <a:picLocks noChangeAspect="1"/>
          </p:cNvPicPr>
          <p:nvPr/>
        </p:nvPicPr>
        <p:blipFill>
          <a:blip r:embed="rId2"/>
          <a:stretch>
            <a:fillRect/>
          </a:stretch>
        </p:blipFill>
        <p:spPr>
          <a:xfrm>
            <a:off x="4840834" y="4063594"/>
            <a:ext cx="285293" cy="285293"/>
          </a:xfrm>
          <a:prstGeom prst="rect">
            <a:avLst/>
          </a:prstGeom>
        </p:spPr>
      </p:pic>
      <p:sp>
        <p:nvSpPr>
          <p:cNvPr id="13" name="Text 9"/>
          <p:cNvSpPr txBox="1"/>
          <p:nvPr/>
        </p:nvSpPr>
        <p:spPr>
          <a:xfrm>
            <a:off x="5440680" y="3931920"/>
            <a:ext cx="2468880" cy="365760"/>
          </a:xfrm>
          <a:prstGeom prst="rect">
            <a:avLst/>
          </a:prstGeom>
          <a:noFill/>
          <a:ln/>
        </p:spPr>
        <p:txBody>
          <a:bodyPr wrap="square" lIns="0" tIns="0" rIns="0" bIns="0" rtlCol="0" anchor="t"/>
          <a:lstStyle/>
          <a:p>
            <a:pPr indent="0" marL="0">
              <a:buNone/>
            </a:pPr>
            <a:r>
              <a:rPr lang="en-US" sz="1800" b="1" dirty="0">
                <a:solidFill>
                  <a:schemeClr val="accent5"/>
                </a:solidFill>
              </a:rPr>
              <a:t>Personal vault</a:t>
            </a:r>
            <a:endParaRPr lang="en-US" sz="1800" dirty="0"/>
          </a:p>
        </p:txBody>
      </p:sp>
      <p:sp>
        <p:nvSpPr>
          <p:cNvPr id="14" name="Text 10"/>
          <p:cNvSpPr txBox="1"/>
          <p:nvPr/>
        </p:nvSpPr>
        <p:spPr>
          <a:xfrm>
            <a:off x="5440680" y="4343400"/>
            <a:ext cx="2468880" cy="777240"/>
          </a:xfrm>
          <a:prstGeom prst="rect">
            <a:avLst/>
          </a:prstGeom>
          <a:noFill/>
          <a:ln/>
        </p:spPr>
        <p:txBody>
          <a:bodyPr wrap="square" lIns="0" tIns="0" rIns="0" bIns="0" rtlCol="0" anchor="t"/>
          <a:lstStyle/>
          <a:p>
            <a:pPr indent="0" marL="0">
              <a:buNone/>
            </a:pPr>
            <a:r>
              <a:rPr lang="en-US" sz="1400" dirty="0">
                <a:solidFill>
                  <a:schemeClr val="accent6"/>
                </a:solidFill>
              </a:rPr>
              <a:t>Your own photos: saved to your account, or temporary for guests</a:t>
            </a:r>
            <a:endParaRPr lang="en-US" sz="1400" dirty="0"/>
          </a:p>
        </p:txBody>
      </p:sp>
      <p:sp>
        <p:nvSpPr>
          <p:cNvPr id="15" name="future-source"/>
          <p:cNvSpPr/>
          <p:nvPr/>
        </p:nvSpPr>
        <p:spPr>
          <a:xfrm>
            <a:off x="8321040" y="3703320"/>
            <a:ext cx="3319272" cy="1508760"/>
          </a:xfrm>
          <a:prstGeom prst="roundRect">
            <a:avLst>
              <a:gd name="adj" fmla="val 7273"/>
            </a:avLst>
          </a:prstGeom>
          <a:solidFill>
            <a:srgbClr val="151B2B"/>
          </a:solidFill>
          <a:ln w="12700">
            <a:solidFill>
              <a:srgbClr val="26304A"/>
            </a:solidFill>
            <a:prstDash val="solid"/>
          </a:ln>
        </p:spPr>
      </p:sp>
      <p:sp>
        <p:nvSpPr>
          <p:cNvPr id="16" name="badge-FaQrcode"/>
          <p:cNvSpPr/>
          <p:nvPr/>
        </p:nvSpPr>
        <p:spPr>
          <a:xfrm>
            <a:off x="8595360" y="3931920"/>
            <a:ext cx="548640" cy="548640"/>
          </a:xfrm>
          <a:prstGeom prst="roundRect">
            <a:avLst>
              <a:gd name="adj" fmla="val 16667"/>
            </a:avLst>
          </a:prstGeom>
          <a:solidFill>
            <a:srgbClr val="1E293B"/>
          </a:solidFill>
          <a:ln/>
        </p:spPr>
      </p:sp>
      <p:pic>
        <p:nvPicPr>
          <p:cNvPr id="17" name="Image 2" descr="Qrcode">    </p:cNvPr>
          <p:cNvPicPr>
            <a:picLocks noChangeAspect="1"/>
          </p:cNvPicPr>
          <p:nvPr/>
        </p:nvPicPr>
        <p:blipFill>
          <a:blip r:embed="rId3"/>
          <a:stretch>
            <a:fillRect/>
          </a:stretch>
        </p:blipFill>
        <p:spPr>
          <a:xfrm>
            <a:off x="8727034" y="4063594"/>
            <a:ext cx="285293" cy="285293"/>
          </a:xfrm>
          <a:prstGeom prst="rect">
            <a:avLst/>
          </a:prstGeom>
        </p:spPr>
      </p:pic>
      <p:sp>
        <p:nvSpPr>
          <p:cNvPr id="18" name="Text 13"/>
          <p:cNvSpPr txBox="1"/>
          <p:nvPr/>
        </p:nvSpPr>
        <p:spPr>
          <a:xfrm>
            <a:off x="9281160" y="3931920"/>
            <a:ext cx="2286000" cy="365760"/>
          </a:xfrm>
          <a:prstGeom prst="rect">
            <a:avLst/>
          </a:prstGeom>
          <a:noFill/>
          <a:ln/>
        </p:spPr>
        <p:txBody>
          <a:bodyPr wrap="square" lIns="0" tIns="0" rIns="0" bIns="0" rtlCol="0" anchor="t"/>
          <a:lstStyle/>
          <a:p>
            <a:pPr indent="0" marL="0">
              <a:buNone/>
            </a:pPr>
            <a:r>
              <a:rPr lang="en-US" sz="1600" b="1" dirty="0">
                <a:solidFill>
                  <a:schemeClr val="accent6"/>
                </a:solidFill>
              </a:rPr>
              <a:t>Live event submissions</a:t>
            </a:r>
            <a:endParaRPr lang="en-US" sz="1600" dirty="0"/>
          </a:p>
        </p:txBody>
      </p:sp>
      <p:sp>
        <p:nvSpPr>
          <p:cNvPr id="19" name="Text 14"/>
          <p:cNvSpPr txBox="1"/>
          <p:nvPr/>
        </p:nvSpPr>
        <p:spPr>
          <a:xfrm>
            <a:off x="9281160" y="4343400"/>
            <a:ext cx="2286000" cy="365760"/>
          </a:xfrm>
          <a:prstGeom prst="rect">
            <a:avLst/>
          </a:prstGeom>
          <a:noFill/>
          <a:ln/>
        </p:spPr>
        <p:txBody>
          <a:bodyPr wrap="square" lIns="0" tIns="0" rIns="0" bIns="0" rtlCol="0" anchor="t"/>
          <a:lstStyle/>
          <a:p>
            <a:pPr indent="0" marL="0">
              <a:buNone/>
            </a:pPr>
            <a:r>
              <a:rPr lang="en-US" sz="1400" i="1" dirty="0">
                <a:solidFill>
                  <a:schemeClr val="accent6"/>
                </a:solidFill>
              </a:rPr>
              <a:t>Moved to future scope</a:t>
            </a:r>
            <a:endParaRPr lang="en-US" sz="1400" dirty="0"/>
          </a:p>
        </p:txBody>
      </p:sp>
      <p:sp>
        <p:nvSpPr>
          <p:cNvPr id="21"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2 · WHY CLOUD COMPUTING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How the app benefits from Google Cloud</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514600"/>
                <a:gridCol w="5029200"/>
                <a:gridCol w="3547872"/>
              </a:tblGrid>
              <a:tr h="603504">
                <a:tc>
                  <a:txBody>
                    <a:bodyPr/>
                    <a:lstStyle/>
                    <a:p>
                      <a:pPr indent="0" marL="0">
                        <a:buNone/>
                      </a:pPr>
                      <a:r>
                        <a:rPr lang="en-US" sz="1400" b="1" dirty="0">
                          <a:solidFill>
                            <a:schemeClr val="bg1"/>
                          </a:solidFill>
                        </a:rPr>
                        <a:t>Benefit</a:t>
                      </a:r>
                      <a:endParaRPr lang="en-US" sz="14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means for PixelMosaic</a:t>
                      </a:r>
                      <a:endParaRPr lang="en-US" sz="14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Google Cloud feature behind it</a:t>
                      </a:r>
                      <a:endParaRPr lang="en-US" sz="14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603504">
                <a:tc>
                  <a:txBody>
                    <a:bodyPr/>
                    <a:lstStyle/>
                    <a:p>
                      <a:pPr indent="0" marL="0">
                        <a:buNone/>
                      </a:pPr>
                      <a:r>
                        <a:rPr lang="en-US" sz="1300" b="1" dirty="0">
                          <a:solidFill>
                            <a:schemeClr val="tx1"/>
                          </a:solidFill>
                        </a:rPr>
                        <a:t>Scales with demand</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big render gets more workers; quiet hours shrink back to one VM per service</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Managed Instance Groups + autoscaler (1–7 VMs)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Pay only for what runs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The heavy image maths runs on discounted Spot VMs; everything else on small e2 machines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Spot VMs, e2 machine types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603504">
                <a:tc>
                  <a:txBody>
                    <a:bodyPr/>
                    <a:lstStyle/>
                    <a:p>
                      <a:pPr indent="0" marL="0">
                        <a:buNone/>
                      </a:pPr>
                      <a:r>
                        <a:rPr lang="en-US" sz="1300" b="1" dirty="0">
                          <a:solidFill>
                            <a:schemeClr val="tx1"/>
                          </a:solidFill>
                        </a:rPr>
                        <a:t>Survives failures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crashed or preempted VM is replaced, and another worker finishes its piece of the render</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Health checks, auto-healing, lock leases in Cloud Storage</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One secure way in</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Users only ever reach the website; services and storage stay private</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Cloud Load Balancing, VPC firewall, Cloud NAT</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603504">
                <a:tc>
                  <a:txBody>
                    <a:bodyPr/>
                    <a:lstStyle/>
                    <a:p>
                      <a:pPr indent="0" marL="0">
                        <a:buNone/>
                      </a:pPr>
                      <a:r>
                        <a:rPr lang="en-US" sz="1300" b="1" dirty="0">
                          <a:solidFill>
                            <a:schemeClr val="tx1"/>
                          </a:solidFill>
                        </a:rPr>
                        <a:t>Durable data, no database</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Photos, accounts, jobs and results outlive any VM, with no database to run</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Cloud Storage (4 private buckets)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03504">
                <a:tc>
                  <a:txBody>
                    <a:bodyPr/>
                    <a:lstStyle/>
                    <a:p>
                      <a:pPr indent="0" marL="0">
                        <a:buNone/>
                      </a:pPr>
                      <a:r>
                        <a:rPr lang="en-US" sz="1300" b="1" dirty="0">
                          <a:solidFill>
                            <a:schemeClr val="tx1"/>
                          </a:solidFill>
                        </a:rPr>
                        <a:t>Repeatable, zero-downtime releases</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One script rebuilds every service and rolls it out VM by VM</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Cloud Build, Artifact Registry, Terraform</a:t>
                      </a:r>
                      <a:endParaRPr lang="en-US" sz="1300" dirty="0"/>
                    </a:p>
                  </a:txBody>
                  <a:tcPr marL="118872" marR="118872"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3 · MICROSERVICE ARCHITECTURE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Four microservices, each on its own VMs</a:t>
            </a:r>
            <a:endParaRPr lang="en-US" sz="3400" dirty="0"/>
          </a:p>
        </p:txBody>
      </p:sp>
      <p:sp>
        <p:nvSpPr>
          <p:cNvPr id="4" name="vpc-boundary"/>
          <p:cNvSpPr/>
          <p:nvPr/>
        </p:nvSpPr>
        <p:spPr>
          <a:xfrm>
            <a:off x="4983480" y="1463040"/>
            <a:ext cx="6748272" cy="4846320"/>
          </a:xfrm>
          <a:prstGeom prst="roundRect">
            <a:avLst>
              <a:gd name="adj" fmla="val 2830"/>
            </a:avLst>
          </a:prstGeom>
          <a:solidFill>
            <a:srgbClr val="FFFFFF">
              <a:alpha val="60000"/>
            </a:srgbClr>
          </a:solidFill>
          <a:ln w="15875">
            <a:solidFill>
              <a:srgbClr val="94A3B8"/>
            </a:solidFill>
            <a:prstDash val="dash"/>
          </a:ln>
        </p:spPr>
      </p:sp>
      <p:sp>
        <p:nvSpPr>
          <p:cNvPr id="5" name="Text 3"/>
          <p:cNvSpPr txBox="1"/>
          <p:nvPr/>
        </p:nvSpPr>
        <p:spPr>
          <a:xfrm>
            <a:off x="5166360" y="5989320"/>
            <a:ext cx="5486400" cy="274320"/>
          </a:xfrm>
          <a:prstGeom prst="rect">
            <a:avLst/>
          </a:prstGeom>
          <a:noFill/>
          <a:ln/>
        </p:spPr>
        <p:txBody>
          <a:bodyPr wrap="square" lIns="0" tIns="0" rIns="0" bIns="0" rtlCol="0" anchor="t"/>
          <a:lstStyle/>
          <a:p>
            <a:pPr indent="0" marL="0">
              <a:buNone/>
            </a:pPr>
            <a:r>
              <a:rPr lang="en-US" sz="1100" i="1" dirty="0">
                <a:solidFill>
                  <a:schemeClr val="tx2"/>
                </a:solidFill>
              </a:rPr>
              <a:t>Private VPC · no public IPs · firewall-restricted</a:t>
            </a:r>
            <a:endParaRPr lang="en-US" sz="1100" dirty="0"/>
          </a:p>
        </p:txBody>
      </p:sp>
      <p:sp>
        <p:nvSpPr>
          <p:cNvPr id="6" name="svc-Users"/>
          <p:cNvSpPr/>
          <p:nvPr/>
        </p:nvSpPr>
        <p:spPr>
          <a:xfrm>
            <a:off x="548640" y="1691640"/>
            <a:ext cx="1828800" cy="1188720"/>
          </a:xfrm>
          <a:prstGeom prst="roundRect">
            <a:avLst>
              <a:gd name="adj" fmla="val 7692"/>
            </a:avLst>
          </a:prstGeom>
          <a:solidFill>
            <a:srgbClr val="E2E8F0"/>
          </a:solidFill>
          <a:ln w="9525">
            <a:solidFill>
              <a:srgbClr val="CBD5E1"/>
            </a:solidFill>
            <a:prstDash val="solid"/>
          </a:ln>
        </p:spPr>
      </p:sp>
      <p:pic>
        <p:nvPicPr>
          <p:cNvPr id="7" name="Image 0" descr="Users">    </p:cNvPr>
          <p:cNvPicPr>
            <a:picLocks noChangeAspect="1"/>
          </p:cNvPicPr>
          <p:nvPr/>
        </p:nvPicPr>
        <p:blipFill>
          <a:blip r:embed="rId1"/>
          <a:stretch>
            <a:fillRect/>
          </a:stretch>
        </p:blipFill>
        <p:spPr>
          <a:xfrm>
            <a:off x="1280160" y="1810512"/>
            <a:ext cx="365760" cy="365760"/>
          </a:xfrm>
          <a:prstGeom prst="rect">
            <a:avLst/>
          </a:prstGeom>
        </p:spPr>
      </p:pic>
      <p:sp>
        <p:nvSpPr>
          <p:cNvPr id="8" name="Text 5"/>
          <p:cNvSpPr txBox="1"/>
          <p:nvPr/>
        </p:nvSpPr>
        <p:spPr>
          <a:xfrm>
            <a:off x="594360" y="2221992"/>
            <a:ext cx="1737360" cy="292608"/>
          </a:xfrm>
          <a:prstGeom prst="rect">
            <a:avLst/>
          </a:prstGeom>
          <a:noFill/>
          <a:ln/>
        </p:spPr>
        <p:txBody>
          <a:bodyPr wrap="square" lIns="0" tIns="0" rIns="0" bIns="0" rtlCol="0" anchor="t"/>
          <a:lstStyle/>
          <a:p>
            <a:pPr algn="ctr" indent="0" marL="0">
              <a:buNone/>
            </a:pPr>
            <a:r>
              <a:rPr lang="en-US" sz="1300" b="1" dirty="0">
                <a:solidFill>
                  <a:schemeClr val="tx1"/>
                </a:solidFill>
              </a:rPr>
              <a:t>Users</a:t>
            </a:r>
            <a:endParaRPr lang="en-US" sz="1300" dirty="0"/>
          </a:p>
        </p:txBody>
      </p:sp>
      <p:sp>
        <p:nvSpPr>
          <p:cNvPr id="9" name="Text 6"/>
          <p:cNvSpPr txBox="1"/>
          <p:nvPr/>
        </p:nvSpPr>
        <p:spPr>
          <a:xfrm>
            <a:off x="594360" y="2514600"/>
            <a:ext cx="1737360" cy="274320"/>
          </a:xfrm>
          <a:prstGeom prst="rect">
            <a:avLst/>
          </a:prstGeom>
          <a:noFill/>
          <a:ln/>
        </p:spPr>
        <p:txBody>
          <a:bodyPr wrap="square" lIns="0" tIns="0" rIns="0" bIns="0" rtlCol="0" anchor="t"/>
          <a:lstStyle/>
          <a:p>
            <a:pPr algn="ctr" indent="0" marL="0">
              <a:buNone/>
            </a:pPr>
            <a:r>
              <a:rPr lang="en-US" sz="1050" dirty="0">
                <a:solidFill>
                  <a:schemeClr val="tx2"/>
                </a:solidFill>
              </a:rPr>
              <a:t>Browsers</a:t>
            </a:r>
            <a:endParaRPr lang="en-US" sz="1050" dirty="0"/>
          </a:p>
        </p:txBody>
      </p:sp>
      <p:sp>
        <p:nvSpPr>
          <p:cNvPr id="10" name="Shape 7"/>
          <p:cNvSpPr/>
          <p:nvPr/>
        </p:nvSpPr>
        <p:spPr>
          <a:xfrm>
            <a:off x="2414016" y="2286000"/>
            <a:ext cx="402336" cy="914"/>
          </a:xfrm>
          <a:prstGeom prst="line">
            <a:avLst/>
          </a:prstGeom>
          <a:noFill/>
          <a:ln w="22225">
            <a:solidFill>
              <a:srgbClr val="334155"/>
            </a:solidFill>
            <a:prstDash val="solid"/>
            <a:tailEnd type="triangle"/>
          </a:ln>
        </p:spPr>
      </p:sp>
      <p:sp>
        <p:nvSpPr>
          <p:cNvPr id="11" name="svc-External HTTP(S) LB"/>
          <p:cNvSpPr/>
          <p:nvPr/>
        </p:nvSpPr>
        <p:spPr>
          <a:xfrm>
            <a:off x="2852928" y="1691640"/>
            <a:ext cx="1828800" cy="1188720"/>
          </a:xfrm>
          <a:prstGeom prst="roundRect">
            <a:avLst>
              <a:gd name="adj" fmla="val 7692"/>
            </a:avLst>
          </a:prstGeom>
          <a:solidFill>
            <a:srgbClr val="EDE9FE"/>
          </a:solidFill>
          <a:ln w="9525">
            <a:solidFill>
              <a:srgbClr val="CBD5E1"/>
            </a:solidFill>
            <a:prstDash val="solid"/>
          </a:ln>
        </p:spPr>
      </p:sp>
      <p:pic>
        <p:nvPicPr>
          <p:cNvPr id="12" name="Image 1" descr="External HTTP(S) LB">    </p:cNvPr>
          <p:cNvPicPr>
            <a:picLocks noChangeAspect="1"/>
          </p:cNvPicPr>
          <p:nvPr/>
        </p:nvPicPr>
        <p:blipFill>
          <a:blip r:embed="rId2"/>
          <a:stretch>
            <a:fillRect/>
          </a:stretch>
        </p:blipFill>
        <p:spPr>
          <a:xfrm>
            <a:off x="3584448" y="1810512"/>
            <a:ext cx="365760" cy="365760"/>
          </a:xfrm>
          <a:prstGeom prst="rect">
            <a:avLst/>
          </a:prstGeom>
        </p:spPr>
      </p:pic>
      <p:sp>
        <p:nvSpPr>
          <p:cNvPr id="13" name="Text 9"/>
          <p:cNvSpPr txBox="1"/>
          <p:nvPr/>
        </p:nvSpPr>
        <p:spPr>
          <a:xfrm>
            <a:off x="2898648" y="2221992"/>
            <a:ext cx="1737360" cy="292608"/>
          </a:xfrm>
          <a:prstGeom prst="rect">
            <a:avLst/>
          </a:prstGeom>
          <a:noFill/>
          <a:ln/>
        </p:spPr>
        <p:txBody>
          <a:bodyPr wrap="square" lIns="0" tIns="0" rIns="0" bIns="0" rtlCol="0" anchor="t"/>
          <a:lstStyle/>
          <a:p>
            <a:pPr algn="ctr" indent="0" marL="0">
              <a:buNone/>
            </a:pPr>
            <a:r>
              <a:rPr lang="en-US" sz="1300" b="1" dirty="0">
                <a:solidFill>
                  <a:schemeClr val="tx1"/>
                </a:solidFill>
              </a:rPr>
              <a:t>External HTTP(S) LB</a:t>
            </a:r>
            <a:endParaRPr lang="en-US" sz="1300" dirty="0"/>
          </a:p>
        </p:txBody>
      </p:sp>
      <p:sp>
        <p:nvSpPr>
          <p:cNvPr id="14" name="Text 10"/>
          <p:cNvSpPr txBox="1"/>
          <p:nvPr/>
        </p:nvSpPr>
        <p:spPr>
          <a:xfrm>
            <a:off x="2898648" y="2514600"/>
            <a:ext cx="1737360" cy="274320"/>
          </a:xfrm>
          <a:prstGeom prst="rect">
            <a:avLst/>
          </a:prstGeom>
          <a:noFill/>
          <a:ln/>
        </p:spPr>
        <p:txBody>
          <a:bodyPr wrap="square" lIns="0" tIns="0" rIns="0" bIns="0" rtlCol="0" anchor="t"/>
          <a:lstStyle/>
          <a:p>
            <a:pPr algn="ctr" indent="0" marL="0">
              <a:buNone/>
            </a:pPr>
            <a:r>
              <a:rPr lang="en-US" sz="1050" dirty="0">
                <a:solidFill>
                  <a:schemeClr val="tx2"/>
                </a:solidFill>
              </a:rPr>
              <a:t>the only public entry</a:t>
            </a:r>
            <a:endParaRPr lang="en-US" sz="1050" dirty="0"/>
          </a:p>
        </p:txBody>
      </p:sp>
      <p:sp>
        <p:nvSpPr>
          <p:cNvPr id="15" name="Shape 11"/>
          <p:cNvSpPr/>
          <p:nvPr/>
        </p:nvSpPr>
        <p:spPr>
          <a:xfrm>
            <a:off x="4718304" y="2286000"/>
            <a:ext cx="402336" cy="914"/>
          </a:xfrm>
          <a:prstGeom prst="line">
            <a:avLst/>
          </a:prstGeom>
          <a:noFill/>
          <a:ln w="22225">
            <a:solidFill>
              <a:srgbClr val="334155"/>
            </a:solidFill>
            <a:prstDash val="solid"/>
            <a:tailEnd type="triangle"/>
          </a:ln>
        </p:spPr>
      </p:sp>
      <p:sp>
        <p:nvSpPr>
          <p:cNvPr id="16" name="svc-Frontend"/>
          <p:cNvSpPr/>
          <p:nvPr/>
        </p:nvSpPr>
        <p:spPr>
          <a:xfrm>
            <a:off x="5157216" y="1691640"/>
            <a:ext cx="1828800" cy="1188720"/>
          </a:xfrm>
          <a:prstGeom prst="roundRect">
            <a:avLst>
              <a:gd name="adj" fmla="val 7692"/>
            </a:avLst>
          </a:prstGeom>
          <a:solidFill>
            <a:srgbClr val="CFFAFE"/>
          </a:solidFill>
          <a:ln w="9525">
            <a:solidFill>
              <a:srgbClr val="CBD5E1"/>
            </a:solidFill>
            <a:prstDash val="solid"/>
          </a:ln>
        </p:spPr>
      </p:sp>
      <p:pic>
        <p:nvPicPr>
          <p:cNvPr id="17" name="Image 2" descr="Frontend">    </p:cNvPr>
          <p:cNvPicPr>
            <a:picLocks noChangeAspect="1"/>
          </p:cNvPicPr>
          <p:nvPr/>
        </p:nvPicPr>
        <p:blipFill>
          <a:blip r:embed="rId3"/>
          <a:stretch>
            <a:fillRect/>
          </a:stretch>
        </p:blipFill>
        <p:spPr>
          <a:xfrm>
            <a:off x="5888736" y="1810512"/>
            <a:ext cx="365760" cy="365760"/>
          </a:xfrm>
          <a:prstGeom prst="rect">
            <a:avLst/>
          </a:prstGeom>
        </p:spPr>
      </p:pic>
      <p:sp>
        <p:nvSpPr>
          <p:cNvPr id="18" name="Text 13"/>
          <p:cNvSpPr txBox="1"/>
          <p:nvPr/>
        </p:nvSpPr>
        <p:spPr>
          <a:xfrm>
            <a:off x="5202936" y="2221992"/>
            <a:ext cx="1737360" cy="292608"/>
          </a:xfrm>
          <a:prstGeom prst="rect">
            <a:avLst/>
          </a:prstGeom>
          <a:noFill/>
          <a:ln/>
        </p:spPr>
        <p:txBody>
          <a:bodyPr wrap="square" lIns="0" tIns="0" rIns="0" bIns="0" rtlCol="0" anchor="t"/>
          <a:lstStyle/>
          <a:p>
            <a:pPr algn="ctr" indent="0" marL="0">
              <a:buNone/>
            </a:pPr>
            <a:r>
              <a:rPr lang="en-US" sz="1300" b="1" dirty="0">
                <a:solidFill>
                  <a:schemeClr val="tx1"/>
                </a:solidFill>
              </a:rPr>
              <a:t>Frontend</a:t>
            </a:r>
            <a:endParaRPr lang="en-US" sz="1300" dirty="0"/>
          </a:p>
        </p:txBody>
      </p:sp>
      <p:sp>
        <p:nvSpPr>
          <p:cNvPr id="19" name="Text 14"/>
          <p:cNvSpPr txBox="1"/>
          <p:nvPr/>
        </p:nvSpPr>
        <p:spPr>
          <a:xfrm>
            <a:off x="5202936" y="2514600"/>
            <a:ext cx="1737360" cy="274320"/>
          </a:xfrm>
          <a:prstGeom prst="rect">
            <a:avLst/>
          </a:prstGeom>
          <a:noFill/>
          <a:ln/>
        </p:spPr>
        <p:txBody>
          <a:bodyPr wrap="square" lIns="0" tIns="0" rIns="0" bIns="0" rtlCol="0" anchor="t"/>
          <a:lstStyle/>
          <a:p>
            <a:pPr algn="ctr" indent="0" marL="0">
              <a:buNone/>
            </a:pPr>
            <a:r>
              <a:rPr lang="en-US" sz="1050" dirty="0">
                <a:solidFill>
                  <a:schemeClr val="tx2"/>
                </a:solidFill>
              </a:rPr>
              <a:t>nginx + React · e2-micro</a:t>
            </a:r>
            <a:endParaRPr lang="en-US" sz="1050" dirty="0"/>
          </a:p>
        </p:txBody>
      </p:sp>
      <p:sp>
        <p:nvSpPr>
          <p:cNvPr id="20" name="Shape 15"/>
          <p:cNvSpPr/>
          <p:nvPr/>
        </p:nvSpPr>
        <p:spPr>
          <a:xfrm>
            <a:off x="7022592" y="2286000"/>
            <a:ext cx="402336" cy="914"/>
          </a:xfrm>
          <a:prstGeom prst="line">
            <a:avLst/>
          </a:prstGeom>
          <a:noFill/>
          <a:ln w="22225">
            <a:solidFill>
              <a:srgbClr val="334155"/>
            </a:solidFill>
            <a:prstDash val="solid"/>
            <a:tailEnd type="triangle"/>
          </a:ln>
        </p:spPr>
      </p:sp>
      <p:sp>
        <p:nvSpPr>
          <p:cNvPr id="21" name="svc-Internal TCP LB"/>
          <p:cNvSpPr/>
          <p:nvPr/>
        </p:nvSpPr>
        <p:spPr>
          <a:xfrm>
            <a:off x="7461504" y="1691640"/>
            <a:ext cx="1828800" cy="1188720"/>
          </a:xfrm>
          <a:prstGeom prst="roundRect">
            <a:avLst>
              <a:gd name="adj" fmla="val 7692"/>
            </a:avLst>
          </a:prstGeom>
          <a:solidFill>
            <a:srgbClr val="EDE9FE"/>
          </a:solidFill>
          <a:ln w="9525">
            <a:solidFill>
              <a:srgbClr val="CBD5E1"/>
            </a:solidFill>
            <a:prstDash val="solid"/>
          </a:ln>
        </p:spPr>
      </p:sp>
      <p:pic>
        <p:nvPicPr>
          <p:cNvPr id="22" name="Image 3" descr="Internal TCP LB">    </p:cNvPr>
          <p:cNvPicPr>
            <a:picLocks noChangeAspect="1"/>
          </p:cNvPicPr>
          <p:nvPr/>
        </p:nvPicPr>
        <p:blipFill>
          <a:blip r:embed="rId4"/>
          <a:stretch>
            <a:fillRect/>
          </a:stretch>
        </p:blipFill>
        <p:spPr>
          <a:xfrm>
            <a:off x="8193024" y="1810512"/>
            <a:ext cx="365760" cy="365760"/>
          </a:xfrm>
          <a:prstGeom prst="rect">
            <a:avLst/>
          </a:prstGeom>
        </p:spPr>
      </p:pic>
      <p:sp>
        <p:nvSpPr>
          <p:cNvPr id="23" name="Text 17"/>
          <p:cNvSpPr txBox="1"/>
          <p:nvPr/>
        </p:nvSpPr>
        <p:spPr>
          <a:xfrm>
            <a:off x="7507224" y="2221992"/>
            <a:ext cx="1737360" cy="292608"/>
          </a:xfrm>
          <a:prstGeom prst="rect">
            <a:avLst/>
          </a:prstGeom>
          <a:noFill/>
          <a:ln/>
        </p:spPr>
        <p:txBody>
          <a:bodyPr wrap="square" lIns="0" tIns="0" rIns="0" bIns="0" rtlCol="0" anchor="t"/>
          <a:lstStyle/>
          <a:p>
            <a:pPr algn="ctr" indent="0" marL="0">
              <a:buNone/>
            </a:pPr>
            <a:r>
              <a:rPr lang="en-US" sz="1300" b="1" dirty="0">
                <a:solidFill>
                  <a:schemeClr val="tx1"/>
                </a:solidFill>
              </a:rPr>
              <a:t>Internal TCP LB</a:t>
            </a:r>
            <a:endParaRPr lang="en-US" sz="1300" dirty="0"/>
          </a:p>
        </p:txBody>
      </p:sp>
      <p:sp>
        <p:nvSpPr>
          <p:cNvPr id="24" name="Text 18"/>
          <p:cNvSpPr txBox="1"/>
          <p:nvPr/>
        </p:nvSpPr>
        <p:spPr>
          <a:xfrm>
            <a:off x="7507224" y="2514600"/>
            <a:ext cx="1737360" cy="274320"/>
          </a:xfrm>
          <a:prstGeom prst="rect">
            <a:avLst/>
          </a:prstGeom>
          <a:noFill/>
          <a:ln/>
        </p:spPr>
        <p:txBody>
          <a:bodyPr wrap="square" lIns="0" tIns="0" rIns="0" bIns="0" rtlCol="0" anchor="t"/>
          <a:lstStyle/>
          <a:p>
            <a:pPr algn="ctr" indent="0" marL="0">
              <a:buNone/>
            </a:pPr>
            <a:r>
              <a:rPr lang="en-US" sz="1050" dirty="0">
                <a:solidFill>
                  <a:schemeClr val="tx2"/>
                </a:solidFill>
              </a:rPr>
              <a:t>private IP :8000</a:t>
            </a:r>
            <a:endParaRPr lang="en-US" sz="1050" dirty="0"/>
          </a:p>
        </p:txBody>
      </p:sp>
      <p:sp>
        <p:nvSpPr>
          <p:cNvPr id="25" name="Shape 19"/>
          <p:cNvSpPr/>
          <p:nvPr/>
        </p:nvSpPr>
        <p:spPr>
          <a:xfrm>
            <a:off x="9326880" y="2286000"/>
            <a:ext cx="402336" cy="914"/>
          </a:xfrm>
          <a:prstGeom prst="line">
            <a:avLst/>
          </a:prstGeom>
          <a:noFill/>
          <a:ln w="22225">
            <a:solidFill>
              <a:srgbClr val="334155"/>
            </a:solidFill>
            <a:prstDash val="solid"/>
            <a:tailEnd type="triangle"/>
          </a:ln>
        </p:spPr>
      </p:sp>
      <p:sp>
        <p:nvSpPr>
          <p:cNvPr id="26" name="svc-API Gateway"/>
          <p:cNvSpPr/>
          <p:nvPr/>
        </p:nvSpPr>
        <p:spPr>
          <a:xfrm>
            <a:off x="9765792" y="1691640"/>
            <a:ext cx="1828800" cy="1188720"/>
          </a:xfrm>
          <a:prstGeom prst="roundRect">
            <a:avLst>
              <a:gd name="adj" fmla="val 7692"/>
            </a:avLst>
          </a:prstGeom>
          <a:solidFill>
            <a:srgbClr val="CFFAFE"/>
          </a:solidFill>
          <a:ln w="9525">
            <a:solidFill>
              <a:srgbClr val="CBD5E1"/>
            </a:solidFill>
            <a:prstDash val="solid"/>
          </a:ln>
        </p:spPr>
      </p:sp>
      <p:pic>
        <p:nvPicPr>
          <p:cNvPr id="27" name="Image 4" descr="API Gateway">    </p:cNvPr>
          <p:cNvPicPr>
            <a:picLocks noChangeAspect="1"/>
          </p:cNvPicPr>
          <p:nvPr/>
        </p:nvPicPr>
        <p:blipFill>
          <a:blip r:embed="rId5"/>
          <a:stretch>
            <a:fillRect/>
          </a:stretch>
        </p:blipFill>
        <p:spPr>
          <a:xfrm>
            <a:off x="10497312" y="1810512"/>
            <a:ext cx="365760" cy="365760"/>
          </a:xfrm>
          <a:prstGeom prst="rect">
            <a:avLst/>
          </a:prstGeom>
        </p:spPr>
      </p:pic>
      <p:sp>
        <p:nvSpPr>
          <p:cNvPr id="28" name="Text 21"/>
          <p:cNvSpPr txBox="1"/>
          <p:nvPr/>
        </p:nvSpPr>
        <p:spPr>
          <a:xfrm>
            <a:off x="9811512" y="2221992"/>
            <a:ext cx="1737360" cy="292608"/>
          </a:xfrm>
          <a:prstGeom prst="rect">
            <a:avLst/>
          </a:prstGeom>
          <a:noFill/>
          <a:ln/>
        </p:spPr>
        <p:txBody>
          <a:bodyPr wrap="square" lIns="0" tIns="0" rIns="0" bIns="0" rtlCol="0" anchor="t"/>
          <a:lstStyle/>
          <a:p>
            <a:pPr algn="ctr" indent="0" marL="0">
              <a:buNone/>
            </a:pPr>
            <a:r>
              <a:rPr lang="en-US" sz="1300" b="1" dirty="0">
                <a:solidFill>
                  <a:schemeClr val="tx1"/>
                </a:solidFill>
              </a:rPr>
              <a:t>API Gateway</a:t>
            </a:r>
            <a:endParaRPr lang="en-US" sz="1300" dirty="0"/>
          </a:p>
        </p:txBody>
      </p:sp>
      <p:sp>
        <p:nvSpPr>
          <p:cNvPr id="29" name="Text 22"/>
          <p:cNvSpPr txBox="1"/>
          <p:nvPr/>
        </p:nvSpPr>
        <p:spPr>
          <a:xfrm>
            <a:off x="9811512" y="2514600"/>
            <a:ext cx="1737360" cy="274320"/>
          </a:xfrm>
          <a:prstGeom prst="rect">
            <a:avLst/>
          </a:prstGeom>
          <a:noFill/>
          <a:ln/>
        </p:spPr>
        <p:txBody>
          <a:bodyPr wrap="square" lIns="0" tIns="0" rIns="0" bIns="0" rtlCol="0" anchor="t"/>
          <a:lstStyle/>
          <a:p>
            <a:pPr algn="ctr" indent="0" marL="0">
              <a:buNone/>
            </a:pPr>
            <a:r>
              <a:rPr lang="en-US" sz="1050" dirty="0">
                <a:solidFill>
                  <a:schemeClr val="tx2"/>
                </a:solidFill>
              </a:rPr>
              <a:t>FastAPI · e2-medium</a:t>
            </a:r>
            <a:endParaRPr lang="en-US" sz="1050" dirty="0"/>
          </a:p>
        </p:txBody>
      </p:sp>
      <p:sp>
        <p:nvSpPr>
          <p:cNvPr id="30" name="Text 23"/>
          <p:cNvSpPr txBox="1"/>
          <p:nvPr/>
        </p:nvSpPr>
        <p:spPr>
          <a:xfrm>
            <a:off x="7022592" y="1956816"/>
            <a:ext cx="457200" cy="228600"/>
          </a:xfrm>
          <a:prstGeom prst="rect">
            <a:avLst/>
          </a:prstGeom>
          <a:noFill/>
          <a:ln/>
        </p:spPr>
        <p:txBody>
          <a:bodyPr wrap="square" lIns="0" tIns="0" rIns="0" bIns="0" rtlCol="0" anchor="t"/>
          <a:lstStyle/>
          <a:p>
            <a:pPr algn="ctr" indent="0" marL="0">
              <a:buNone/>
            </a:pPr>
            <a:r>
              <a:rPr lang="en-US" sz="1000" dirty="0">
                <a:solidFill>
                  <a:schemeClr val="tx2"/>
                </a:solidFill>
              </a:rPr>
              <a:t>/api/*</a:t>
            </a:r>
            <a:endParaRPr lang="en-US" sz="1000" dirty="0"/>
          </a:p>
        </p:txBody>
      </p:sp>
      <p:sp>
        <p:nvSpPr>
          <p:cNvPr id="31" name="svc-Assembler"/>
          <p:cNvSpPr/>
          <p:nvPr/>
        </p:nvSpPr>
        <p:spPr>
          <a:xfrm>
            <a:off x="5486400" y="3429000"/>
            <a:ext cx="2103120" cy="1097280"/>
          </a:xfrm>
          <a:prstGeom prst="roundRect">
            <a:avLst>
              <a:gd name="adj" fmla="val 8333"/>
            </a:avLst>
          </a:prstGeom>
          <a:solidFill>
            <a:srgbClr val="FCE7F3"/>
          </a:solidFill>
          <a:ln w="9525">
            <a:solidFill>
              <a:srgbClr val="CBD5E1"/>
            </a:solidFill>
            <a:prstDash val="solid"/>
          </a:ln>
        </p:spPr>
      </p:sp>
      <p:pic>
        <p:nvPicPr>
          <p:cNvPr id="32" name="Image 5" descr="Assembler">    </p:cNvPr>
          <p:cNvPicPr>
            <a:picLocks noChangeAspect="1"/>
          </p:cNvPicPr>
          <p:nvPr/>
        </p:nvPicPr>
        <p:blipFill>
          <a:blip r:embed="rId6"/>
          <a:stretch>
            <a:fillRect/>
          </a:stretch>
        </p:blipFill>
        <p:spPr>
          <a:xfrm>
            <a:off x="5623560" y="3566160"/>
            <a:ext cx="347472" cy="347472"/>
          </a:xfrm>
          <a:prstGeom prst="rect">
            <a:avLst/>
          </a:prstGeom>
        </p:spPr>
      </p:pic>
      <p:sp>
        <p:nvSpPr>
          <p:cNvPr id="33" name="Text 25"/>
          <p:cNvSpPr txBox="1"/>
          <p:nvPr/>
        </p:nvSpPr>
        <p:spPr>
          <a:xfrm>
            <a:off x="6053328" y="3584448"/>
            <a:ext cx="1463040" cy="310896"/>
          </a:xfrm>
          <a:prstGeom prst="rect">
            <a:avLst/>
          </a:prstGeom>
          <a:noFill/>
          <a:ln/>
        </p:spPr>
        <p:txBody>
          <a:bodyPr wrap="square" lIns="0" tIns="0" rIns="0" bIns="0" rtlCol="0" anchor="t"/>
          <a:lstStyle/>
          <a:p>
            <a:pPr indent="0" marL="0">
              <a:buNone/>
            </a:pPr>
            <a:r>
              <a:rPr lang="en-US" sz="1300" b="1" dirty="0">
                <a:solidFill>
                  <a:schemeClr val="tx1"/>
                </a:solidFill>
              </a:rPr>
              <a:t>Assembler</a:t>
            </a:r>
            <a:endParaRPr lang="en-US" sz="1300" dirty="0"/>
          </a:p>
        </p:txBody>
      </p:sp>
      <p:sp>
        <p:nvSpPr>
          <p:cNvPr id="34" name="Text 26"/>
          <p:cNvSpPr txBox="1"/>
          <p:nvPr/>
        </p:nvSpPr>
        <p:spPr>
          <a:xfrm>
            <a:off x="5623560" y="3995928"/>
            <a:ext cx="1874520" cy="457200"/>
          </a:xfrm>
          <a:prstGeom prst="rect">
            <a:avLst/>
          </a:prstGeom>
          <a:noFill/>
          <a:ln/>
        </p:spPr>
        <p:txBody>
          <a:bodyPr wrap="square" lIns="0" tIns="0" rIns="0" bIns="0" rtlCol="0" anchor="t"/>
          <a:lstStyle/>
          <a:p>
            <a:pPr indent="0" marL="0">
              <a:buNone/>
            </a:pPr>
            <a:r>
              <a:rPr lang="en-US" sz="1050" dirty="0">
                <a:solidFill>
                  <a:schemeClr val="tx2"/>
                </a:solidFill>
              </a:rPr>
              <a:t>stitches the final image · e2-medium</a:t>
            </a:r>
            <a:endParaRPr lang="en-US" sz="1050" dirty="0"/>
          </a:p>
        </p:txBody>
      </p:sp>
      <p:sp>
        <p:nvSpPr>
          <p:cNvPr id="35" name="Shape 27"/>
          <p:cNvSpPr/>
          <p:nvPr/>
        </p:nvSpPr>
        <p:spPr>
          <a:xfrm>
            <a:off x="6537960" y="4572000"/>
            <a:ext cx="914" cy="457200"/>
          </a:xfrm>
          <a:prstGeom prst="line">
            <a:avLst/>
          </a:prstGeom>
          <a:noFill/>
          <a:ln w="22225">
            <a:solidFill>
              <a:srgbClr val="BE185D"/>
            </a:solidFill>
            <a:prstDash val="solid"/>
            <a:headEnd type="triangle"/>
            <a:tailEnd type="triangle"/>
          </a:ln>
        </p:spPr>
      </p:sp>
      <p:sp>
        <p:nvSpPr>
          <p:cNvPr id="36" name="svc-Workers ×N"/>
          <p:cNvSpPr/>
          <p:nvPr/>
        </p:nvSpPr>
        <p:spPr>
          <a:xfrm>
            <a:off x="7863840" y="3429000"/>
            <a:ext cx="2103120" cy="1097280"/>
          </a:xfrm>
          <a:prstGeom prst="roundRect">
            <a:avLst>
              <a:gd name="adj" fmla="val 8333"/>
            </a:avLst>
          </a:prstGeom>
          <a:solidFill>
            <a:srgbClr val="FCE7F3"/>
          </a:solidFill>
          <a:ln w="9525">
            <a:solidFill>
              <a:srgbClr val="CBD5E1"/>
            </a:solidFill>
            <a:prstDash val="solid"/>
          </a:ln>
        </p:spPr>
      </p:sp>
      <p:pic>
        <p:nvPicPr>
          <p:cNvPr id="37" name="Image 6" descr="Workers ×N">    </p:cNvPr>
          <p:cNvPicPr>
            <a:picLocks noChangeAspect="1"/>
          </p:cNvPicPr>
          <p:nvPr/>
        </p:nvPicPr>
        <p:blipFill>
          <a:blip r:embed="rId7"/>
          <a:stretch>
            <a:fillRect/>
          </a:stretch>
        </p:blipFill>
        <p:spPr>
          <a:xfrm>
            <a:off x="8001000" y="3566160"/>
            <a:ext cx="347472" cy="347472"/>
          </a:xfrm>
          <a:prstGeom prst="rect">
            <a:avLst/>
          </a:prstGeom>
        </p:spPr>
      </p:pic>
      <p:sp>
        <p:nvSpPr>
          <p:cNvPr id="38" name="Text 29"/>
          <p:cNvSpPr txBox="1"/>
          <p:nvPr/>
        </p:nvSpPr>
        <p:spPr>
          <a:xfrm>
            <a:off x="8430768" y="3584448"/>
            <a:ext cx="1463040" cy="310896"/>
          </a:xfrm>
          <a:prstGeom prst="rect">
            <a:avLst/>
          </a:prstGeom>
          <a:noFill/>
          <a:ln/>
        </p:spPr>
        <p:txBody>
          <a:bodyPr wrap="square" lIns="0" tIns="0" rIns="0" bIns="0" rtlCol="0" anchor="t"/>
          <a:lstStyle/>
          <a:p>
            <a:pPr indent="0" marL="0">
              <a:buNone/>
            </a:pPr>
            <a:r>
              <a:rPr lang="en-US" sz="1300" b="1" dirty="0">
                <a:solidFill>
                  <a:schemeClr val="tx1"/>
                </a:solidFill>
              </a:rPr>
              <a:t>Workers ×N</a:t>
            </a:r>
            <a:endParaRPr lang="en-US" sz="1300" dirty="0"/>
          </a:p>
        </p:txBody>
      </p:sp>
      <p:sp>
        <p:nvSpPr>
          <p:cNvPr id="39" name="Text 30"/>
          <p:cNvSpPr txBox="1"/>
          <p:nvPr/>
        </p:nvSpPr>
        <p:spPr>
          <a:xfrm>
            <a:off x="8001000" y="3995928"/>
            <a:ext cx="1874520" cy="457200"/>
          </a:xfrm>
          <a:prstGeom prst="rect">
            <a:avLst/>
          </a:prstGeom>
          <a:noFill/>
          <a:ln/>
        </p:spPr>
        <p:txBody>
          <a:bodyPr wrap="square" lIns="0" tIns="0" rIns="0" bIns="0" rtlCol="0" anchor="t"/>
          <a:lstStyle/>
          <a:p>
            <a:pPr indent="0" marL="0">
              <a:buNone/>
            </a:pPr>
            <a:r>
              <a:rPr lang="en-US" sz="1050" dirty="0">
                <a:solidFill>
                  <a:schemeClr val="tx2"/>
                </a:solidFill>
              </a:rPr>
              <a:t>4 render engines · Spot e2-small</a:t>
            </a:r>
            <a:endParaRPr lang="en-US" sz="1050" dirty="0"/>
          </a:p>
        </p:txBody>
      </p:sp>
      <p:sp>
        <p:nvSpPr>
          <p:cNvPr id="40" name="Shape 31"/>
          <p:cNvSpPr/>
          <p:nvPr/>
        </p:nvSpPr>
        <p:spPr>
          <a:xfrm>
            <a:off x="8915400" y="4572000"/>
            <a:ext cx="914" cy="457200"/>
          </a:xfrm>
          <a:prstGeom prst="line">
            <a:avLst/>
          </a:prstGeom>
          <a:noFill/>
          <a:ln w="22225">
            <a:solidFill>
              <a:srgbClr val="BE185D"/>
            </a:solidFill>
            <a:prstDash val="solid"/>
            <a:headEnd type="triangle"/>
            <a:tailEnd type="triangle"/>
          </a:ln>
        </p:spPr>
      </p:sp>
      <p:sp>
        <p:nvSpPr>
          <p:cNvPr id="41" name="storage"/>
          <p:cNvSpPr/>
          <p:nvPr/>
        </p:nvSpPr>
        <p:spPr>
          <a:xfrm>
            <a:off x="5486400" y="5074920"/>
            <a:ext cx="6108192" cy="822960"/>
          </a:xfrm>
          <a:prstGeom prst="roundRect">
            <a:avLst>
              <a:gd name="adj" fmla="val 11111"/>
            </a:avLst>
          </a:prstGeom>
          <a:solidFill>
            <a:schemeClr val="tx1"/>
          </a:solidFill>
          <a:ln/>
        </p:spPr>
      </p:sp>
      <p:pic>
        <p:nvPicPr>
          <p:cNvPr id="42" name="Image 7" descr="Cloud Storage">    </p:cNvPr>
          <p:cNvPicPr>
            <a:picLocks noChangeAspect="1"/>
          </p:cNvPicPr>
          <p:nvPr/>
        </p:nvPicPr>
        <p:blipFill>
          <a:blip r:embed="rId8"/>
          <a:stretch>
            <a:fillRect/>
          </a:stretch>
        </p:blipFill>
        <p:spPr>
          <a:xfrm>
            <a:off x="5650992" y="5294376"/>
            <a:ext cx="384048" cy="384048"/>
          </a:xfrm>
          <a:prstGeom prst="rect">
            <a:avLst/>
          </a:prstGeom>
        </p:spPr>
      </p:pic>
      <p:sp>
        <p:nvSpPr>
          <p:cNvPr id="43" name="Text 33"/>
          <p:cNvSpPr txBox="1"/>
          <p:nvPr/>
        </p:nvSpPr>
        <p:spPr>
          <a:xfrm>
            <a:off x="6172200" y="5166360"/>
            <a:ext cx="5303520" cy="320040"/>
          </a:xfrm>
          <a:prstGeom prst="rect">
            <a:avLst/>
          </a:prstGeom>
          <a:noFill/>
          <a:ln/>
        </p:spPr>
        <p:txBody>
          <a:bodyPr wrap="square" lIns="0" tIns="0" rIns="0" bIns="0" rtlCol="0" anchor="t"/>
          <a:lstStyle/>
          <a:p>
            <a:pPr indent="0" marL="0">
              <a:buNone/>
            </a:pPr>
            <a:r>
              <a:rPr lang="en-US" sz="1400" b="1" dirty="0">
                <a:solidFill>
                  <a:schemeClr val="bg1"/>
                </a:solidFill>
              </a:rPr>
              <a:t>Cloud Storage · 4 private buckets</a:t>
            </a:r>
            <a:endParaRPr lang="en-US" sz="1400" dirty="0"/>
          </a:p>
        </p:txBody>
      </p:sp>
      <p:sp>
        <p:nvSpPr>
          <p:cNvPr id="44" name="Text 34"/>
          <p:cNvSpPr txBox="1"/>
          <p:nvPr/>
        </p:nvSpPr>
        <p:spPr>
          <a:xfrm>
            <a:off x="6172200" y="5504688"/>
            <a:ext cx="5303520" cy="274320"/>
          </a:xfrm>
          <a:prstGeom prst="rect">
            <a:avLst/>
          </a:prstGeom>
          <a:noFill/>
          <a:ln/>
        </p:spPr>
        <p:txBody>
          <a:bodyPr wrap="square" lIns="0" tIns="0" rIns="0" bIns="0" rtlCol="0" anchor="t"/>
          <a:lstStyle/>
          <a:p>
            <a:pPr indent="0" marL="0">
              <a:buNone/>
            </a:pPr>
            <a:r>
              <a:rPr lang="en-US" sz="1100" dirty="0">
                <a:solidFill>
                  <a:schemeClr val="accent4"/>
                </a:solidFill>
              </a:rPr>
              <a:t>photo-library · target-posters · task-coordination · mosaic-outputs</a:t>
            </a:r>
            <a:endParaRPr lang="en-US" sz="1100" dirty="0"/>
          </a:p>
        </p:txBody>
      </p:sp>
      <p:sp>
        <p:nvSpPr>
          <p:cNvPr id="45" name="Shape 35"/>
          <p:cNvSpPr/>
          <p:nvPr/>
        </p:nvSpPr>
        <p:spPr>
          <a:xfrm>
            <a:off x="10680192" y="2926080"/>
            <a:ext cx="914" cy="2103120"/>
          </a:xfrm>
          <a:prstGeom prst="line">
            <a:avLst/>
          </a:prstGeom>
          <a:noFill/>
          <a:ln w="22225">
            <a:solidFill>
              <a:srgbClr val="0E7490"/>
            </a:solidFill>
            <a:prstDash val="solid"/>
            <a:headEnd type="triangle"/>
            <a:tailEnd type="triangle"/>
          </a:ln>
        </p:spPr>
      </p:sp>
      <p:sp>
        <p:nvSpPr>
          <p:cNvPr id="46" name="Text 36"/>
          <p:cNvSpPr txBox="1"/>
          <p:nvPr/>
        </p:nvSpPr>
        <p:spPr>
          <a:xfrm>
            <a:off x="10771632" y="3429000"/>
            <a:ext cx="914400" cy="548640"/>
          </a:xfrm>
          <a:prstGeom prst="rect">
            <a:avLst/>
          </a:prstGeom>
          <a:noFill/>
          <a:ln/>
        </p:spPr>
        <p:txBody>
          <a:bodyPr wrap="square" lIns="0" tIns="0" rIns="0" bIns="0" rtlCol="0" anchor="t"/>
          <a:lstStyle/>
          <a:p>
            <a:pPr indent="0" marL="0">
              <a:buNone/>
            </a:pPr>
            <a:r>
              <a:rPr lang="en-US" sz="1000" dirty="0">
                <a:solidFill>
                  <a:schemeClr val="tx2"/>
                </a:solidFill>
              </a:rPr>
              <a:t>accounts, uploads,</a:t>
            </a:r>
            <a:endParaRPr lang="en-US" sz="1000" dirty="0"/>
          </a:p>
          <a:p>
            <a:pPr indent="0" marL="0">
              <a:buNone/>
            </a:pPr>
            <a:r>
              <a:rPr lang="en-US" sz="1000" dirty="0">
                <a:solidFill>
                  <a:schemeClr val="tx2"/>
                </a:solidFill>
              </a:rPr>
              <a:t>job tasks</a:t>
            </a:r>
            <a:endParaRPr lang="en-US" sz="1000" dirty="0"/>
          </a:p>
        </p:txBody>
      </p:sp>
      <p:sp>
        <p:nvSpPr>
          <p:cNvPr id="47" name="Text 37"/>
          <p:cNvSpPr txBox="1"/>
          <p:nvPr/>
        </p:nvSpPr>
        <p:spPr>
          <a:xfrm>
            <a:off x="548640" y="3291840"/>
            <a:ext cx="4206240" cy="292608"/>
          </a:xfrm>
          <a:prstGeom prst="rect">
            <a:avLst/>
          </a:prstGeom>
          <a:noFill/>
          <a:ln/>
        </p:spPr>
        <p:txBody>
          <a:bodyPr wrap="square" lIns="0" tIns="0" rIns="0" bIns="0" rtlCol="0" anchor="t"/>
          <a:lstStyle/>
          <a:p>
            <a:pPr indent="0" marL="0">
              <a:buNone/>
            </a:pPr>
            <a:r>
              <a:rPr lang="en-US" sz="1300" b="1" dirty="0">
                <a:solidFill>
                  <a:schemeClr val="tx1"/>
                </a:solidFill>
              </a:rPr>
              <a:t>Build &amp; deploy</a:t>
            </a:r>
            <a:endParaRPr lang="en-US" sz="1300" dirty="0"/>
          </a:p>
        </p:txBody>
      </p:sp>
      <p:sp>
        <p:nvSpPr>
          <p:cNvPr id="48" name="build-0"/>
          <p:cNvSpPr/>
          <p:nvPr/>
        </p:nvSpPr>
        <p:spPr>
          <a:xfrm>
            <a:off x="548640" y="3675888"/>
            <a:ext cx="4114800" cy="658368"/>
          </a:xfrm>
          <a:prstGeom prst="roundRect">
            <a:avLst>
              <a:gd name="adj" fmla="val 1666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pic>
        <p:nvPicPr>
          <p:cNvPr id="49" name="Image 8" descr="Terraform">    </p:cNvPr>
          <p:cNvPicPr>
            <a:picLocks noChangeAspect="1"/>
          </p:cNvPicPr>
          <p:nvPr/>
        </p:nvPicPr>
        <p:blipFill>
          <a:blip r:embed="rId9"/>
          <a:stretch>
            <a:fillRect/>
          </a:stretch>
        </p:blipFill>
        <p:spPr>
          <a:xfrm>
            <a:off x="713232" y="3831336"/>
            <a:ext cx="347472" cy="347472"/>
          </a:xfrm>
          <a:prstGeom prst="rect">
            <a:avLst/>
          </a:prstGeom>
        </p:spPr>
      </p:pic>
      <p:sp>
        <p:nvSpPr>
          <p:cNvPr id="50" name="Text 39"/>
          <p:cNvSpPr txBox="1"/>
          <p:nvPr/>
        </p:nvSpPr>
        <p:spPr>
          <a:xfrm>
            <a:off x="1207008" y="3767328"/>
            <a:ext cx="3291840" cy="274320"/>
          </a:xfrm>
          <a:prstGeom prst="rect">
            <a:avLst/>
          </a:prstGeom>
          <a:noFill/>
          <a:ln/>
        </p:spPr>
        <p:txBody>
          <a:bodyPr wrap="square" lIns="0" tIns="0" rIns="0" bIns="0" rtlCol="0" anchor="t"/>
          <a:lstStyle/>
          <a:p>
            <a:pPr indent="0" marL="0">
              <a:buNone/>
            </a:pPr>
            <a:r>
              <a:rPr lang="en-US" sz="1300" b="1" dirty="0">
                <a:solidFill>
                  <a:schemeClr val="tx1"/>
                </a:solidFill>
              </a:rPr>
              <a:t>Terraform</a:t>
            </a:r>
            <a:endParaRPr lang="en-US" sz="1300" dirty="0"/>
          </a:p>
        </p:txBody>
      </p:sp>
      <p:sp>
        <p:nvSpPr>
          <p:cNvPr id="51" name="Text 40"/>
          <p:cNvSpPr txBox="1"/>
          <p:nvPr/>
        </p:nvSpPr>
        <p:spPr>
          <a:xfrm>
            <a:off x="1207008" y="4023360"/>
            <a:ext cx="3291840" cy="256032"/>
          </a:xfrm>
          <a:prstGeom prst="rect">
            <a:avLst/>
          </a:prstGeom>
          <a:noFill/>
          <a:ln/>
        </p:spPr>
        <p:txBody>
          <a:bodyPr wrap="square" lIns="0" tIns="0" rIns="0" bIns="0" rtlCol="0" anchor="t"/>
          <a:lstStyle/>
          <a:p>
            <a:pPr indent="0" marL="0">
              <a:buNone/>
            </a:pPr>
            <a:r>
              <a:rPr lang="en-US" sz="1100" dirty="0">
                <a:solidFill>
                  <a:schemeClr val="tx2"/>
                </a:solidFill>
              </a:rPr>
              <a:t>creates every resource</a:t>
            </a:r>
            <a:endParaRPr lang="en-US" sz="1100" dirty="0"/>
          </a:p>
        </p:txBody>
      </p:sp>
      <p:sp>
        <p:nvSpPr>
          <p:cNvPr id="52" name="build-1"/>
          <p:cNvSpPr/>
          <p:nvPr/>
        </p:nvSpPr>
        <p:spPr>
          <a:xfrm>
            <a:off x="548640" y="4462272"/>
            <a:ext cx="4114800" cy="658368"/>
          </a:xfrm>
          <a:prstGeom prst="roundRect">
            <a:avLst>
              <a:gd name="adj" fmla="val 1666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pic>
        <p:nvPicPr>
          <p:cNvPr id="53" name="Image 9" descr="Cloud Build">    </p:cNvPr>
          <p:cNvPicPr>
            <a:picLocks noChangeAspect="1"/>
          </p:cNvPicPr>
          <p:nvPr/>
        </p:nvPicPr>
        <p:blipFill>
          <a:blip r:embed="rId10"/>
          <a:stretch>
            <a:fillRect/>
          </a:stretch>
        </p:blipFill>
        <p:spPr>
          <a:xfrm>
            <a:off x="713232" y="4617720"/>
            <a:ext cx="347472" cy="347472"/>
          </a:xfrm>
          <a:prstGeom prst="rect">
            <a:avLst/>
          </a:prstGeom>
        </p:spPr>
      </p:pic>
      <p:sp>
        <p:nvSpPr>
          <p:cNvPr id="54" name="Text 42"/>
          <p:cNvSpPr txBox="1"/>
          <p:nvPr/>
        </p:nvSpPr>
        <p:spPr>
          <a:xfrm>
            <a:off x="1207008" y="4553712"/>
            <a:ext cx="3291840" cy="274320"/>
          </a:xfrm>
          <a:prstGeom prst="rect">
            <a:avLst/>
          </a:prstGeom>
          <a:noFill/>
          <a:ln/>
        </p:spPr>
        <p:txBody>
          <a:bodyPr wrap="square" lIns="0" tIns="0" rIns="0" bIns="0" rtlCol="0" anchor="t"/>
          <a:lstStyle/>
          <a:p>
            <a:pPr indent="0" marL="0">
              <a:buNone/>
            </a:pPr>
            <a:r>
              <a:rPr lang="en-US" sz="1300" b="1" dirty="0">
                <a:solidFill>
                  <a:schemeClr val="tx1"/>
                </a:solidFill>
              </a:rPr>
              <a:t>Cloud Build</a:t>
            </a:r>
            <a:endParaRPr lang="en-US" sz="1300" dirty="0"/>
          </a:p>
        </p:txBody>
      </p:sp>
      <p:sp>
        <p:nvSpPr>
          <p:cNvPr id="55" name="Text 43"/>
          <p:cNvSpPr txBox="1"/>
          <p:nvPr/>
        </p:nvSpPr>
        <p:spPr>
          <a:xfrm>
            <a:off x="1207008" y="4809744"/>
            <a:ext cx="3291840" cy="256032"/>
          </a:xfrm>
          <a:prstGeom prst="rect">
            <a:avLst/>
          </a:prstGeom>
          <a:noFill/>
          <a:ln/>
        </p:spPr>
        <p:txBody>
          <a:bodyPr wrap="square" lIns="0" tIns="0" rIns="0" bIns="0" rtlCol="0" anchor="t"/>
          <a:lstStyle/>
          <a:p>
            <a:pPr indent="0" marL="0">
              <a:buNone/>
            </a:pPr>
            <a:r>
              <a:rPr lang="en-US" sz="1100" dirty="0">
                <a:solidFill>
                  <a:schemeClr val="tx2"/>
                </a:solidFill>
              </a:rPr>
              <a:t>builds the 4 images</a:t>
            </a:r>
            <a:endParaRPr lang="en-US" sz="1100" dirty="0"/>
          </a:p>
        </p:txBody>
      </p:sp>
      <p:sp>
        <p:nvSpPr>
          <p:cNvPr id="56" name="build-2"/>
          <p:cNvSpPr/>
          <p:nvPr/>
        </p:nvSpPr>
        <p:spPr>
          <a:xfrm>
            <a:off x="548640" y="5248656"/>
            <a:ext cx="4114800" cy="658368"/>
          </a:xfrm>
          <a:prstGeom prst="roundRect">
            <a:avLst>
              <a:gd name="adj" fmla="val 1666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pic>
        <p:nvPicPr>
          <p:cNvPr id="57" name="Image 10" descr="Artifact Registry">    </p:cNvPr>
          <p:cNvPicPr>
            <a:picLocks noChangeAspect="1"/>
          </p:cNvPicPr>
          <p:nvPr/>
        </p:nvPicPr>
        <p:blipFill>
          <a:blip r:embed="rId11"/>
          <a:stretch>
            <a:fillRect/>
          </a:stretch>
        </p:blipFill>
        <p:spPr>
          <a:xfrm>
            <a:off x="713232" y="5404104"/>
            <a:ext cx="347472" cy="347472"/>
          </a:xfrm>
          <a:prstGeom prst="rect">
            <a:avLst/>
          </a:prstGeom>
        </p:spPr>
      </p:pic>
      <p:sp>
        <p:nvSpPr>
          <p:cNvPr id="58" name="Text 45"/>
          <p:cNvSpPr txBox="1"/>
          <p:nvPr/>
        </p:nvSpPr>
        <p:spPr>
          <a:xfrm>
            <a:off x="1207008" y="5340096"/>
            <a:ext cx="3291840" cy="274320"/>
          </a:xfrm>
          <a:prstGeom prst="rect">
            <a:avLst/>
          </a:prstGeom>
          <a:noFill/>
          <a:ln/>
        </p:spPr>
        <p:txBody>
          <a:bodyPr wrap="square" lIns="0" tIns="0" rIns="0" bIns="0" rtlCol="0" anchor="t"/>
          <a:lstStyle/>
          <a:p>
            <a:pPr indent="0" marL="0">
              <a:buNone/>
            </a:pPr>
            <a:r>
              <a:rPr lang="en-US" sz="1300" b="1" dirty="0">
                <a:solidFill>
                  <a:schemeClr val="tx1"/>
                </a:solidFill>
              </a:rPr>
              <a:t>Artifact Registry</a:t>
            </a:r>
            <a:endParaRPr lang="en-US" sz="1300" dirty="0"/>
          </a:p>
        </p:txBody>
      </p:sp>
      <p:sp>
        <p:nvSpPr>
          <p:cNvPr id="59" name="Text 46"/>
          <p:cNvSpPr txBox="1"/>
          <p:nvPr/>
        </p:nvSpPr>
        <p:spPr>
          <a:xfrm>
            <a:off x="1207008" y="5596128"/>
            <a:ext cx="3291840" cy="256032"/>
          </a:xfrm>
          <a:prstGeom prst="rect">
            <a:avLst/>
          </a:prstGeom>
          <a:noFill/>
          <a:ln/>
        </p:spPr>
        <p:txBody>
          <a:bodyPr wrap="square" lIns="0" tIns="0" rIns="0" bIns="0" rtlCol="0" anchor="t"/>
          <a:lstStyle/>
          <a:p>
            <a:pPr indent="0" marL="0">
              <a:buNone/>
            </a:pPr>
            <a:r>
              <a:rPr lang="en-US" sz="1100" dirty="0">
                <a:solidFill>
                  <a:schemeClr val="tx2"/>
                </a:solidFill>
              </a:rPr>
              <a:t>VMs pull images at boot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TECHNOLOGY STACK</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Technologies and where they run</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926080"/>
                <a:gridCol w="8168335"/>
              </a:tblGrid>
              <a:tr h="429768">
                <a:tc>
                  <a:txBody>
                    <a:bodyPr/>
                    <a:lstStyle/>
                    <a:p>
                      <a:pPr indent="0" marL="0">
                        <a:buNone/>
                      </a:pPr>
                      <a:r>
                        <a:rPr lang="en-US" sz="1300" b="1" dirty="0">
                          <a:solidFill>
                            <a:schemeClr val="bg1"/>
                          </a:solidFill>
                        </a:rPr>
                        <a:t>Where</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Technologies</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tx1"/>
                          </a:solidFill>
                        </a:rPr>
                        <a:t>Frontend VMs</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React 18, Vite 5, nginx 1.27</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API Gateway VMs</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Python 3.11, FastAPI, Uvicorn, Pillow, bcrypt</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429768">
                <a:tc>
                  <a:txBody>
                    <a:bodyPr/>
                    <a:lstStyle/>
                    <a:p>
                      <a:pPr indent="0" marL="0">
                        <a:buNone/>
                      </a:pPr>
                      <a:r>
                        <a:rPr lang="en-US" sz="1300" b="1" dirty="0">
                          <a:solidFill>
                            <a:schemeClr val="tx1"/>
                          </a:solidFill>
                        </a:rPr>
                        <a:t>Worker VMs (Spot)</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Python 3.11, NumPy, OpenCV, SciPy</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Assembler VMs</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Python 3.11, OpenCV, NumPy</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429768">
                <a:tc>
                  <a:txBody>
                    <a:bodyPr/>
                    <a:lstStyle/>
                    <a:p>
                      <a:pPr indent="0" marL="0">
                        <a:buNone/>
                      </a:pPr>
                      <a:r>
                        <a:rPr lang="en-US" sz="1300" b="1" dirty="0">
                          <a:solidFill>
                            <a:schemeClr val="tx1"/>
                          </a:solidFill>
                        </a:rPr>
                        <a:t>Every VM</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Docker on Container-Optimized OS</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Storage</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Google Cloud Storage (MinIO locally)</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429768">
                <a:tc>
                  <a:txBody>
                    <a:bodyPr/>
                    <a:lstStyle/>
                    <a:p>
                      <a:pPr indent="0" marL="0">
                        <a:buNone/>
                      </a:pPr>
                      <a:r>
                        <a:rPr lang="en-US" sz="1300" b="1" dirty="0">
                          <a:solidFill>
                            <a:schemeClr val="tx1"/>
                          </a:solidFill>
                        </a:rPr>
                        <a:t>Network</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Cloud Load Balancing, VPC, Cloud NAT</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rPr>
                        <a:t>Build &amp; deploy</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300" dirty="0">
                          <a:solidFill>
                            <a:schemeClr val="tx1"/>
                          </a:solidFill>
                        </a:rPr>
                        <a:t>Cloud Build, Artifact Registry, Terraform</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429768">
                <a:tc>
                  <a:txBody>
                    <a:bodyPr/>
                    <a:lstStyle/>
                    <a:p>
                      <a:pPr indent="0" marL="0">
                        <a:buNone/>
                      </a:pPr>
                      <a:r>
                        <a:rPr lang="en-US" sz="1300" b="1" dirty="0">
                          <a:solidFill>
                            <a:schemeClr val="tx1"/>
                          </a:solidFill>
                        </a:rPr>
                        <a:t>Local &amp; testing</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Docker Compose, fake-gcs-server, unittest, Playwright</a:t>
                      </a:r>
                      <a:endParaRPr lang="en-US" sz="1300" dirty="0"/>
                    </a:p>
                  </a:txBody>
                  <a:tcPr marL="118872" marR="11887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4"/>
                </a:solidFill>
              </a:rPr>
              <a:t>3 · SECURITY BOUNDARIES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One way in, nothing else exposed</a:t>
            </a:r>
            <a:endParaRPr lang="en-US" sz="3400" dirty="0"/>
          </a:p>
        </p:txBody>
      </p:sp>
      <p:sp>
        <p:nvSpPr>
          <p:cNvPr id="4" name="boundary-0"/>
          <p:cNvSpPr/>
          <p:nvPr/>
        </p:nvSpPr>
        <p:spPr>
          <a:xfrm>
            <a:off x="548640" y="1737360"/>
            <a:ext cx="3520440" cy="2011680"/>
          </a:xfrm>
          <a:prstGeom prst="roundRect">
            <a:avLst>
              <a:gd name="adj" fmla="val 5455"/>
            </a:avLst>
          </a:prstGeom>
          <a:solidFill>
            <a:srgbClr val="151B2B"/>
          </a:solidFill>
          <a:ln w="12700">
            <a:solidFill>
              <a:srgbClr val="26304A"/>
            </a:solidFill>
            <a:prstDash val="solid"/>
          </a:ln>
        </p:spPr>
      </p:sp>
      <p:sp>
        <p:nvSpPr>
          <p:cNvPr id="5" name="badge-FaDoorOpen"/>
          <p:cNvSpPr/>
          <p:nvPr/>
        </p:nvSpPr>
        <p:spPr>
          <a:xfrm>
            <a:off x="804672" y="1993392"/>
            <a:ext cx="566928" cy="566928"/>
          </a:xfrm>
          <a:prstGeom prst="roundRect">
            <a:avLst>
              <a:gd name="adj" fmla="val 16129"/>
            </a:avLst>
          </a:prstGeom>
          <a:solidFill>
            <a:srgbClr val="1E293B"/>
          </a:solidFill>
          <a:ln/>
        </p:spPr>
      </p:sp>
      <p:pic>
        <p:nvPicPr>
          <p:cNvPr id="6" name="Image 0" descr="DoorOpen">    </p:cNvPr>
          <p:cNvPicPr>
            <a:picLocks noChangeAspect="1"/>
          </p:cNvPicPr>
          <p:nvPr/>
        </p:nvPicPr>
        <p:blipFill>
          <a:blip r:embed="rId1"/>
          <a:stretch>
            <a:fillRect/>
          </a:stretch>
        </p:blipFill>
        <p:spPr>
          <a:xfrm>
            <a:off x="940735" y="2129455"/>
            <a:ext cx="294803" cy="294803"/>
          </a:xfrm>
          <a:prstGeom prst="rect">
            <a:avLst/>
          </a:prstGeom>
        </p:spPr>
      </p:pic>
      <p:sp>
        <p:nvSpPr>
          <p:cNvPr id="7" name="Text 4"/>
          <p:cNvSpPr txBox="1"/>
          <p:nvPr/>
        </p:nvSpPr>
        <p:spPr>
          <a:xfrm>
            <a:off x="804672" y="2651760"/>
            <a:ext cx="3063240" cy="365760"/>
          </a:xfrm>
          <a:prstGeom prst="rect">
            <a:avLst/>
          </a:prstGeom>
          <a:noFill/>
          <a:ln/>
        </p:spPr>
        <p:txBody>
          <a:bodyPr wrap="square" lIns="0" tIns="0" rIns="0" bIns="0" rtlCol="0" anchor="t"/>
          <a:lstStyle/>
          <a:p>
            <a:pPr indent="0" marL="0">
              <a:buNone/>
            </a:pPr>
            <a:r>
              <a:rPr lang="en-US" sz="1700" b="1" dirty="0">
                <a:solidFill>
                  <a:schemeClr val="bg1"/>
                </a:solidFill>
              </a:rPr>
              <a:t>Single entry point</a:t>
            </a:r>
            <a:endParaRPr lang="en-US" sz="1700" dirty="0"/>
          </a:p>
        </p:txBody>
      </p:sp>
      <p:sp>
        <p:nvSpPr>
          <p:cNvPr id="8" name="Text 5"/>
          <p:cNvSpPr txBox="1"/>
          <p:nvPr/>
        </p:nvSpPr>
        <p:spPr>
          <a:xfrm>
            <a:off x="804672" y="303580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The external load balancer forwards only to the frontend. No VM has a public IP address.</a:t>
            </a:r>
            <a:endParaRPr lang="en-US" sz="1300" dirty="0"/>
          </a:p>
        </p:txBody>
      </p:sp>
      <p:sp>
        <p:nvSpPr>
          <p:cNvPr id="9" name="boundary-1"/>
          <p:cNvSpPr/>
          <p:nvPr/>
        </p:nvSpPr>
        <p:spPr>
          <a:xfrm>
            <a:off x="4297680" y="1737360"/>
            <a:ext cx="3520440" cy="2011680"/>
          </a:xfrm>
          <a:prstGeom prst="roundRect">
            <a:avLst>
              <a:gd name="adj" fmla="val 5455"/>
            </a:avLst>
          </a:prstGeom>
          <a:solidFill>
            <a:srgbClr val="151B2B"/>
          </a:solidFill>
          <a:ln w="12700">
            <a:solidFill>
              <a:srgbClr val="26304A"/>
            </a:solidFill>
            <a:prstDash val="solid"/>
          </a:ln>
        </p:spPr>
      </p:sp>
      <p:sp>
        <p:nvSpPr>
          <p:cNvPr id="10" name="badge-FaShieldHalved"/>
          <p:cNvSpPr/>
          <p:nvPr/>
        </p:nvSpPr>
        <p:spPr>
          <a:xfrm>
            <a:off x="4553712" y="1993392"/>
            <a:ext cx="566928" cy="566928"/>
          </a:xfrm>
          <a:prstGeom prst="roundRect">
            <a:avLst>
              <a:gd name="adj" fmla="val 16129"/>
            </a:avLst>
          </a:prstGeom>
          <a:solidFill>
            <a:srgbClr val="1E293B"/>
          </a:solidFill>
          <a:ln/>
        </p:spPr>
      </p:sp>
      <p:pic>
        <p:nvPicPr>
          <p:cNvPr id="11" name="Image 1" descr="ShieldHalved">    </p:cNvPr>
          <p:cNvPicPr>
            <a:picLocks noChangeAspect="1"/>
          </p:cNvPicPr>
          <p:nvPr/>
        </p:nvPicPr>
        <p:blipFill>
          <a:blip r:embed="rId2"/>
          <a:stretch>
            <a:fillRect/>
          </a:stretch>
        </p:blipFill>
        <p:spPr>
          <a:xfrm>
            <a:off x="4689775" y="2129455"/>
            <a:ext cx="294803" cy="294803"/>
          </a:xfrm>
          <a:prstGeom prst="rect">
            <a:avLst/>
          </a:prstGeom>
        </p:spPr>
      </p:pic>
      <p:sp>
        <p:nvSpPr>
          <p:cNvPr id="12" name="Text 8"/>
          <p:cNvSpPr txBox="1"/>
          <p:nvPr/>
        </p:nvSpPr>
        <p:spPr>
          <a:xfrm>
            <a:off x="4553712" y="2651760"/>
            <a:ext cx="3063240" cy="365760"/>
          </a:xfrm>
          <a:prstGeom prst="rect">
            <a:avLst/>
          </a:prstGeom>
          <a:noFill/>
          <a:ln/>
        </p:spPr>
        <p:txBody>
          <a:bodyPr wrap="square" lIns="0" tIns="0" rIns="0" bIns="0" rtlCol="0" anchor="t"/>
          <a:lstStyle/>
          <a:p>
            <a:pPr indent="0" marL="0">
              <a:buNone/>
            </a:pPr>
            <a:r>
              <a:rPr lang="en-US" sz="1700" b="1" dirty="0">
                <a:solidFill>
                  <a:schemeClr val="bg1"/>
                </a:solidFill>
              </a:rPr>
              <a:t>One API Gateway</a:t>
            </a:r>
            <a:endParaRPr lang="en-US" sz="1700" dirty="0"/>
          </a:p>
        </p:txBody>
      </p:sp>
      <p:sp>
        <p:nvSpPr>
          <p:cNvPr id="13" name="Text 9"/>
          <p:cNvSpPr txBox="1"/>
          <p:nvPr/>
        </p:nvSpPr>
        <p:spPr>
          <a:xfrm>
            <a:off x="4553712" y="303580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Firewall rules let only frontend VMs reach the gateway; every data request passes through it.</a:t>
            </a:r>
            <a:endParaRPr lang="en-US" sz="1300" dirty="0"/>
          </a:p>
        </p:txBody>
      </p:sp>
      <p:sp>
        <p:nvSpPr>
          <p:cNvPr id="14" name="boundary-2"/>
          <p:cNvSpPr/>
          <p:nvPr/>
        </p:nvSpPr>
        <p:spPr>
          <a:xfrm>
            <a:off x="8046720" y="1737360"/>
            <a:ext cx="3520440" cy="2011680"/>
          </a:xfrm>
          <a:prstGeom prst="roundRect">
            <a:avLst>
              <a:gd name="adj" fmla="val 5455"/>
            </a:avLst>
          </a:prstGeom>
          <a:solidFill>
            <a:srgbClr val="151B2B"/>
          </a:solidFill>
          <a:ln w="12700">
            <a:solidFill>
              <a:srgbClr val="26304A"/>
            </a:solidFill>
            <a:prstDash val="solid"/>
          </a:ln>
        </p:spPr>
      </p:sp>
      <p:sp>
        <p:nvSpPr>
          <p:cNvPr id="15" name="badge-FaLock"/>
          <p:cNvSpPr/>
          <p:nvPr/>
        </p:nvSpPr>
        <p:spPr>
          <a:xfrm>
            <a:off x="8302752" y="1993392"/>
            <a:ext cx="566928" cy="566928"/>
          </a:xfrm>
          <a:prstGeom prst="roundRect">
            <a:avLst>
              <a:gd name="adj" fmla="val 16129"/>
            </a:avLst>
          </a:prstGeom>
          <a:solidFill>
            <a:srgbClr val="1E293B"/>
          </a:solidFill>
          <a:ln/>
        </p:spPr>
      </p:sp>
      <p:pic>
        <p:nvPicPr>
          <p:cNvPr id="16" name="Image 2" descr="Lock">    </p:cNvPr>
          <p:cNvPicPr>
            <a:picLocks noChangeAspect="1"/>
          </p:cNvPicPr>
          <p:nvPr/>
        </p:nvPicPr>
        <p:blipFill>
          <a:blip r:embed="rId3"/>
          <a:stretch>
            <a:fillRect/>
          </a:stretch>
        </p:blipFill>
        <p:spPr>
          <a:xfrm>
            <a:off x="8438815" y="2129455"/>
            <a:ext cx="294803" cy="294803"/>
          </a:xfrm>
          <a:prstGeom prst="rect">
            <a:avLst/>
          </a:prstGeom>
        </p:spPr>
      </p:pic>
      <p:sp>
        <p:nvSpPr>
          <p:cNvPr id="17" name="Text 12"/>
          <p:cNvSpPr txBox="1"/>
          <p:nvPr/>
        </p:nvSpPr>
        <p:spPr>
          <a:xfrm>
            <a:off x="8302752" y="2651760"/>
            <a:ext cx="3063240" cy="365760"/>
          </a:xfrm>
          <a:prstGeom prst="rect">
            <a:avLst/>
          </a:prstGeom>
          <a:noFill/>
          <a:ln/>
        </p:spPr>
        <p:txBody>
          <a:bodyPr wrap="square" lIns="0" tIns="0" rIns="0" bIns="0" rtlCol="0" anchor="t"/>
          <a:lstStyle/>
          <a:p>
            <a:pPr indent="0" marL="0">
              <a:buNone/>
            </a:pPr>
            <a:r>
              <a:rPr lang="en-US" sz="1700" b="1" dirty="0">
                <a:solidFill>
                  <a:schemeClr val="bg1"/>
                </a:solidFill>
              </a:rPr>
              <a:t>Private buckets</a:t>
            </a:r>
            <a:endParaRPr lang="en-US" sz="1700" dirty="0"/>
          </a:p>
        </p:txBody>
      </p:sp>
      <p:sp>
        <p:nvSpPr>
          <p:cNvPr id="18" name="Text 13"/>
          <p:cNvSpPr txBox="1"/>
          <p:nvPr/>
        </p:nvSpPr>
        <p:spPr>
          <a:xfrm>
            <a:off x="8302752" y="303580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Public access prevention is enforced; browsers never contact storage directly.</a:t>
            </a:r>
            <a:endParaRPr lang="en-US" sz="1300" dirty="0"/>
          </a:p>
        </p:txBody>
      </p:sp>
      <p:sp>
        <p:nvSpPr>
          <p:cNvPr id="19" name="boundary-3"/>
          <p:cNvSpPr/>
          <p:nvPr/>
        </p:nvSpPr>
        <p:spPr>
          <a:xfrm>
            <a:off x="548640" y="3977640"/>
            <a:ext cx="3520440" cy="2011680"/>
          </a:xfrm>
          <a:prstGeom prst="roundRect">
            <a:avLst>
              <a:gd name="adj" fmla="val 5455"/>
            </a:avLst>
          </a:prstGeom>
          <a:solidFill>
            <a:srgbClr val="151B2B"/>
          </a:solidFill>
          <a:ln w="12700">
            <a:solidFill>
              <a:srgbClr val="26304A"/>
            </a:solidFill>
            <a:prstDash val="solid"/>
          </a:ln>
        </p:spPr>
      </p:sp>
      <p:sp>
        <p:nvSpPr>
          <p:cNvPr id="20" name="badge-FaFileShield"/>
          <p:cNvSpPr/>
          <p:nvPr/>
        </p:nvSpPr>
        <p:spPr>
          <a:xfrm>
            <a:off x="804672" y="4233672"/>
            <a:ext cx="566928" cy="566928"/>
          </a:xfrm>
          <a:prstGeom prst="roundRect">
            <a:avLst>
              <a:gd name="adj" fmla="val 16129"/>
            </a:avLst>
          </a:prstGeom>
          <a:solidFill>
            <a:srgbClr val="1E293B"/>
          </a:solidFill>
          <a:ln/>
        </p:spPr>
      </p:sp>
      <p:pic>
        <p:nvPicPr>
          <p:cNvPr id="21" name="Image 3" descr="FileShield">    </p:cNvPr>
          <p:cNvPicPr>
            <a:picLocks noChangeAspect="1"/>
          </p:cNvPicPr>
          <p:nvPr/>
        </p:nvPicPr>
        <p:blipFill>
          <a:blip r:embed="rId4"/>
          <a:stretch>
            <a:fillRect/>
          </a:stretch>
        </p:blipFill>
        <p:spPr>
          <a:xfrm>
            <a:off x="940735" y="4369735"/>
            <a:ext cx="294803" cy="294803"/>
          </a:xfrm>
          <a:prstGeom prst="rect">
            <a:avLst/>
          </a:prstGeom>
        </p:spPr>
      </p:pic>
      <p:sp>
        <p:nvSpPr>
          <p:cNvPr id="22" name="Text 16"/>
          <p:cNvSpPr txBox="1"/>
          <p:nvPr/>
        </p:nvSpPr>
        <p:spPr>
          <a:xfrm>
            <a:off x="804672" y="4892040"/>
            <a:ext cx="3063240" cy="365760"/>
          </a:xfrm>
          <a:prstGeom prst="rect">
            <a:avLst/>
          </a:prstGeom>
          <a:noFill/>
          <a:ln/>
        </p:spPr>
        <p:txBody>
          <a:bodyPr wrap="square" lIns="0" tIns="0" rIns="0" bIns="0" rtlCol="0" anchor="t"/>
          <a:lstStyle/>
          <a:p>
            <a:pPr indent="0" marL="0">
              <a:buNone/>
            </a:pPr>
            <a:r>
              <a:rPr lang="en-US" sz="1700" b="1" dirty="0">
                <a:solidFill>
                  <a:schemeClr val="bg1"/>
                </a:solidFill>
              </a:rPr>
              <a:t>Checked uploads</a:t>
            </a:r>
            <a:endParaRPr lang="en-US" sz="1700" dirty="0"/>
          </a:p>
        </p:txBody>
      </p:sp>
      <p:sp>
        <p:nvSpPr>
          <p:cNvPr id="23" name="Text 17"/>
          <p:cNvSpPr txBox="1"/>
          <p:nvPr/>
        </p:nvSpPr>
        <p:spPr>
          <a:xfrm>
            <a:off x="804672" y="527608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Each upload gets a single-use, expiring ticket; size and file type are verified before storage.</a:t>
            </a:r>
            <a:endParaRPr lang="en-US" sz="1300" dirty="0"/>
          </a:p>
        </p:txBody>
      </p:sp>
      <p:sp>
        <p:nvSpPr>
          <p:cNvPr id="24" name="boundary-4"/>
          <p:cNvSpPr/>
          <p:nvPr/>
        </p:nvSpPr>
        <p:spPr>
          <a:xfrm>
            <a:off x="4297680" y="3977640"/>
            <a:ext cx="3520440" cy="2011680"/>
          </a:xfrm>
          <a:prstGeom prst="roundRect">
            <a:avLst>
              <a:gd name="adj" fmla="val 5455"/>
            </a:avLst>
          </a:prstGeom>
          <a:solidFill>
            <a:srgbClr val="151B2B"/>
          </a:solidFill>
          <a:ln w="12700">
            <a:solidFill>
              <a:srgbClr val="26304A"/>
            </a:solidFill>
            <a:prstDash val="solid"/>
          </a:ln>
        </p:spPr>
      </p:sp>
      <p:sp>
        <p:nvSpPr>
          <p:cNvPr id="25" name="badge-FaIdBadge"/>
          <p:cNvSpPr/>
          <p:nvPr/>
        </p:nvSpPr>
        <p:spPr>
          <a:xfrm>
            <a:off x="4553712" y="4233672"/>
            <a:ext cx="566928" cy="566928"/>
          </a:xfrm>
          <a:prstGeom prst="roundRect">
            <a:avLst>
              <a:gd name="adj" fmla="val 16129"/>
            </a:avLst>
          </a:prstGeom>
          <a:solidFill>
            <a:srgbClr val="1E293B"/>
          </a:solidFill>
          <a:ln/>
        </p:spPr>
      </p:sp>
      <p:pic>
        <p:nvPicPr>
          <p:cNvPr id="26" name="Image 4" descr="IdBadge">    </p:cNvPr>
          <p:cNvPicPr>
            <a:picLocks noChangeAspect="1"/>
          </p:cNvPicPr>
          <p:nvPr/>
        </p:nvPicPr>
        <p:blipFill>
          <a:blip r:embed="rId5"/>
          <a:stretch>
            <a:fillRect/>
          </a:stretch>
        </p:blipFill>
        <p:spPr>
          <a:xfrm>
            <a:off x="4689775" y="4369735"/>
            <a:ext cx="294803" cy="294803"/>
          </a:xfrm>
          <a:prstGeom prst="rect">
            <a:avLst/>
          </a:prstGeom>
        </p:spPr>
      </p:pic>
      <p:sp>
        <p:nvSpPr>
          <p:cNvPr id="27" name="Text 20"/>
          <p:cNvSpPr txBox="1"/>
          <p:nvPr/>
        </p:nvSpPr>
        <p:spPr>
          <a:xfrm>
            <a:off x="4553712" y="4892040"/>
            <a:ext cx="3063240" cy="365760"/>
          </a:xfrm>
          <a:prstGeom prst="rect">
            <a:avLst/>
          </a:prstGeom>
          <a:noFill/>
          <a:ln/>
        </p:spPr>
        <p:txBody>
          <a:bodyPr wrap="square" lIns="0" tIns="0" rIns="0" bIns="0" rtlCol="0" anchor="t"/>
          <a:lstStyle/>
          <a:p>
            <a:pPr indent="0" marL="0">
              <a:buNone/>
            </a:pPr>
            <a:r>
              <a:rPr lang="en-US" sz="1700" b="1" dirty="0">
                <a:solidFill>
                  <a:schemeClr val="bg1"/>
                </a:solidFill>
              </a:rPr>
              <a:t>Least-privilege identities</a:t>
            </a:r>
            <a:endParaRPr lang="en-US" sz="1700" dirty="0"/>
          </a:p>
        </p:txBody>
      </p:sp>
      <p:sp>
        <p:nvSpPr>
          <p:cNvPr id="28" name="Text 21"/>
          <p:cNvSpPr txBox="1"/>
          <p:nvPr/>
        </p:nvSpPr>
        <p:spPr>
          <a:xfrm>
            <a:off x="4553712" y="527608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One service account per microservice, holding only the bucket roles it needs.</a:t>
            </a:r>
            <a:endParaRPr lang="en-US" sz="1300" dirty="0"/>
          </a:p>
        </p:txBody>
      </p:sp>
      <p:sp>
        <p:nvSpPr>
          <p:cNvPr id="29" name="boundary-5"/>
          <p:cNvSpPr/>
          <p:nvPr/>
        </p:nvSpPr>
        <p:spPr>
          <a:xfrm>
            <a:off x="8046720" y="3977640"/>
            <a:ext cx="3520440" cy="2011680"/>
          </a:xfrm>
          <a:prstGeom prst="roundRect">
            <a:avLst>
              <a:gd name="adj" fmla="val 5455"/>
            </a:avLst>
          </a:prstGeom>
          <a:solidFill>
            <a:srgbClr val="151B2B"/>
          </a:solidFill>
          <a:ln w="12700">
            <a:solidFill>
              <a:srgbClr val="26304A"/>
            </a:solidFill>
            <a:prstDash val="solid"/>
          </a:ln>
        </p:spPr>
      </p:sp>
      <p:sp>
        <p:nvSpPr>
          <p:cNvPr id="30" name="badge-FaUserLock"/>
          <p:cNvSpPr/>
          <p:nvPr/>
        </p:nvSpPr>
        <p:spPr>
          <a:xfrm>
            <a:off x="8302752" y="4233672"/>
            <a:ext cx="566928" cy="566928"/>
          </a:xfrm>
          <a:prstGeom prst="roundRect">
            <a:avLst>
              <a:gd name="adj" fmla="val 16129"/>
            </a:avLst>
          </a:prstGeom>
          <a:solidFill>
            <a:srgbClr val="1E293B"/>
          </a:solidFill>
          <a:ln/>
        </p:spPr>
      </p:sp>
      <p:pic>
        <p:nvPicPr>
          <p:cNvPr id="31" name="Image 5" descr="UserLock">    </p:cNvPr>
          <p:cNvPicPr>
            <a:picLocks noChangeAspect="1"/>
          </p:cNvPicPr>
          <p:nvPr/>
        </p:nvPicPr>
        <p:blipFill>
          <a:blip r:embed="rId6"/>
          <a:stretch>
            <a:fillRect/>
          </a:stretch>
        </p:blipFill>
        <p:spPr>
          <a:xfrm>
            <a:off x="8438815" y="4369735"/>
            <a:ext cx="294803" cy="294803"/>
          </a:xfrm>
          <a:prstGeom prst="rect">
            <a:avLst/>
          </a:prstGeom>
        </p:spPr>
      </p:pic>
      <p:sp>
        <p:nvSpPr>
          <p:cNvPr id="32" name="Text 24"/>
          <p:cNvSpPr txBox="1"/>
          <p:nvPr/>
        </p:nvSpPr>
        <p:spPr>
          <a:xfrm>
            <a:off x="8302752" y="4892040"/>
            <a:ext cx="3063240" cy="365760"/>
          </a:xfrm>
          <a:prstGeom prst="rect">
            <a:avLst/>
          </a:prstGeom>
          <a:noFill/>
          <a:ln/>
        </p:spPr>
        <p:txBody>
          <a:bodyPr wrap="square" lIns="0" tIns="0" rIns="0" bIns="0" rtlCol="0" anchor="t"/>
          <a:lstStyle/>
          <a:p>
            <a:pPr indent="0" marL="0">
              <a:buNone/>
            </a:pPr>
            <a:r>
              <a:rPr lang="en-US" sz="1700" b="1" dirty="0">
                <a:solidFill>
                  <a:schemeClr val="bg1"/>
                </a:solidFill>
              </a:rPr>
              <a:t>Accounts &amp; private vaults</a:t>
            </a:r>
            <a:endParaRPr lang="en-US" sz="1700" dirty="0"/>
          </a:p>
        </p:txBody>
      </p:sp>
      <p:sp>
        <p:nvSpPr>
          <p:cNvPr id="33" name="Text 25"/>
          <p:cNvSpPr txBox="1"/>
          <p:nvPr/>
        </p:nvSpPr>
        <p:spPr>
          <a:xfrm>
            <a:off x="8302752" y="5276088"/>
            <a:ext cx="3063240" cy="658368"/>
          </a:xfrm>
          <a:prstGeom prst="rect">
            <a:avLst/>
          </a:prstGeom>
          <a:noFill/>
          <a:ln/>
        </p:spPr>
        <p:txBody>
          <a:bodyPr wrap="square" lIns="0" tIns="0" rIns="0" bIns="0" rtlCol="0" anchor="t"/>
          <a:lstStyle/>
          <a:p>
            <a:pPr indent="0" marL="0">
              <a:buNone/>
            </a:pPr>
            <a:r>
              <a:rPr lang="en-US" sz="1300" dirty="0">
                <a:solidFill>
                  <a:schemeClr val="accent6"/>
                </a:solidFill>
              </a:rPr>
              <a:t>bcrypt passwords and signed HttpOnly cookies; account and guest vaults are readable only by their owner.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GOOGLE CLOUD SERVICES · 1 OF 2</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Compute and autoscaling</a:t>
            </a:r>
            <a:endParaRPr lang="en-US" sz="3400" dirty="0"/>
          </a:p>
        </p:txBody>
      </p:sp>
      <p:sp>
        <p:nvSpPr>
          <p:cNvPr id="4" name="service-0"/>
          <p:cNvSpPr/>
          <p:nvPr/>
        </p:nvSpPr>
        <p:spPr>
          <a:xfrm>
            <a:off x="548640"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5" name="badge-FaServer"/>
          <p:cNvSpPr/>
          <p:nvPr/>
        </p:nvSpPr>
        <p:spPr>
          <a:xfrm>
            <a:off x="777240" y="1920240"/>
            <a:ext cx="530352" cy="530352"/>
          </a:xfrm>
          <a:prstGeom prst="roundRect">
            <a:avLst>
              <a:gd name="adj" fmla="val 17241"/>
            </a:avLst>
          </a:prstGeom>
          <a:solidFill>
            <a:srgbClr val="CFFAFE"/>
          </a:solidFill>
          <a:ln/>
        </p:spPr>
      </p:sp>
      <p:pic>
        <p:nvPicPr>
          <p:cNvPr id="6" name="Image 0" descr="Server">    </p:cNvPr>
          <p:cNvPicPr>
            <a:picLocks noChangeAspect="1"/>
          </p:cNvPicPr>
          <p:nvPr/>
        </p:nvPicPr>
        <p:blipFill>
          <a:blip r:embed="rId1"/>
          <a:stretch>
            <a:fillRect/>
          </a:stretch>
        </p:blipFill>
        <p:spPr>
          <a:xfrm>
            <a:off x="904524" y="2047524"/>
            <a:ext cx="275783" cy="275783"/>
          </a:xfrm>
          <a:prstGeom prst="rect">
            <a:avLst/>
          </a:prstGeom>
        </p:spPr>
      </p:pic>
      <p:sp>
        <p:nvSpPr>
          <p:cNvPr id="7" name="Text 4"/>
          <p:cNvSpPr txBox="1"/>
          <p:nvPr/>
        </p:nvSpPr>
        <p:spPr>
          <a:xfrm>
            <a:off x="777240"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Compute Engine</a:t>
            </a:r>
            <a:endParaRPr lang="en-US" sz="1500" dirty="0"/>
          </a:p>
        </p:txBody>
      </p:sp>
      <p:sp>
        <p:nvSpPr>
          <p:cNvPr id="8" name="Text 5"/>
          <p:cNvSpPr txBox="1"/>
          <p:nvPr/>
        </p:nvSpPr>
        <p:spPr>
          <a:xfrm>
            <a:off x="777240"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Every microservice runs on its own VMs, on Container-Optimized OS</a:t>
            </a:r>
            <a:endParaRPr lang="en-US" sz="1200" dirty="0"/>
          </a:p>
        </p:txBody>
      </p:sp>
      <p:sp>
        <p:nvSpPr>
          <p:cNvPr id="9" name="service-1"/>
          <p:cNvSpPr/>
          <p:nvPr/>
        </p:nvSpPr>
        <p:spPr>
          <a:xfrm>
            <a:off x="3390824"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0" name="badge-FaClone"/>
          <p:cNvSpPr/>
          <p:nvPr/>
        </p:nvSpPr>
        <p:spPr>
          <a:xfrm>
            <a:off x="3619424" y="1920240"/>
            <a:ext cx="530352" cy="530352"/>
          </a:xfrm>
          <a:prstGeom prst="roundRect">
            <a:avLst>
              <a:gd name="adj" fmla="val 17241"/>
            </a:avLst>
          </a:prstGeom>
          <a:solidFill>
            <a:srgbClr val="CFFAFE"/>
          </a:solidFill>
          <a:ln/>
        </p:spPr>
      </p:sp>
      <p:pic>
        <p:nvPicPr>
          <p:cNvPr id="11" name="Image 1" descr="Clone">    </p:cNvPr>
          <p:cNvPicPr>
            <a:picLocks noChangeAspect="1"/>
          </p:cNvPicPr>
          <p:nvPr/>
        </p:nvPicPr>
        <p:blipFill>
          <a:blip r:embed="rId2"/>
          <a:stretch>
            <a:fillRect/>
          </a:stretch>
        </p:blipFill>
        <p:spPr>
          <a:xfrm>
            <a:off x="3746708" y="2047524"/>
            <a:ext cx="275783" cy="275783"/>
          </a:xfrm>
          <a:prstGeom prst="rect">
            <a:avLst/>
          </a:prstGeom>
        </p:spPr>
      </p:pic>
      <p:sp>
        <p:nvSpPr>
          <p:cNvPr id="12" name="Text 8"/>
          <p:cNvSpPr txBox="1"/>
          <p:nvPr/>
        </p:nvSpPr>
        <p:spPr>
          <a:xfrm>
            <a:off x="3619424"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Instance templates</a:t>
            </a:r>
            <a:endParaRPr lang="en-US" sz="1500" dirty="0"/>
          </a:p>
        </p:txBody>
      </p:sp>
      <p:sp>
        <p:nvSpPr>
          <p:cNvPr id="13" name="Text 9"/>
          <p:cNvSpPr txBox="1"/>
          <p:nvPr/>
        </p:nvSpPr>
        <p:spPr>
          <a:xfrm>
            <a:off x="3619424"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One per service: machine type, image, start-up script, identity</a:t>
            </a:r>
            <a:endParaRPr lang="en-US" sz="1200" dirty="0"/>
          </a:p>
        </p:txBody>
      </p:sp>
      <p:sp>
        <p:nvSpPr>
          <p:cNvPr id="14" name="service-2"/>
          <p:cNvSpPr/>
          <p:nvPr/>
        </p:nvSpPr>
        <p:spPr>
          <a:xfrm>
            <a:off x="6233008"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5" name="badge-FaLayerGroup"/>
          <p:cNvSpPr/>
          <p:nvPr/>
        </p:nvSpPr>
        <p:spPr>
          <a:xfrm>
            <a:off x="6461608" y="1920240"/>
            <a:ext cx="530352" cy="530352"/>
          </a:xfrm>
          <a:prstGeom prst="roundRect">
            <a:avLst>
              <a:gd name="adj" fmla="val 17241"/>
            </a:avLst>
          </a:prstGeom>
          <a:solidFill>
            <a:srgbClr val="CFFAFE"/>
          </a:solidFill>
          <a:ln/>
        </p:spPr>
      </p:sp>
      <p:pic>
        <p:nvPicPr>
          <p:cNvPr id="16" name="Image 2" descr="LayerGroup">    </p:cNvPr>
          <p:cNvPicPr>
            <a:picLocks noChangeAspect="1"/>
          </p:cNvPicPr>
          <p:nvPr/>
        </p:nvPicPr>
        <p:blipFill>
          <a:blip r:embed="rId3"/>
          <a:stretch>
            <a:fillRect/>
          </a:stretch>
        </p:blipFill>
        <p:spPr>
          <a:xfrm>
            <a:off x="6588892" y="2047524"/>
            <a:ext cx="275783" cy="275783"/>
          </a:xfrm>
          <a:prstGeom prst="rect">
            <a:avLst/>
          </a:prstGeom>
        </p:spPr>
      </p:pic>
      <p:sp>
        <p:nvSpPr>
          <p:cNvPr id="17" name="Text 12"/>
          <p:cNvSpPr txBox="1"/>
          <p:nvPr/>
        </p:nvSpPr>
        <p:spPr>
          <a:xfrm>
            <a:off x="6461608"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Managed Instance Groups</a:t>
            </a:r>
            <a:endParaRPr lang="en-US" sz="1500" dirty="0"/>
          </a:p>
        </p:txBody>
      </p:sp>
      <p:sp>
        <p:nvSpPr>
          <p:cNvPr id="18" name="Text 13"/>
          <p:cNvSpPr txBox="1"/>
          <p:nvPr/>
        </p:nvSpPr>
        <p:spPr>
          <a:xfrm>
            <a:off x="6461608"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Regional groups spread VMs across zones in asia-south1</a:t>
            </a:r>
            <a:endParaRPr lang="en-US" sz="1200" dirty="0"/>
          </a:p>
        </p:txBody>
      </p:sp>
      <p:sp>
        <p:nvSpPr>
          <p:cNvPr id="19" name="service-3"/>
          <p:cNvSpPr/>
          <p:nvPr/>
        </p:nvSpPr>
        <p:spPr>
          <a:xfrm>
            <a:off x="9075191"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0" name="badge-FaArrowsUpDown"/>
          <p:cNvSpPr/>
          <p:nvPr/>
        </p:nvSpPr>
        <p:spPr>
          <a:xfrm>
            <a:off x="9303791" y="1920240"/>
            <a:ext cx="530352" cy="530352"/>
          </a:xfrm>
          <a:prstGeom prst="roundRect">
            <a:avLst>
              <a:gd name="adj" fmla="val 17241"/>
            </a:avLst>
          </a:prstGeom>
          <a:solidFill>
            <a:srgbClr val="CFFAFE"/>
          </a:solidFill>
          <a:ln/>
        </p:spPr>
      </p:sp>
      <p:pic>
        <p:nvPicPr>
          <p:cNvPr id="21" name="Image 3" descr="ArrowsUpDown">    </p:cNvPr>
          <p:cNvPicPr>
            <a:picLocks noChangeAspect="1"/>
          </p:cNvPicPr>
          <p:nvPr/>
        </p:nvPicPr>
        <p:blipFill>
          <a:blip r:embed="rId4"/>
          <a:stretch>
            <a:fillRect/>
          </a:stretch>
        </p:blipFill>
        <p:spPr>
          <a:xfrm>
            <a:off x="9431076" y="2047524"/>
            <a:ext cx="275783" cy="275783"/>
          </a:xfrm>
          <a:prstGeom prst="rect">
            <a:avLst/>
          </a:prstGeom>
        </p:spPr>
      </p:pic>
      <p:sp>
        <p:nvSpPr>
          <p:cNvPr id="22" name="Text 16"/>
          <p:cNvSpPr txBox="1"/>
          <p:nvPr/>
        </p:nvSpPr>
        <p:spPr>
          <a:xfrm>
            <a:off x="9303791"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Autoscaler</a:t>
            </a:r>
            <a:endParaRPr lang="en-US" sz="1500" dirty="0"/>
          </a:p>
        </p:txBody>
      </p:sp>
      <p:sp>
        <p:nvSpPr>
          <p:cNvPr id="23" name="Text 17"/>
          <p:cNvSpPr txBox="1"/>
          <p:nvPr/>
        </p:nvSpPr>
        <p:spPr>
          <a:xfrm>
            <a:off x="9303791"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Every group scales between 1 and 7 VMs on CPU utilisation</a:t>
            </a:r>
            <a:endParaRPr lang="en-US" sz="1200" dirty="0"/>
          </a:p>
        </p:txBody>
      </p:sp>
      <p:sp>
        <p:nvSpPr>
          <p:cNvPr id="24" name="service-4"/>
          <p:cNvSpPr/>
          <p:nvPr/>
        </p:nvSpPr>
        <p:spPr>
          <a:xfrm>
            <a:off x="548640"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5" name="badge-FaBolt"/>
          <p:cNvSpPr/>
          <p:nvPr/>
        </p:nvSpPr>
        <p:spPr>
          <a:xfrm>
            <a:off x="777240" y="4315968"/>
            <a:ext cx="530352" cy="530352"/>
          </a:xfrm>
          <a:prstGeom prst="roundRect">
            <a:avLst>
              <a:gd name="adj" fmla="val 17241"/>
            </a:avLst>
          </a:prstGeom>
          <a:solidFill>
            <a:srgbClr val="CFFAFE"/>
          </a:solidFill>
          <a:ln/>
        </p:spPr>
      </p:sp>
      <p:pic>
        <p:nvPicPr>
          <p:cNvPr id="26" name="Image 4" descr="Bolt">    </p:cNvPr>
          <p:cNvPicPr>
            <a:picLocks noChangeAspect="1"/>
          </p:cNvPicPr>
          <p:nvPr/>
        </p:nvPicPr>
        <p:blipFill>
          <a:blip r:embed="rId5"/>
          <a:stretch>
            <a:fillRect/>
          </a:stretch>
        </p:blipFill>
        <p:spPr>
          <a:xfrm>
            <a:off x="904524" y="4443252"/>
            <a:ext cx="275783" cy="275783"/>
          </a:xfrm>
          <a:prstGeom prst="rect">
            <a:avLst/>
          </a:prstGeom>
        </p:spPr>
      </p:pic>
      <p:sp>
        <p:nvSpPr>
          <p:cNvPr id="27" name="Text 20"/>
          <p:cNvSpPr txBox="1"/>
          <p:nvPr/>
        </p:nvSpPr>
        <p:spPr>
          <a:xfrm>
            <a:off x="777240"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Spot VMs</a:t>
            </a:r>
            <a:endParaRPr lang="en-US" sz="1500" dirty="0"/>
          </a:p>
        </p:txBody>
      </p:sp>
      <p:sp>
        <p:nvSpPr>
          <p:cNvPr id="28" name="Text 21"/>
          <p:cNvSpPr txBox="1"/>
          <p:nvPr/>
        </p:nvSpPr>
        <p:spPr>
          <a:xfrm>
            <a:off x="777240"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Workers run on discounted Spot capacity; lock leases recover preempted work</a:t>
            </a:r>
            <a:endParaRPr lang="en-US" sz="1200" dirty="0"/>
          </a:p>
        </p:txBody>
      </p:sp>
      <p:sp>
        <p:nvSpPr>
          <p:cNvPr id="29" name="service-5"/>
          <p:cNvSpPr/>
          <p:nvPr/>
        </p:nvSpPr>
        <p:spPr>
          <a:xfrm>
            <a:off x="3390824"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30" name="badge-FaHeartPulse"/>
          <p:cNvSpPr/>
          <p:nvPr/>
        </p:nvSpPr>
        <p:spPr>
          <a:xfrm>
            <a:off x="3619424" y="4315968"/>
            <a:ext cx="530352" cy="530352"/>
          </a:xfrm>
          <a:prstGeom prst="roundRect">
            <a:avLst>
              <a:gd name="adj" fmla="val 17241"/>
            </a:avLst>
          </a:prstGeom>
          <a:solidFill>
            <a:srgbClr val="CFFAFE"/>
          </a:solidFill>
          <a:ln/>
        </p:spPr>
      </p:sp>
      <p:pic>
        <p:nvPicPr>
          <p:cNvPr id="31" name="Image 5" descr="HeartPulse">    </p:cNvPr>
          <p:cNvPicPr>
            <a:picLocks noChangeAspect="1"/>
          </p:cNvPicPr>
          <p:nvPr/>
        </p:nvPicPr>
        <p:blipFill>
          <a:blip r:embed="rId6"/>
          <a:stretch>
            <a:fillRect/>
          </a:stretch>
        </p:blipFill>
        <p:spPr>
          <a:xfrm>
            <a:off x="3746708" y="4443252"/>
            <a:ext cx="275783" cy="275783"/>
          </a:xfrm>
          <a:prstGeom prst="rect">
            <a:avLst/>
          </a:prstGeom>
        </p:spPr>
      </p:pic>
      <p:sp>
        <p:nvSpPr>
          <p:cNvPr id="32" name="Text 24"/>
          <p:cNvSpPr txBox="1"/>
          <p:nvPr/>
        </p:nvSpPr>
        <p:spPr>
          <a:xfrm>
            <a:off x="3619424"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Health checks &amp; auto-healing</a:t>
            </a:r>
            <a:endParaRPr lang="en-US" sz="1500" dirty="0"/>
          </a:p>
        </p:txBody>
      </p:sp>
      <p:sp>
        <p:nvSpPr>
          <p:cNvPr id="33" name="Text 25"/>
          <p:cNvSpPr txBox="1"/>
          <p:nvPr/>
        </p:nvSpPr>
        <p:spPr>
          <a:xfrm>
            <a:off x="3619424"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A VM whose service stops answering is recreated automatically</a:t>
            </a:r>
            <a:endParaRPr lang="en-US" sz="1200" dirty="0"/>
          </a:p>
        </p:txBody>
      </p:sp>
      <p:sp>
        <p:nvSpPr>
          <p:cNvPr id="34" name="service-6"/>
          <p:cNvSpPr/>
          <p:nvPr/>
        </p:nvSpPr>
        <p:spPr>
          <a:xfrm>
            <a:off x="6233008"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35" name="badge-FaArrowsRotate"/>
          <p:cNvSpPr/>
          <p:nvPr/>
        </p:nvSpPr>
        <p:spPr>
          <a:xfrm>
            <a:off x="6461608" y="4315968"/>
            <a:ext cx="530352" cy="530352"/>
          </a:xfrm>
          <a:prstGeom prst="roundRect">
            <a:avLst>
              <a:gd name="adj" fmla="val 17241"/>
            </a:avLst>
          </a:prstGeom>
          <a:solidFill>
            <a:srgbClr val="CFFAFE"/>
          </a:solidFill>
          <a:ln/>
        </p:spPr>
      </p:sp>
      <p:pic>
        <p:nvPicPr>
          <p:cNvPr id="36" name="Image 6" descr="ArrowsRotate">    </p:cNvPr>
          <p:cNvPicPr>
            <a:picLocks noChangeAspect="1"/>
          </p:cNvPicPr>
          <p:nvPr/>
        </p:nvPicPr>
        <p:blipFill>
          <a:blip r:embed="rId7"/>
          <a:stretch>
            <a:fillRect/>
          </a:stretch>
        </p:blipFill>
        <p:spPr>
          <a:xfrm>
            <a:off x="6588892" y="4443252"/>
            <a:ext cx="275783" cy="275783"/>
          </a:xfrm>
          <a:prstGeom prst="rect">
            <a:avLst/>
          </a:prstGeom>
        </p:spPr>
      </p:pic>
      <p:sp>
        <p:nvSpPr>
          <p:cNvPr id="37" name="Text 28"/>
          <p:cNvSpPr txBox="1"/>
          <p:nvPr/>
        </p:nvSpPr>
        <p:spPr>
          <a:xfrm>
            <a:off x="6461608"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Rolling updates</a:t>
            </a:r>
            <a:endParaRPr lang="en-US" sz="1500" dirty="0"/>
          </a:p>
        </p:txBody>
      </p:sp>
      <p:sp>
        <p:nvSpPr>
          <p:cNvPr id="38" name="Text 29"/>
          <p:cNvSpPr txBox="1"/>
          <p:nvPr/>
        </p:nvSpPr>
        <p:spPr>
          <a:xfrm>
            <a:off x="6461608"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New images replace VMs gradually; connection draining lets old VMs finish requests</a:t>
            </a:r>
            <a:endParaRPr lang="en-US" sz="1200" dirty="0"/>
          </a:p>
        </p:txBody>
      </p:sp>
      <p:sp>
        <p:nvSpPr>
          <p:cNvPr id="39" name="service-7"/>
          <p:cNvSpPr/>
          <p:nvPr/>
        </p:nvSpPr>
        <p:spPr>
          <a:xfrm>
            <a:off x="9075191"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40" name="badge-FaShieldHalved"/>
          <p:cNvSpPr/>
          <p:nvPr/>
        </p:nvSpPr>
        <p:spPr>
          <a:xfrm>
            <a:off x="9303791" y="4315968"/>
            <a:ext cx="530352" cy="530352"/>
          </a:xfrm>
          <a:prstGeom prst="roundRect">
            <a:avLst>
              <a:gd name="adj" fmla="val 17241"/>
            </a:avLst>
          </a:prstGeom>
          <a:solidFill>
            <a:srgbClr val="CFFAFE"/>
          </a:solidFill>
          <a:ln/>
        </p:spPr>
      </p:sp>
      <p:pic>
        <p:nvPicPr>
          <p:cNvPr id="41" name="Image 7" descr="ShieldHalved">    </p:cNvPr>
          <p:cNvPicPr>
            <a:picLocks noChangeAspect="1"/>
          </p:cNvPicPr>
          <p:nvPr/>
        </p:nvPicPr>
        <p:blipFill>
          <a:blip r:embed="rId8"/>
          <a:stretch>
            <a:fillRect/>
          </a:stretch>
        </p:blipFill>
        <p:spPr>
          <a:xfrm>
            <a:off x="9431076" y="4443252"/>
            <a:ext cx="275783" cy="275783"/>
          </a:xfrm>
          <a:prstGeom prst="rect">
            <a:avLst/>
          </a:prstGeom>
        </p:spPr>
      </p:pic>
      <p:sp>
        <p:nvSpPr>
          <p:cNvPr id="42" name="Text 32"/>
          <p:cNvSpPr txBox="1"/>
          <p:nvPr/>
        </p:nvSpPr>
        <p:spPr>
          <a:xfrm>
            <a:off x="9303791"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Shielded VMs</a:t>
            </a:r>
            <a:endParaRPr lang="en-US" sz="1500" dirty="0"/>
          </a:p>
        </p:txBody>
      </p:sp>
      <p:sp>
        <p:nvSpPr>
          <p:cNvPr id="43" name="Text 33"/>
          <p:cNvSpPr txBox="1"/>
          <p:nvPr/>
        </p:nvSpPr>
        <p:spPr>
          <a:xfrm>
            <a:off x="9303791"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Secure boot, vTPM and integrity monitoring on every VM</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GOOGLE CLOUD SERVICES · 2 OF 2</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Network, storage and delivery</a:t>
            </a:r>
            <a:endParaRPr lang="en-US" sz="3400" dirty="0"/>
          </a:p>
        </p:txBody>
      </p:sp>
      <p:sp>
        <p:nvSpPr>
          <p:cNvPr id="4" name="service-0"/>
          <p:cNvSpPr/>
          <p:nvPr/>
        </p:nvSpPr>
        <p:spPr>
          <a:xfrm>
            <a:off x="548640"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5" name="badge-FaScaleBalanced"/>
          <p:cNvSpPr/>
          <p:nvPr/>
        </p:nvSpPr>
        <p:spPr>
          <a:xfrm>
            <a:off x="777240" y="1920240"/>
            <a:ext cx="530352" cy="530352"/>
          </a:xfrm>
          <a:prstGeom prst="roundRect">
            <a:avLst>
              <a:gd name="adj" fmla="val 17241"/>
            </a:avLst>
          </a:prstGeom>
          <a:solidFill>
            <a:srgbClr val="EDE9FE"/>
          </a:solidFill>
          <a:ln/>
        </p:spPr>
      </p:sp>
      <p:pic>
        <p:nvPicPr>
          <p:cNvPr id="6" name="Image 0" descr="ScaleBalanced">    </p:cNvPr>
          <p:cNvPicPr>
            <a:picLocks noChangeAspect="1"/>
          </p:cNvPicPr>
          <p:nvPr/>
        </p:nvPicPr>
        <p:blipFill>
          <a:blip r:embed="rId1"/>
          <a:stretch>
            <a:fillRect/>
          </a:stretch>
        </p:blipFill>
        <p:spPr>
          <a:xfrm>
            <a:off x="904524" y="2047524"/>
            <a:ext cx="275783" cy="275783"/>
          </a:xfrm>
          <a:prstGeom prst="rect">
            <a:avLst/>
          </a:prstGeom>
        </p:spPr>
      </p:pic>
      <p:sp>
        <p:nvSpPr>
          <p:cNvPr id="7" name="Text 4"/>
          <p:cNvSpPr txBox="1"/>
          <p:nvPr/>
        </p:nvSpPr>
        <p:spPr>
          <a:xfrm>
            <a:off x="777240"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Cloud Load Balancing</a:t>
            </a:r>
            <a:endParaRPr lang="en-US" sz="1500" dirty="0"/>
          </a:p>
        </p:txBody>
      </p:sp>
      <p:sp>
        <p:nvSpPr>
          <p:cNvPr id="8" name="Text 5"/>
          <p:cNvSpPr txBox="1"/>
          <p:nvPr/>
        </p:nvSpPr>
        <p:spPr>
          <a:xfrm>
            <a:off x="777240"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External Application LB for users; internal TCP LB in front of the gateway</a:t>
            </a:r>
            <a:endParaRPr lang="en-US" sz="1200" dirty="0"/>
          </a:p>
        </p:txBody>
      </p:sp>
      <p:sp>
        <p:nvSpPr>
          <p:cNvPr id="9" name="service-1"/>
          <p:cNvSpPr/>
          <p:nvPr/>
        </p:nvSpPr>
        <p:spPr>
          <a:xfrm>
            <a:off x="3390824"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0" name="badge-FaNetworkWired"/>
          <p:cNvSpPr/>
          <p:nvPr/>
        </p:nvSpPr>
        <p:spPr>
          <a:xfrm>
            <a:off x="3619424" y="1920240"/>
            <a:ext cx="530352" cy="530352"/>
          </a:xfrm>
          <a:prstGeom prst="roundRect">
            <a:avLst>
              <a:gd name="adj" fmla="val 17241"/>
            </a:avLst>
          </a:prstGeom>
          <a:solidFill>
            <a:srgbClr val="EDE9FE"/>
          </a:solidFill>
          <a:ln/>
        </p:spPr>
      </p:sp>
      <p:pic>
        <p:nvPicPr>
          <p:cNvPr id="11" name="Image 1" descr="NetworkWired">    </p:cNvPr>
          <p:cNvPicPr>
            <a:picLocks noChangeAspect="1"/>
          </p:cNvPicPr>
          <p:nvPr/>
        </p:nvPicPr>
        <p:blipFill>
          <a:blip r:embed="rId2"/>
          <a:stretch>
            <a:fillRect/>
          </a:stretch>
        </p:blipFill>
        <p:spPr>
          <a:xfrm>
            <a:off x="3746708" y="2047524"/>
            <a:ext cx="275783" cy="275783"/>
          </a:xfrm>
          <a:prstGeom prst="rect">
            <a:avLst/>
          </a:prstGeom>
        </p:spPr>
      </p:pic>
      <p:sp>
        <p:nvSpPr>
          <p:cNvPr id="12" name="Text 8"/>
          <p:cNvSpPr txBox="1"/>
          <p:nvPr/>
        </p:nvSpPr>
        <p:spPr>
          <a:xfrm>
            <a:off x="3619424"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VPC &amp; firewall rules</a:t>
            </a:r>
            <a:endParaRPr lang="en-US" sz="1500" dirty="0"/>
          </a:p>
        </p:txBody>
      </p:sp>
      <p:sp>
        <p:nvSpPr>
          <p:cNvPr id="13" name="Text 9"/>
          <p:cNvSpPr txBox="1"/>
          <p:nvPr/>
        </p:nvSpPr>
        <p:spPr>
          <a:xfrm>
            <a:off x="3619424"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Custom private network; only the listed paths are allowed in</a:t>
            </a:r>
            <a:endParaRPr lang="en-US" sz="1200" dirty="0"/>
          </a:p>
        </p:txBody>
      </p:sp>
      <p:sp>
        <p:nvSpPr>
          <p:cNvPr id="14" name="service-2"/>
          <p:cNvSpPr/>
          <p:nvPr/>
        </p:nvSpPr>
        <p:spPr>
          <a:xfrm>
            <a:off x="6233008"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5" name="badge-FaRoute"/>
          <p:cNvSpPr/>
          <p:nvPr/>
        </p:nvSpPr>
        <p:spPr>
          <a:xfrm>
            <a:off x="6461608" y="1920240"/>
            <a:ext cx="530352" cy="530352"/>
          </a:xfrm>
          <a:prstGeom prst="roundRect">
            <a:avLst>
              <a:gd name="adj" fmla="val 17241"/>
            </a:avLst>
          </a:prstGeom>
          <a:solidFill>
            <a:srgbClr val="EDE9FE"/>
          </a:solidFill>
          <a:ln/>
        </p:spPr>
      </p:sp>
      <p:pic>
        <p:nvPicPr>
          <p:cNvPr id="16" name="Image 2" descr="Route">    </p:cNvPr>
          <p:cNvPicPr>
            <a:picLocks noChangeAspect="1"/>
          </p:cNvPicPr>
          <p:nvPr/>
        </p:nvPicPr>
        <p:blipFill>
          <a:blip r:embed="rId3"/>
          <a:stretch>
            <a:fillRect/>
          </a:stretch>
        </p:blipFill>
        <p:spPr>
          <a:xfrm>
            <a:off x="6588892" y="2047524"/>
            <a:ext cx="275783" cy="275783"/>
          </a:xfrm>
          <a:prstGeom prst="rect">
            <a:avLst/>
          </a:prstGeom>
        </p:spPr>
      </p:pic>
      <p:sp>
        <p:nvSpPr>
          <p:cNvPr id="17" name="Text 12"/>
          <p:cNvSpPr txBox="1"/>
          <p:nvPr/>
        </p:nvSpPr>
        <p:spPr>
          <a:xfrm>
            <a:off x="6461608"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Cloud NAT &amp; Private Google Access</a:t>
            </a:r>
            <a:endParaRPr lang="en-US" sz="1500" dirty="0"/>
          </a:p>
        </p:txBody>
      </p:sp>
      <p:sp>
        <p:nvSpPr>
          <p:cNvPr id="18" name="Text 13"/>
          <p:cNvSpPr txBox="1"/>
          <p:nvPr/>
        </p:nvSpPr>
        <p:spPr>
          <a:xfrm>
            <a:off x="6461608"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Outbound access and Google APIs without public IP addresses</a:t>
            </a:r>
            <a:endParaRPr lang="en-US" sz="1200" dirty="0"/>
          </a:p>
        </p:txBody>
      </p:sp>
      <p:sp>
        <p:nvSpPr>
          <p:cNvPr id="19" name="service-3"/>
          <p:cNvSpPr/>
          <p:nvPr/>
        </p:nvSpPr>
        <p:spPr>
          <a:xfrm>
            <a:off x="9075191" y="1691640"/>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0" name="badge-FaBucket"/>
          <p:cNvSpPr/>
          <p:nvPr/>
        </p:nvSpPr>
        <p:spPr>
          <a:xfrm>
            <a:off x="9303791" y="1920240"/>
            <a:ext cx="530352" cy="530352"/>
          </a:xfrm>
          <a:prstGeom prst="roundRect">
            <a:avLst>
              <a:gd name="adj" fmla="val 17241"/>
            </a:avLst>
          </a:prstGeom>
          <a:solidFill>
            <a:srgbClr val="EDE9FE"/>
          </a:solidFill>
          <a:ln/>
        </p:spPr>
      </p:sp>
      <p:pic>
        <p:nvPicPr>
          <p:cNvPr id="21" name="Image 3" descr="Bucket">    </p:cNvPr>
          <p:cNvPicPr>
            <a:picLocks noChangeAspect="1"/>
          </p:cNvPicPr>
          <p:nvPr/>
        </p:nvPicPr>
        <p:blipFill>
          <a:blip r:embed="rId4"/>
          <a:stretch>
            <a:fillRect/>
          </a:stretch>
        </p:blipFill>
        <p:spPr>
          <a:xfrm>
            <a:off x="9431076" y="2047524"/>
            <a:ext cx="275783" cy="275783"/>
          </a:xfrm>
          <a:prstGeom prst="rect">
            <a:avLst/>
          </a:prstGeom>
        </p:spPr>
      </p:pic>
      <p:sp>
        <p:nvSpPr>
          <p:cNvPr id="22" name="Text 16"/>
          <p:cNvSpPr txBox="1"/>
          <p:nvPr/>
        </p:nvSpPr>
        <p:spPr>
          <a:xfrm>
            <a:off x="9303791" y="2532888"/>
            <a:ext cx="2110664" cy="548640"/>
          </a:xfrm>
          <a:prstGeom prst="rect">
            <a:avLst/>
          </a:prstGeom>
          <a:noFill/>
          <a:ln/>
        </p:spPr>
        <p:txBody>
          <a:bodyPr wrap="square" lIns="0" tIns="0" rIns="0" bIns="0" rtlCol="0" anchor="b"/>
          <a:lstStyle/>
          <a:p>
            <a:pPr indent="0" marL="0">
              <a:buNone/>
            </a:pPr>
            <a:r>
              <a:rPr lang="en-US" sz="1500" b="1" dirty="0">
                <a:solidFill>
                  <a:schemeClr val="tx1"/>
                </a:solidFill>
              </a:rPr>
              <a:t>Cloud Storage</a:t>
            </a:r>
            <a:endParaRPr lang="en-US" sz="1500" dirty="0"/>
          </a:p>
        </p:txBody>
      </p:sp>
      <p:sp>
        <p:nvSpPr>
          <p:cNvPr id="23" name="Text 17"/>
          <p:cNvSpPr txBox="1"/>
          <p:nvPr/>
        </p:nvSpPr>
        <p:spPr>
          <a:xfrm>
            <a:off x="9303791" y="3154680"/>
            <a:ext cx="2110664" cy="658368"/>
          </a:xfrm>
          <a:prstGeom prst="rect">
            <a:avLst/>
          </a:prstGeom>
          <a:noFill/>
          <a:ln/>
        </p:spPr>
        <p:txBody>
          <a:bodyPr wrap="square" lIns="0" tIns="0" rIns="0" bIns="0" rtlCol="0" anchor="t"/>
          <a:lstStyle/>
          <a:p>
            <a:pPr indent="0" marL="0">
              <a:buNone/>
            </a:pPr>
            <a:r>
              <a:rPr lang="en-US" sz="1200" dirty="0">
                <a:solidFill>
                  <a:schemeClr val="tx2"/>
                </a:solidFill>
              </a:rPr>
              <a:t>4 private buckets with lifecycle rules: the only data store, accounts included</a:t>
            </a:r>
            <a:endParaRPr lang="en-US" sz="1200" dirty="0"/>
          </a:p>
        </p:txBody>
      </p:sp>
      <p:sp>
        <p:nvSpPr>
          <p:cNvPr id="24" name="service-4"/>
          <p:cNvSpPr/>
          <p:nvPr/>
        </p:nvSpPr>
        <p:spPr>
          <a:xfrm>
            <a:off x="548640"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5" name="badge-FaHammer"/>
          <p:cNvSpPr/>
          <p:nvPr/>
        </p:nvSpPr>
        <p:spPr>
          <a:xfrm>
            <a:off x="777240" y="4315968"/>
            <a:ext cx="530352" cy="530352"/>
          </a:xfrm>
          <a:prstGeom prst="roundRect">
            <a:avLst>
              <a:gd name="adj" fmla="val 17241"/>
            </a:avLst>
          </a:prstGeom>
          <a:solidFill>
            <a:srgbClr val="EDE9FE"/>
          </a:solidFill>
          <a:ln/>
        </p:spPr>
      </p:sp>
      <p:pic>
        <p:nvPicPr>
          <p:cNvPr id="26" name="Image 4" descr="Hammer">    </p:cNvPr>
          <p:cNvPicPr>
            <a:picLocks noChangeAspect="1"/>
          </p:cNvPicPr>
          <p:nvPr/>
        </p:nvPicPr>
        <p:blipFill>
          <a:blip r:embed="rId5"/>
          <a:stretch>
            <a:fillRect/>
          </a:stretch>
        </p:blipFill>
        <p:spPr>
          <a:xfrm>
            <a:off x="904524" y="4443252"/>
            <a:ext cx="275783" cy="275783"/>
          </a:xfrm>
          <a:prstGeom prst="rect">
            <a:avLst/>
          </a:prstGeom>
        </p:spPr>
      </p:pic>
      <p:sp>
        <p:nvSpPr>
          <p:cNvPr id="27" name="Text 20"/>
          <p:cNvSpPr txBox="1"/>
          <p:nvPr/>
        </p:nvSpPr>
        <p:spPr>
          <a:xfrm>
            <a:off x="777240"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Cloud Build</a:t>
            </a:r>
            <a:endParaRPr lang="en-US" sz="1500" dirty="0"/>
          </a:p>
        </p:txBody>
      </p:sp>
      <p:sp>
        <p:nvSpPr>
          <p:cNvPr id="28" name="Text 21"/>
          <p:cNvSpPr txBox="1"/>
          <p:nvPr/>
        </p:nvSpPr>
        <p:spPr>
          <a:xfrm>
            <a:off x="777240"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Builds the four container images from source in the cloud</a:t>
            </a:r>
            <a:endParaRPr lang="en-US" sz="1200" dirty="0"/>
          </a:p>
        </p:txBody>
      </p:sp>
      <p:sp>
        <p:nvSpPr>
          <p:cNvPr id="29" name="service-5"/>
          <p:cNvSpPr/>
          <p:nvPr/>
        </p:nvSpPr>
        <p:spPr>
          <a:xfrm>
            <a:off x="3390824"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30" name="badge-FaBoxesStacked"/>
          <p:cNvSpPr/>
          <p:nvPr/>
        </p:nvSpPr>
        <p:spPr>
          <a:xfrm>
            <a:off x="3619424" y="4315968"/>
            <a:ext cx="530352" cy="530352"/>
          </a:xfrm>
          <a:prstGeom prst="roundRect">
            <a:avLst>
              <a:gd name="adj" fmla="val 17241"/>
            </a:avLst>
          </a:prstGeom>
          <a:solidFill>
            <a:srgbClr val="EDE9FE"/>
          </a:solidFill>
          <a:ln/>
        </p:spPr>
      </p:sp>
      <p:pic>
        <p:nvPicPr>
          <p:cNvPr id="31" name="Image 5" descr="BoxesStacked">    </p:cNvPr>
          <p:cNvPicPr>
            <a:picLocks noChangeAspect="1"/>
          </p:cNvPicPr>
          <p:nvPr/>
        </p:nvPicPr>
        <p:blipFill>
          <a:blip r:embed="rId6"/>
          <a:stretch>
            <a:fillRect/>
          </a:stretch>
        </p:blipFill>
        <p:spPr>
          <a:xfrm>
            <a:off x="3746708" y="4443252"/>
            <a:ext cx="275783" cy="275783"/>
          </a:xfrm>
          <a:prstGeom prst="rect">
            <a:avLst/>
          </a:prstGeom>
        </p:spPr>
      </p:pic>
      <p:sp>
        <p:nvSpPr>
          <p:cNvPr id="32" name="Text 24"/>
          <p:cNvSpPr txBox="1"/>
          <p:nvPr/>
        </p:nvSpPr>
        <p:spPr>
          <a:xfrm>
            <a:off x="3619424"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Artifact Registry</a:t>
            </a:r>
            <a:endParaRPr lang="en-US" sz="1500" dirty="0"/>
          </a:p>
        </p:txBody>
      </p:sp>
      <p:sp>
        <p:nvSpPr>
          <p:cNvPr id="33" name="Text 25"/>
          <p:cNvSpPr txBox="1"/>
          <p:nvPr/>
        </p:nvSpPr>
        <p:spPr>
          <a:xfrm>
            <a:off x="3619424"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Private Docker repository that every VM pulls from</a:t>
            </a:r>
            <a:endParaRPr lang="en-US" sz="1200" dirty="0"/>
          </a:p>
        </p:txBody>
      </p:sp>
      <p:sp>
        <p:nvSpPr>
          <p:cNvPr id="34" name="service-6"/>
          <p:cNvSpPr/>
          <p:nvPr/>
        </p:nvSpPr>
        <p:spPr>
          <a:xfrm>
            <a:off x="6233008"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35" name="badge-FaIdBadge"/>
          <p:cNvSpPr/>
          <p:nvPr/>
        </p:nvSpPr>
        <p:spPr>
          <a:xfrm>
            <a:off x="6461608" y="4315968"/>
            <a:ext cx="530352" cy="530352"/>
          </a:xfrm>
          <a:prstGeom prst="roundRect">
            <a:avLst>
              <a:gd name="adj" fmla="val 17241"/>
            </a:avLst>
          </a:prstGeom>
          <a:solidFill>
            <a:srgbClr val="EDE9FE"/>
          </a:solidFill>
          <a:ln/>
        </p:spPr>
      </p:sp>
      <p:pic>
        <p:nvPicPr>
          <p:cNvPr id="36" name="Image 6" descr="IdBadge">    </p:cNvPr>
          <p:cNvPicPr>
            <a:picLocks noChangeAspect="1"/>
          </p:cNvPicPr>
          <p:nvPr/>
        </p:nvPicPr>
        <p:blipFill>
          <a:blip r:embed="rId7"/>
          <a:stretch>
            <a:fillRect/>
          </a:stretch>
        </p:blipFill>
        <p:spPr>
          <a:xfrm>
            <a:off x="6588892" y="4443252"/>
            <a:ext cx="275783" cy="275783"/>
          </a:xfrm>
          <a:prstGeom prst="rect">
            <a:avLst/>
          </a:prstGeom>
        </p:spPr>
      </p:pic>
      <p:sp>
        <p:nvSpPr>
          <p:cNvPr id="37" name="Text 28"/>
          <p:cNvSpPr txBox="1"/>
          <p:nvPr/>
        </p:nvSpPr>
        <p:spPr>
          <a:xfrm>
            <a:off x="6461608"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IAM service accounts</a:t>
            </a:r>
            <a:endParaRPr lang="en-US" sz="1500" dirty="0"/>
          </a:p>
        </p:txBody>
      </p:sp>
      <p:sp>
        <p:nvSpPr>
          <p:cNvPr id="38" name="Text 29"/>
          <p:cNvSpPr txBox="1"/>
          <p:nvPr/>
        </p:nvSpPr>
        <p:spPr>
          <a:xfrm>
            <a:off x="6461608"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Five identities: one per microservice, plus one for builds</a:t>
            </a:r>
            <a:endParaRPr lang="en-US" sz="1200" dirty="0"/>
          </a:p>
        </p:txBody>
      </p:sp>
      <p:sp>
        <p:nvSpPr>
          <p:cNvPr id="39" name="service-7"/>
          <p:cNvSpPr/>
          <p:nvPr/>
        </p:nvSpPr>
        <p:spPr>
          <a:xfrm>
            <a:off x="9075191" y="4087368"/>
            <a:ext cx="2567864" cy="2194560"/>
          </a:xfrm>
          <a:prstGeom prst="roundRect">
            <a:avLst>
              <a:gd name="adj" fmla="val 5000"/>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40" name="badge-FaChartLine"/>
          <p:cNvSpPr/>
          <p:nvPr/>
        </p:nvSpPr>
        <p:spPr>
          <a:xfrm>
            <a:off x="9303791" y="4315968"/>
            <a:ext cx="530352" cy="530352"/>
          </a:xfrm>
          <a:prstGeom prst="roundRect">
            <a:avLst>
              <a:gd name="adj" fmla="val 17241"/>
            </a:avLst>
          </a:prstGeom>
          <a:solidFill>
            <a:srgbClr val="EDE9FE"/>
          </a:solidFill>
          <a:ln/>
        </p:spPr>
      </p:sp>
      <p:pic>
        <p:nvPicPr>
          <p:cNvPr id="41" name="Image 7" descr="ChartLine">    </p:cNvPr>
          <p:cNvPicPr>
            <a:picLocks noChangeAspect="1"/>
          </p:cNvPicPr>
          <p:nvPr/>
        </p:nvPicPr>
        <p:blipFill>
          <a:blip r:embed="rId8"/>
          <a:stretch>
            <a:fillRect/>
          </a:stretch>
        </p:blipFill>
        <p:spPr>
          <a:xfrm>
            <a:off x="9431076" y="4443252"/>
            <a:ext cx="275783" cy="275783"/>
          </a:xfrm>
          <a:prstGeom prst="rect">
            <a:avLst/>
          </a:prstGeom>
        </p:spPr>
      </p:pic>
      <p:sp>
        <p:nvSpPr>
          <p:cNvPr id="42" name="Text 32"/>
          <p:cNvSpPr txBox="1"/>
          <p:nvPr/>
        </p:nvSpPr>
        <p:spPr>
          <a:xfrm>
            <a:off x="9303791" y="4928616"/>
            <a:ext cx="2110664" cy="548640"/>
          </a:xfrm>
          <a:prstGeom prst="rect">
            <a:avLst/>
          </a:prstGeom>
          <a:noFill/>
          <a:ln/>
        </p:spPr>
        <p:txBody>
          <a:bodyPr wrap="square" lIns="0" tIns="0" rIns="0" bIns="0" rtlCol="0" anchor="b"/>
          <a:lstStyle/>
          <a:p>
            <a:pPr indent="0" marL="0">
              <a:buNone/>
            </a:pPr>
            <a:r>
              <a:rPr lang="en-US" sz="1500" b="1" dirty="0">
                <a:solidFill>
                  <a:schemeClr val="tx1"/>
                </a:solidFill>
              </a:rPr>
              <a:t>Cloud Logging &amp; Monitoring</a:t>
            </a:r>
            <a:endParaRPr lang="en-US" sz="1500" dirty="0"/>
          </a:p>
        </p:txBody>
      </p:sp>
      <p:sp>
        <p:nvSpPr>
          <p:cNvPr id="43" name="Text 33"/>
          <p:cNvSpPr txBox="1"/>
          <p:nvPr/>
        </p:nvSpPr>
        <p:spPr>
          <a:xfrm>
            <a:off x="9303791" y="5550408"/>
            <a:ext cx="2110664" cy="658368"/>
          </a:xfrm>
          <a:prstGeom prst="rect">
            <a:avLst/>
          </a:prstGeom>
          <a:noFill/>
          <a:ln/>
        </p:spPr>
        <p:txBody>
          <a:bodyPr wrap="square" lIns="0" tIns="0" rIns="0" bIns="0" rtlCol="0" anchor="t"/>
          <a:lstStyle/>
          <a:p>
            <a:pPr indent="0" marL="0">
              <a:buNone/>
            </a:pPr>
            <a:r>
              <a:rPr lang="en-US" sz="1200" dirty="0">
                <a:solidFill>
                  <a:schemeClr val="tx2"/>
                </a:solidFill>
              </a:rPr>
              <a:t>Container logs and metrics from every VM</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DEPLOYMENT · asia-south1 (MUMBAI)</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Smallest machines that do the job</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37360"/>
                <a:gridCol w="2331720"/>
                <a:gridCol w="868680"/>
                <a:gridCol w="1234440"/>
                <a:gridCol w="1737360"/>
                <a:gridCol w="3182112"/>
              </a:tblGrid>
              <a:tr h="566928">
                <a:tc>
                  <a:txBody>
                    <a:bodyPr/>
                    <a:lstStyle/>
                    <a:p>
                      <a:pPr indent="0" marL="0">
                        <a:buNone/>
                      </a:pPr>
                      <a:r>
                        <a:rPr lang="en-US" sz="1400" b="1" dirty="0">
                          <a:solidFill>
                            <a:schemeClr val="bg1"/>
                          </a:solidFill>
                        </a:rPr>
                        <a:t>Microservice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Machine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VMs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Scales on</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Health check</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Reachable from</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Frontend</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e2-micro · 1 GB</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 – 7</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CPU 60%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/healthz :80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Internet, via external LB</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API Gateway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e2-medium · 4 GB</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1 – 7</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CPU 60%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/health :8000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Frontend VMs only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566928">
                <a:tc>
                  <a:txBody>
                    <a:bodyPr/>
                    <a:lstStyle/>
                    <a:p>
                      <a:pPr indent="0" marL="0">
                        <a:buNone/>
                      </a:pPr>
                      <a:r>
                        <a:rPr lang="en-US" sz="1400" b="1" dirty="0">
                          <a:solidFill>
                            <a:schemeClr val="tx1"/>
                          </a:solidFill>
                        </a:rPr>
                        <a:t>Workers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e2-small · 2 GB · Spot</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 – 7</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CPU 75%</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/health :8080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Nothing (health checks only)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Assembler</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e2-medium · 4 GB</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1 – 7</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CPU 70%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/health :8080</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Nothing (health checks only)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bl>
          </a:graphicData>
        </a:graphic>
      </p:graphicFrame>
      <p:sp>
        <p:nvSpPr>
          <p:cNvPr id="5" name="sizing-note-0"/>
          <p:cNvSpPr/>
          <p:nvPr/>
        </p:nvSpPr>
        <p:spPr>
          <a:xfrm>
            <a:off x="548640" y="4800600"/>
            <a:ext cx="5440680" cy="1325880"/>
          </a:xfrm>
          <a:prstGeom prst="roundRect">
            <a:avLst>
              <a:gd name="adj" fmla="val 8276"/>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6" name="badge-FaGaugeHigh"/>
          <p:cNvSpPr/>
          <p:nvPr/>
        </p:nvSpPr>
        <p:spPr>
          <a:xfrm>
            <a:off x="777240" y="5029200"/>
            <a:ext cx="502920" cy="502920"/>
          </a:xfrm>
          <a:prstGeom prst="roundRect">
            <a:avLst>
              <a:gd name="adj" fmla="val 18182"/>
            </a:avLst>
          </a:prstGeom>
          <a:solidFill>
            <a:srgbClr val="CFFAFE"/>
          </a:solidFill>
          <a:ln/>
        </p:spPr>
      </p:sp>
      <p:pic>
        <p:nvPicPr>
          <p:cNvPr id="7" name="Image 0" descr="GaugeHigh">    </p:cNvPr>
          <p:cNvPicPr>
            <a:picLocks noChangeAspect="1"/>
          </p:cNvPicPr>
          <p:nvPr/>
        </p:nvPicPr>
        <p:blipFill>
          <a:blip r:embed="rId1"/>
          <a:stretch>
            <a:fillRect/>
          </a:stretch>
        </p:blipFill>
        <p:spPr>
          <a:xfrm>
            <a:off x="897941" y="5149901"/>
            <a:ext cx="261518" cy="261518"/>
          </a:xfrm>
          <a:prstGeom prst="rect">
            <a:avLst/>
          </a:prstGeom>
        </p:spPr>
      </p:pic>
      <p:sp>
        <p:nvSpPr>
          <p:cNvPr id="8" name="Text 4"/>
          <p:cNvSpPr txBox="1"/>
          <p:nvPr/>
        </p:nvSpPr>
        <p:spPr>
          <a:xfrm>
            <a:off x="1463040" y="4956048"/>
            <a:ext cx="4343400" cy="320040"/>
          </a:xfrm>
          <a:prstGeom prst="rect">
            <a:avLst/>
          </a:prstGeom>
          <a:noFill/>
          <a:ln/>
        </p:spPr>
        <p:txBody>
          <a:bodyPr wrap="square" lIns="0" tIns="0" rIns="0" bIns="0" rtlCol="0" anchor="t"/>
          <a:lstStyle/>
          <a:p>
            <a:pPr indent="0" marL="0">
              <a:buNone/>
            </a:pPr>
            <a:r>
              <a:rPr lang="en-US" sz="1500" b="1" dirty="0">
                <a:solidFill>
                  <a:schemeClr val="tx1"/>
                </a:solidFill>
              </a:rPr>
              <a:t>Why these sizes</a:t>
            </a:r>
            <a:endParaRPr lang="en-US" sz="1500" dirty="0"/>
          </a:p>
        </p:txBody>
      </p:sp>
      <p:sp>
        <p:nvSpPr>
          <p:cNvPr id="9" name="Text 5"/>
          <p:cNvSpPr txBox="1"/>
          <p:nvPr/>
        </p:nvSpPr>
        <p:spPr>
          <a:xfrm>
            <a:off x="1463040" y="5303520"/>
            <a:ext cx="4343400" cy="731520"/>
          </a:xfrm>
          <a:prstGeom prst="rect">
            <a:avLst/>
          </a:prstGeom>
          <a:noFill/>
          <a:ln/>
        </p:spPr>
        <p:txBody>
          <a:bodyPr wrap="square" lIns="0" tIns="0" rIns="0" bIns="0" rtlCol="0" anchor="t"/>
          <a:lstStyle/>
          <a:p>
            <a:pPr indent="0" marL="0">
              <a:buNone/>
            </a:pPr>
            <a:r>
              <a:rPr lang="en-US" sz="1300" dirty="0">
                <a:solidFill>
                  <a:schemeClr val="tx2"/>
                </a:solidFill>
              </a:rPr>
              <a:t>The gateway and assembler hold up to 12,000-pixel images in memory (about 1–1.5 GB); the frontend only serves files.</a:t>
            </a:r>
            <a:endParaRPr lang="en-US" sz="1300" dirty="0"/>
          </a:p>
        </p:txBody>
      </p:sp>
      <p:sp>
        <p:nvSpPr>
          <p:cNvPr id="10" name="sizing-note-1"/>
          <p:cNvSpPr/>
          <p:nvPr/>
        </p:nvSpPr>
        <p:spPr>
          <a:xfrm>
            <a:off x="6172200" y="4800600"/>
            <a:ext cx="5440680" cy="1325880"/>
          </a:xfrm>
          <a:prstGeom prst="roundRect">
            <a:avLst>
              <a:gd name="adj" fmla="val 8276"/>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1" name="badge-FaLayerGroup"/>
          <p:cNvSpPr/>
          <p:nvPr/>
        </p:nvSpPr>
        <p:spPr>
          <a:xfrm>
            <a:off x="6400800" y="5029200"/>
            <a:ext cx="502920" cy="502920"/>
          </a:xfrm>
          <a:prstGeom prst="roundRect">
            <a:avLst>
              <a:gd name="adj" fmla="val 18182"/>
            </a:avLst>
          </a:prstGeom>
          <a:solidFill>
            <a:srgbClr val="CFFAFE"/>
          </a:solidFill>
          <a:ln/>
        </p:spPr>
      </p:sp>
      <p:pic>
        <p:nvPicPr>
          <p:cNvPr id="12" name="Image 1" descr="LayerGroup">    </p:cNvPr>
          <p:cNvPicPr>
            <a:picLocks noChangeAspect="1"/>
          </p:cNvPicPr>
          <p:nvPr/>
        </p:nvPicPr>
        <p:blipFill>
          <a:blip r:embed="rId2"/>
          <a:stretch>
            <a:fillRect/>
          </a:stretch>
        </p:blipFill>
        <p:spPr>
          <a:xfrm>
            <a:off x="6521501" y="5149901"/>
            <a:ext cx="261518" cy="261518"/>
          </a:xfrm>
          <a:prstGeom prst="rect">
            <a:avLst/>
          </a:prstGeom>
        </p:spPr>
      </p:pic>
      <p:sp>
        <p:nvSpPr>
          <p:cNvPr id="13" name="Text 8"/>
          <p:cNvSpPr txBox="1"/>
          <p:nvPr/>
        </p:nvSpPr>
        <p:spPr>
          <a:xfrm>
            <a:off x="7086600" y="4956048"/>
            <a:ext cx="4343400" cy="320040"/>
          </a:xfrm>
          <a:prstGeom prst="rect">
            <a:avLst/>
          </a:prstGeom>
          <a:noFill/>
          <a:ln/>
        </p:spPr>
        <p:txBody>
          <a:bodyPr wrap="square" lIns="0" tIns="0" rIns="0" bIns="0" rtlCol="0" anchor="t"/>
          <a:lstStyle/>
          <a:p>
            <a:pPr indent="0" marL="0">
              <a:buNone/>
            </a:pPr>
            <a:r>
              <a:rPr lang="en-US" sz="1500" b="1" dirty="0">
                <a:solidFill>
                  <a:schemeClr val="tx1"/>
                </a:solidFill>
              </a:rPr>
              <a:t>One microservice per VM</a:t>
            </a:r>
            <a:endParaRPr lang="en-US" sz="1500" dirty="0"/>
          </a:p>
        </p:txBody>
      </p:sp>
      <p:sp>
        <p:nvSpPr>
          <p:cNvPr id="14" name="Text 9"/>
          <p:cNvSpPr txBox="1"/>
          <p:nvPr/>
        </p:nvSpPr>
        <p:spPr>
          <a:xfrm>
            <a:off x="7086600" y="5303520"/>
            <a:ext cx="4343400" cy="731520"/>
          </a:xfrm>
          <a:prstGeom prst="rect">
            <a:avLst/>
          </a:prstGeom>
          <a:noFill/>
          <a:ln/>
        </p:spPr>
        <p:txBody>
          <a:bodyPr wrap="square" lIns="0" tIns="0" rIns="0" bIns="0" rtlCol="0" anchor="t"/>
          <a:lstStyle/>
          <a:p>
            <a:pPr indent="0" marL="0">
              <a:buNone/>
            </a:pPr>
            <a:r>
              <a:rPr lang="en-US" sz="1300" dirty="0">
                <a:solidFill>
                  <a:schemeClr val="tx2"/>
                </a:solidFill>
              </a:rPr>
              <a:t>Every VM runs exactly one service container; no two microservices ever share a machine.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4"/>
                </a:solidFill>
              </a:rPr>
              <a:t>8.1 · PHOTO MOSAIC STUDIO</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A full creative studio</a:t>
            </a:r>
            <a:endParaRPr lang="en-US" sz="3400" dirty="0"/>
          </a:p>
        </p:txBody>
      </p:sp>
      <p:sp>
        <p:nvSpPr>
          <p:cNvPr id="4" name="screenshot-frame"/>
          <p:cNvSpPr/>
          <p:nvPr/>
        </p:nvSpPr>
        <p:spPr>
          <a:xfrm>
            <a:off x="548640" y="1645920"/>
            <a:ext cx="7086600" cy="4489704"/>
          </a:xfrm>
          <a:prstGeom prst="roundRect">
            <a:avLst>
              <a:gd name="adj" fmla="val 2037"/>
            </a:avLst>
          </a:prstGeom>
          <a:solidFill>
            <a:srgbClr val="26304A"/>
          </a:solidFill>
          <a:ln/>
        </p:spPr>
      </p:sp>
      <p:pic>
        <p:nvPicPr>
          <p:cNvPr id="5" name="Image 0" descr="Studio Workshop after rendering a 60 × 40 photomosaic">    </p:cNvPr>
          <p:cNvPicPr>
            <a:picLocks noChangeAspect="1"/>
          </p:cNvPicPr>
          <p:nvPr/>
        </p:nvPicPr>
        <p:blipFill>
          <a:blip r:embed="rId1"/>
          <a:stretch>
            <a:fillRect/>
          </a:stretch>
        </p:blipFill>
        <p:spPr>
          <a:xfrm>
            <a:off x="603504" y="1700784"/>
            <a:ext cx="6976872" cy="4416552"/>
          </a:xfrm>
          <a:prstGeom prst="rect">
            <a:avLst/>
          </a:prstGeom>
        </p:spPr>
      </p:pic>
      <p:sp>
        <p:nvSpPr>
          <p:cNvPr id="6" name="Text 3"/>
          <p:cNvSpPr txBox="1"/>
          <p:nvPr/>
        </p:nvSpPr>
        <p:spPr>
          <a:xfrm>
            <a:off x="8001000" y="1691640"/>
            <a:ext cx="3657600" cy="365760"/>
          </a:xfrm>
          <a:prstGeom prst="rect">
            <a:avLst/>
          </a:prstGeom>
          <a:noFill/>
          <a:ln/>
        </p:spPr>
        <p:txBody>
          <a:bodyPr wrap="square" lIns="0" tIns="0" rIns="0" bIns="0" rtlCol="0" anchor="t"/>
          <a:lstStyle/>
          <a:p>
            <a:pPr indent="0" marL="0">
              <a:buNone/>
            </a:pPr>
            <a:r>
              <a:rPr lang="en-US" sz="1800" b="1" dirty="0">
                <a:solidFill>
                  <a:schemeClr val="bg1"/>
                </a:solidFill>
              </a:rPr>
              <a:t>Controls from the BRD</a:t>
            </a:r>
            <a:endParaRPr lang="en-US" sz="1800" dirty="0"/>
          </a:p>
        </p:txBody>
      </p:sp>
      <p:sp>
        <p:nvSpPr>
          <p:cNvPr id="7" name="Text 4"/>
          <p:cNvSpPr txBox="1"/>
          <p:nvPr/>
        </p:nvSpPr>
        <p:spPr>
          <a:xfrm>
            <a:off x="8001000" y="2148840"/>
            <a:ext cx="3657600" cy="39319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accent6"/>
                </a:solidFill>
              </a:rPr>
              <a:t>Engines: photomosaic, true-colour ASCII, Kuwahara oil, flow field</a:t>
            </a:r>
            <a:endParaRPr lang="en-US" sz="1500" dirty="0"/>
          </a:p>
          <a:p>
            <a:pPr marL="342900" indent="-342900">
              <a:spcAft>
                <a:spcPts val="700"/>
              </a:spcAft>
              <a:buSzPct val="100000"/>
              <a:buChar char="•"/>
            </a:pPr>
            <a:r>
              <a:rPr lang="en-US" sz="1500" dirty="0">
                <a:solidFill>
                  <a:schemeClr val="accent6"/>
                </a:solidFill>
              </a:rPr>
              <a:t>Blend slider, tag filters, grid density, no-repeat radius</a:t>
            </a:r>
            <a:endParaRPr lang="en-US" sz="1500" dirty="0"/>
          </a:p>
          <a:p>
            <a:pPr marL="342900" indent="-342900">
              <a:spcAft>
                <a:spcPts val="700"/>
              </a:spcAft>
              <a:buSzPct val="100000"/>
              <a:buChar char="•"/>
            </a:pPr>
            <a:r>
              <a:rPr lang="en-US" sz="1500" dirty="0">
                <a:solidFill>
                  <a:schemeClr val="accent6"/>
                </a:solidFill>
              </a:rPr>
              <a:t>Alpha-tint slider 0–50%, adjustable live</a:t>
            </a:r>
            <a:endParaRPr lang="en-US" sz="1500" dirty="0"/>
          </a:p>
          <a:p>
            <a:pPr marL="342900" indent="-342900">
              <a:spcAft>
                <a:spcPts val="700"/>
              </a:spcAft>
              <a:buSzPct val="100000"/>
              <a:buChar char="•"/>
            </a:pPr>
            <a:r>
              <a:rPr lang="en-US" sz="1500" dirty="0">
                <a:solidFill>
                  <a:schemeClr val="accent6"/>
                </a:solidFill>
              </a:rPr>
              <a:t>Tiles fly into place once processing finishes</a:t>
            </a:r>
            <a:endParaRPr lang="en-US" sz="1500" dirty="0"/>
          </a:p>
          <a:p>
            <a:pPr marL="342900" indent="-342900">
              <a:spcAft>
                <a:spcPts val="700"/>
              </a:spcAft>
              <a:buSzPct val="100000"/>
              <a:buChar char="•"/>
            </a:pPr>
            <a:r>
              <a:rPr lang="en-US" sz="1500" dirty="0">
                <a:solidFill>
                  <a:schemeClr val="accent6"/>
                </a:solidFill>
              </a:rPr>
              <a:t>Click any tile: original photo, contributor, ΔE₀₀</a:t>
            </a:r>
            <a:endParaRPr lang="en-US" sz="1500" dirty="0"/>
          </a:p>
          <a:p>
            <a:pPr marL="342900" indent="-342900">
              <a:spcAft>
                <a:spcPts val="700"/>
              </a:spcAft>
              <a:buSzPct val="100000"/>
              <a:buChar char="•"/>
            </a:pPr>
            <a:r>
              <a:rPr lang="en-US" sz="1500" dirty="0">
                <a:solidFill>
                  <a:schemeClr val="accent6"/>
                </a:solidFill>
              </a:rPr>
              <a:t>Sharp 256 px tiles when zoomed past 200%</a:t>
            </a:r>
            <a:endParaRPr lang="en-US" sz="1500" dirty="0"/>
          </a:p>
          <a:p>
            <a:pPr marL="342900" indent="-342900">
              <a:spcAft>
                <a:spcPts val="700"/>
              </a:spcAft>
              <a:buSzPct val="100000"/>
              <a:buChar char="•"/>
            </a:pPr>
            <a:r>
              <a:rPr lang="en-US" sz="1500" dirty="0">
                <a:solidFill>
                  <a:schemeClr val="accent6"/>
                </a:solidFill>
              </a:rPr>
              <a:t>Export PNG or JPEG up to 12,000 px</a:t>
            </a:r>
            <a:endParaRPr lang="en-US" sz="1500" dirty="0"/>
          </a:p>
          <a:p>
            <a:pPr marL="342900" indent="-342900">
              <a:spcAft>
                <a:spcPts val="700"/>
              </a:spcAft>
              <a:buSzPct val="100000"/>
              <a:buChar char="•"/>
            </a:pPr>
            <a:r>
              <a:rPr lang="en-US" sz="1500" dirty="0">
                <a:solidFill>
                  <a:schemeClr val="accent6"/>
                </a:solidFill>
              </a:rPr>
              <a:t>Personal vault saved to your account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8.1 · ACCOUNTS &amp; PERSONAL VAULT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Your photos follow your account</a:t>
            </a:r>
            <a:endParaRPr lang="en-US" sz="3400" dirty="0"/>
          </a:p>
        </p:txBody>
      </p:sp>
      <p:sp>
        <p:nvSpPr>
          <p:cNvPr id="4" name="account-step-0"/>
          <p:cNvSpPr/>
          <p:nvPr/>
        </p:nvSpPr>
        <p:spPr>
          <a:xfrm>
            <a:off x="548640" y="1691640"/>
            <a:ext cx="5760720" cy="987552"/>
          </a:xfrm>
          <a:prstGeom prst="roundRect">
            <a:avLst>
              <a:gd name="adj" fmla="val 11111"/>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5" name="badge-FaUserPlus"/>
          <p:cNvSpPr/>
          <p:nvPr/>
        </p:nvSpPr>
        <p:spPr>
          <a:xfrm>
            <a:off x="777240" y="1892808"/>
            <a:ext cx="566928" cy="566928"/>
          </a:xfrm>
          <a:prstGeom prst="roundRect">
            <a:avLst>
              <a:gd name="adj" fmla="val 16129"/>
            </a:avLst>
          </a:prstGeom>
          <a:solidFill>
            <a:srgbClr val="CFFAFE"/>
          </a:solidFill>
          <a:ln/>
        </p:spPr>
      </p:sp>
      <p:pic>
        <p:nvPicPr>
          <p:cNvPr id="6" name="Image 0" descr="UserPlus">    </p:cNvPr>
          <p:cNvPicPr>
            <a:picLocks noChangeAspect="1"/>
          </p:cNvPicPr>
          <p:nvPr/>
        </p:nvPicPr>
        <p:blipFill>
          <a:blip r:embed="rId1"/>
          <a:stretch>
            <a:fillRect/>
          </a:stretch>
        </p:blipFill>
        <p:spPr>
          <a:xfrm>
            <a:off x="913303" y="2028871"/>
            <a:ext cx="294803" cy="294803"/>
          </a:xfrm>
          <a:prstGeom prst="rect">
            <a:avLst/>
          </a:prstGeom>
        </p:spPr>
      </p:pic>
      <p:sp>
        <p:nvSpPr>
          <p:cNvPr id="7" name="Text 4"/>
          <p:cNvSpPr txBox="1"/>
          <p:nvPr/>
        </p:nvSpPr>
        <p:spPr>
          <a:xfrm>
            <a:off x="1554480" y="1801368"/>
            <a:ext cx="4572000" cy="329184"/>
          </a:xfrm>
          <a:prstGeom prst="rect">
            <a:avLst/>
          </a:prstGeom>
          <a:noFill/>
          <a:ln/>
        </p:spPr>
        <p:txBody>
          <a:bodyPr wrap="square" lIns="0" tIns="0" rIns="0" bIns="0" rtlCol="0" anchor="t"/>
          <a:lstStyle/>
          <a:p>
            <a:pPr indent="0" marL="0">
              <a:buNone/>
            </a:pPr>
            <a:r>
              <a:rPr lang="en-US" sz="1600" b="1" dirty="0">
                <a:solidFill>
                  <a:schemeClr val="tx1"/>
                </a:solidFill>
              </a:rPr>
              <a:t>1 · Optional sign-up</a:t>
            </a:r>
            <a:endParaRPr lang="en-US" sz="1600" dirty="0"/>
          </a:p>
        </p:txBody>
      </p:sp>
      <p:sp>
        <p:nvSpPr>
          <p:cNvPr id="8" name="Text 5"/>
          <p:cNvSpPr txBox="1"/>
          <p:nvPr/>
        </p:nvSpPr>
        <p:spPr>
          <a:xfrm>
            <a:off x="1554480" y="2148840"/>
            <a:ext cx="4572000" cy="475488"/>
          </a:xfrm>
          <a:prstGeom prst="rect">
            <a:avLst/>
          </a:prstGeom>
          <a:noFill/>
          <a:ln/>
        </p:spPr>
        <p:txBody>
          <a:bodyPr wrap="square" lIns="0" tIns="0" rIns="0" bIns="0" rtlCol="0" anchor="t"/>
          <a:lstStyle/>
          <a:p>
            <a:pPr indent="0" marL="0">
              <a:buNone/>
            </a:pPr>
            <a:r>
              <a:rPr lang="en-US" sz="1250" dirty="0">
                <a:solidFill>
                  <a:schemeClr val="tx2"/>
                </a:solidFill>
              </a:rPr>
              <a:t>Guests can make mosaics from their own photos, but those are deleted when they leave. Signing up keeps them.</a:t>
            </a:r>
            <a:endParaRPr lang="en-US" sz="1250" dirty="0"/>
          </a:p>
        </p:txBody>
      </p:sp>
      <p:sp>
        <p:nvSpPr>
          <p:cNvPr id="9" name="account-step-1"/>
          <p:cNvSpPr/>
          <p:nvPr/>
        </p:nvSpPr>
        <p:spPr>
          <a:xfrm>
            <a:off x="548640" y="2807208"/>
            <a:ext cx="5760720" cy="987552"/>
          </a:xfrm>
          <a:prstGeom prst="roundRect">
            <a:avLst>
              <a:gd name="adj" fmla="val 11111"/>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0" name="badge-FaCloudArrowUp"/>
          <p:cNvSpPr/>
          <p:nvPr/>
        </p:nvSpPr>
        <p:spPr>
          <a:xfrm>
            <a:off x="777240" y="3008376"/>
            <a:ext cx="566928" cy="566928"/>
          </a:xfrm>
          <a:prstGeom prst="roundRect">
            <a:avLst>
              <a:gd name="adj" fmla="val 16129"/>
            </a:avLst>
          </a:prstGeom>
          <a:solidFill>
            <a:srgbClr val="CFFAFE"/>
          </a:solidFill>
          <a:ln/>
        </p:spPr>
      </p:sp>
      <p:pic>
        <p:nvPicPr>
          <p:cNvPr id="11" name="Image 1" descr="CloudArrowUp">    </p:cNvPr>
          <p:cNvPicPr>
            <a:picLocks noChangeAspect="1"/>
          </p:cNvPicPr>
          <p:nvPr/>
        </p:nvPicPr>
        <p:blipFill>
          <a:blip r:embed="rId2"/>
          <a:stretch>
            <a:fillRect/>
          </a:stretch>
        </p:blipFill>
        <p:spPr>
          <a:xfrm>
            <a:off x="913303" y="3144439"/>
            <a:ext cx="294803" cy="294803"/>
          </a:xfrm>
          <a:prstGeom prst="rect">
            <a:avLst/>
          </a:prstGeom>
        </p:spPr>
      </p:pic>
      <p:sp>
        <p:nvSpPr>
          <p:cNvPr id="12" name="Text 8"/>
          <p:cNvSpPr txBox="1"/>
          <p:nvPr/>
        </p:nvSpPr>
        <p:spPr>
          <a:xfrm>
            <a:off x="1554480" y="2916936"/>
            <a:ext cx="4572000" cy="329184"/>
          </a:xfrm>
          <a:prstGeom prst="rect">
            <a:avLst/>
          </a:prstGeom>
          <a:noFill/>
          <a:ln/>
        </p:spPr>
        <p:txBody>
          <a:bodyPr wrap="square" lIns="0" tIns="0" rIns="0" bIns="0" rtlCol="0" anchor="t"/>
          <a:lstStyle/>
          <a:p>
            <a:pPr indent="0" marL="0">
              <a:buNone/>
            </a:pPr>
            <a:r>
              <a:rPr lang="en-US" sz="1600" b="1" dirty="0">
                <a:solidFill>
                  <a:schemeClr val="tx1"/>
                </a:solidFill>
              </a:rPr>
              <a:t>2 · Upload to your vault</a:t>
            </a:r>
            <a:endParaRPr lang="en-US" sz="1600" dirty="0"/>
          </a:p>
        </p:txBody>
      </p:sp>
      <p:sp>
        <p:nvSpPr>
          <p:cNvPr id="13" name="Text 9"/>
          <p:cNvSpPr txBox="1"/>
          <p:nvPr/>
        </p:nvSpPr>
        <p:spPr>
          <a:xfrm>
            <a:off x="1554480" y="3264408"/>
            <a:ext cx="4572000" cy="475488"/>
          </a:xfrm>
          <a:prstGeom prst="rect">
            <a:avLst/>
          </a:prstGeom>
          <a:noFill/>
          <a:ln/>
        </p:spPr>
        <p:txBody>
          <a:bodyPr wrap="square" lIns="0" tIns="0" rIns="0" bIns="0" rtlCol="0" anchor="t"/>
          <a:lstStyle/>
          <a:p>
            <a:pPr indent="0" marL="0">
              <a:buNone/>
            </a:pPr>
            <a:r>
              <a:rPr lang="en-US" sz="1250" dirty="0">
                <a:solidFill>
                  <a:schemeClr val="tx2"/>
                </a:solidFill>
              </a:rPr>
              <a:t>Photos are analysed by the workers and saved under your account in Cloud Storage.</a:t>
            </a:r>
            <a:endParaRPr lang="en-US" sz="1250" dirty="0"/>
          </a:p>
        </p:txBody>
      </p:sp>
      <p:sp>
        <p:nvSpPr>
          <p:cNvPr id="14" name="account-step-2"/>
          <p:cNvSpPr/>
          <p:nvPr/>
        </p:nvSpPr>
        <p:spPr>
          <a:xfrm>
            <a:off x="548640" y="3922776"/>
            <a:ext cx="5760720" cy="987552"/>
          </a:xfrm>
          <a:prstGeom prst="roundRect">
            <a:avLst>
              <a:gd name="adj" fmla="val 11111"/>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5" name="badge-FaLaptop"/>
          <p:cNvSpPr/>
          <p:nvPr/>
        </p:nvSpPr>
        <p:spPr>
          <a:xfrm>
            <a:off x="777240" y="4123944"/>
            <a:ext cx="566928" cy="566928"/>
          </a:xfrm>
          <a:prstGeom prst="roundRect">
            <a:avLst>
              <a:gd name="adj" fmla="val 16129"/>
            </a:avLst>
          </a:prstGeom>
          <a:solidFill>
            <a:srgbClr val="CFFAFE"/>
          </a:solidFill>
          <a:ln/>
        </p:spPr>
      </p:sp>
      <p:pic>
        <p:nvPicPr>
          <p:cNvPr id="16" name="Image 2" descr="Laptop">    </p:cNvPr>
          <p:cNvPicPr>
            <a:picLocks noChangeAspect="1"/>
          </p:cNvPicPr>
          <p:nvPr/>
        </p:nvPicPr>
        <p:blipFill>
          <a:blip r:embed="rId3"/>
          <a:stretch>
            <a:fillRect/>
          </a:stretch>
        </p:blipFill>
        <p:spPr>
          <a:xfrm>
            <a:off x="913303" y="4260007"/>
            <a:ext cx="294803" cy="294803"/>
          </a:xfrm>
          <a:prstGeom prst="rect">
            <a:avLst/>
          </a:prstGeom>
        </p:spPr>
      </p:pic>
      <p:sp>
        <p:nvSpPr>
          <p:cNvPr id="17" name="Text 12"/>
          <p:cNvSpPr txBox="1"/>
          <p:nvPr/>
        </p:nvSpPr>
        <p:spPr>
          <a:xfrm>
            <a:off x="1554480" y="4032504"/>
            <a:ext cx="4572000" cy="329184"/>
          </a:xfrm>
          <a:prstGeom prst="rect">
            <a:avLst/>
          </a:prstGeom>
          <a:noFill/>
          <a:ln/>
        </p:spPr>
        <p:txBody>
          <a:bodyPr wrap="square" lIns="0" tIns="0" rIns="0" bIns="0" rtlCol="0" anchor="t"/>
          <a:lstStyle/>
          <a:p>
            <a:pPr indent="0" marL="0">
              <a:buNone/>
            </a:pPr>
            <a:r>
              <a:rPr lang="en-US" sz="1600" b="1" dirty="0">
                <a:solidFill>
                  <a:schemeClr val="tx1"/>
                </a:solidFill>
              </a:rPr>
              <a:t>3 · Sign in anywhere</a:t>
            </a:r>
            <a:endParaRPr lang="en-US" sz="1600" dirty="0"/>
          </a:p>
        </p:txBody>
      </p:sp>
      <p:sp>
        <p:nvSpPr>
          <p:cNvPr id="18" name="Text 13"/>
          <p:cNvSpPr txBox="1"/>
          <p:nvPr/>
        </p:nvSpPr>
        <p:spPr>
          <a:xfrm>
            <a:off x="1554480" y="4379976"/>
            <a:ext cx="4572000" cy="475488"/>
          </a:xfrm>
          <a:prstGeom prst="rect">
            <a:avLst/>
          </a:prstGeom>
          <a:noFill/>
          <a:ln/>
        </p:spPr>
        <p:txBody>
          <a:bodyPr wrap="square" lIns="0" tIns="0" rIns="0" bIns="0" rtlCol="0" anchor="t"/>
          <a:lstStyle/>
          <a:p>
            <a:pPr indent="0" marL="0">
              <a:buNone/>
            </a:pPr>
            <a:r>
              <a:rPr lang="en-US" sz="1250" dirty="0">
                <a:solidFill>
                  <a:schemeClr val="tx2"/>
                </a:solidFill>
              </a:rPr>
              <a:t>Another browser or device shows the same vault, with nothing to re-upload.</a:t>
            </a:r>
            <a:endParaRPr lang="en-US" sz="1250" dirty="0"/>
          </a:p>
        </p:txBody>
      </p:sp>
      <p:sp>
        <p:nvSpPr>
          <p:cNvPr id="19" name="account-step-3"/>
          <p:cNvSpPr/>
          <p:nvPr/>
        </p:nvSpPr>
        <p:spPr>
          <a:xfrm>
            <a:off x="548640" y="5038344"/>
            <a:ext cx="5760720" cy="987552"/>
          </a:xfrm>
          <a:prstGeom prst="roundRect">
            <a:avLst>
              <a:gd name="adj" fmla="val 11111"/>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0" name="badge-FaUserGear"/>
          <p:cNvSpPr/>
          <p:nvPr/>
        </p:nvSpPr>
        <p:spPr>
          <a:xfrm>
            <a:off x="777240" y="5239512"/>
            <a:ext cx="566928" cy="566928"/>
          </a:xfrm>
          <a:prstGeom prst="roundRect">
            <a:avLst>
              <a:gd name="adj" fmla="val 16129"/>
            </a:avLst>
          </a:prstGeom>
          <a:solidFill>
            <a:srgbClr val="FCE7F3"/>
          </a:solidFill>
          <a:ln/>
        </p:spPr>
      </p:sp>
      <p:pic>
        <p:nvPicPr>
          <p:cNvPr id="21" name="Image 3" descr="UserGear">    </p:cNvPr>
          <p:cNvPicPr>
            <a:picLocks noChangeAspect="1"/>
          </p:cNvPicPr>
          <p:nvPr/>
        </p:nvPicPr>
        <p:blipFill>
          <a:blip r:embed="rId4"/>
          <a:stretch>
            <a:fillRect/>
          </a:stretch>
        </p:blipFill>
        <p:spPr>
          <a:xfrm>
            <a:off x="913303" y="5375575"/>
            <a:ext cx="294803" cy="294803"/>
          </a:xfrm>
          <a:prstGeom prst="rect">
            <a:avLst/>
          </a:prstGeom>
        </p:spPr>
      </p:pic>
      <p:sp>
        <p:nvSpPr>
          <p:cNvPr id="22" name="Text 16"/>
          <p:cNvSpPr txBox="1"/>
          <p:nvPr/>
        </p:nvSpPr>
        <p:spPr>
          <a:xfrm>
            <a:off x="1554480" y="5148072"/>
            <a:ext cx="4572000" cy="329184"/>
          </a:xfrm>
          <a:prstGeom prst="rect">
            <a:avLst/>
          </a:prstGeom>
          <a:noFill/>
          <a:ln/>
        </p:spPr>
        <p:txBody>
          <a:bodyPr wrap="square" lIns="0" tIns="0" rIns="0" bIns="0" rtlCol="0" anchor="t"/>
          <a:lstStyle/>
          <a:p>
            <a:pPr indent="0" marL="0">
              <a:buNone/>
            </a:pPr>
            <a:r>
              <a:rPr lang="en-US" sz="1600" b="1" dirty="0">
                <a:solidFill>
                  <a:schemeClr val="tx1"/>
                </a:solidFill>
              </a:rPr>
              <a:t>4 · Manage it yourself</a:t>
            </a:r>
            <a:endParaRPr lang="en-US" sz="1600" dirty="0"/>
          </a:p>
        </p:txBody>
      </p:sp>
      <p:sp>
        <p:nvSpPr>
          <p:cNvPr id="23" name="Text 17"/>
          <p:cNvSpPr txBox="1"/>
          <p:nvPr/>
        </p:nvSpPr>
        <p:spPr>
          <a:xfrm>
            <a:off x="1554480" y="5495544"/>
            <a:ext cx="4572000" cy="475488"/>
          </a:xfrm>
          <a:prstGeom prst="rect">
            <a:avLst/>
          </a:prstGeom>
          <a:noFill/>
          <a:ln/>
        </p:spPr>
        <p:txBody>
          <a:bodyPr wrap="square" lIns="0" tIns="0" rIns="0" bIns="0" rtlCol="0" anchor="t"/>
          <a:lstStyle/>
          <a:p>
            <a:pPr indent="0" marL="0">
              <a:buNone/>
            </a:pPr>
            <a:r>
              <a:rPr lang="en-US" sz="1250" dirty="0">
                <a:solidFill>
                  <a:schemeClr val="tx2"/>
                </a:solidFill>
              </a:rPr>
              <a:t>The Account page shows storage used (500 MB quota), deletes chosen photos, or erases the account.</a:t>
            </a:r>
            <a:endParaRPr lang="en-US" sz="1250" dirty="0"/>
          </a:p>
        </p:txBody>
      </p:sp>
      <p:sp>
        <p:nvSpPr>
          <p:cNvPr id="24" name="account-storage"/>
          <p:cNvSpPr/>
          <p:nvPr/>
        </p:nvSpPr>
        <p:spPr>
          <a:xfrm>
            <a:off x="6583680" y="1691640"/>
            <a:ext cx="5059375" cy="4343400"/>
          </a:xfrm>
          <a:prstGeom prst="roundRect">
            <a:avLst>
              <a:gd name="adj" fmla="val 2526"/>
            </a:avLst>
          </a:prstGeom>
          <a:solidFill>
            <a:schemeClr val="tx1"/>
          </a:solidFill>
          <a:ln/>
        </p:spPr>
      </p:sp>
      <p:sp>
        <p:nvSpPr>
          <p:cNvPr id="25" name="badge-FaBucket"/>
          <p:cNvSpPr/>
          <p:nvPr/>
        </p:nvSpPr>
        <p:spPr>
          <a:xfrm>
            <a:off x="6858000" y="1920240"/>
            <a:ext cx="548640" cy="548640"/>
          </a:xfrm>
          <a:prstGeom prst="roundRect">
            <a:avLst>
              <a:gd name="adj" fmla="val 16667"/>
            </a:avLst>
          </a:prstGeom>
          <a:solidFill>
            <a:srgbClr val="1E293B"/>
          </a:solidFill>
          <a:ln/>
        </p:spPr>
      </p:sp>
      <p:pic>
        <p:nvPicPr>
          <p:cNvPr id="26" name="Image 4" descr="Bucket">    </p:cNvPr>
          <p:cNvPicPr>
            <a:picLocks noChangeAspect="1"/>
          </p:cNvPicPr>
          <p:nvPr/>
        </p:nvPicPr>
        <p:blipFill>
          <a:blip r:embed="rId5"/>
          <a:stretch>
            <a:fillRect/>
          </a:stretch>
        </p:blipFill>
        <p:spPr>
          <a:xfrm>
            <a:off x="6989674" y="2051914"/>
            <a:ext cx="285293" cy="285293"/>
          </a:xfrm>
          <a:prstGeom prst="rect">
            <a:avLst/>
          </a:prstGeom>
        </p:spPr>
      </p:pic>
      <p:sp>
        <p:nvSpPr>
          <p:cNvPr id="27" name="Text 20"/>
          <p:cNvSpPr txBox="1"/>
          <p:nvPr/>
        </p:nvSpPr>
        <p:spPr>
          <a:xfrm>
            <a:off x="7543800" y="1993392"/>
            <a:ext cx="3870655" cy="411480"/>
          </a:xfrm>
          <a:prstGeom prst="rect">
            <a:avLst/>
          </a:prstGeom>
          <a:noFill/>
          <a:ln/>
        </p:spPr>
        <p:txBody>
          <a:bodyPr wrap="square" lIns="0" tIns="0" rIns="0" bIns="0" rtlCol="0" anchor="t"/>
          <a:lstStyle/>
          <a:p>
            <a:pPr indent="0" marL="0">
              <a:buNone/>
            </a:pPr>
            <a:r>
              <a:rPr lang="en-US" sz="1700" b="1" dirty="0">
                <a:solidFill>
                  <a:schemeClr val="bg1"/>
                </a:solidFill>
              </a:rPr>
              <a:t>Stored in buckets, no database</a:t>
            </a:r>
            <a:endParaRPr lang="en-US" sz="1700" dirty="0"/>
          </a:p>
        </p:txBody>
      </p:sp>
      <p:sp>
        <p:nvSpPr>
          <p:cNvPr id="28" name="Text 21"/>
          <p:cNvSpPr txBox="1"/>
          <p:nvPr/>
        </p:nvSpPr>
        <p:spPr>
          <a:xfrm>
            <a:off x="6858000" y="2697480"/>
            <a:ext cx="4510735" cy="27432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users/{username}.json</a:t>
            </a:r>
            <a:endParaRPr lang="en-US" sz="1300" dirty="0"/>
          </a:p>
        </p:txBody>
      </p:sp>
      <p:sp>
        <p:nvSpPr>
          <p:cNvPr id="29" name="Text 22"/>
          <p:cNvSpPr txBox="1"/>
          <p:nvPr/>
        </p:nvSpPr>
        <p:spPr>
          <a:xfrm>
            <a:off x="6858000" y="2971800"/>
            <a:ext cx="4510735" cy="274320"/>
          </a:xfrm>
          <a:prstGeom prst="rect">
            <a:avLst/>
          </a:prstGeom>
          <a:noFill/>
          <a:ln/>
        </p:spPr>
        <p:txBody>
          <a:bodyPr wrap="square" lIns="0" tIns="0" rIns="0" bIns="0" rtlCol="0" anchor="t"/>
          <a:lstStyle/>
          <a:p>
            <a:pPr indent="0" marL="0">
              <a:buNone/>
            </a:pPr>
            <a:r>
              <a:rPr lang="en-US" sz="1200" dirty="0">
                <a:solidFill>
                  <a:schemeClr val="accent6"/>
                </a:solidFill>
              </a:rPr>
              <a:t>profile + bcrypt hash</a:t>
            </a:r>
            <a:endParaRPr lang="en-US" sz="1200" dirty="0"/>
          </a:p>
        </p:txBody>
      </p:sp>
      <p:sp>
        <p:nvSpPr>
          <p:cNvPr id="30" name="Text 23"/>
          <p:cNvSpPr txBox="1"/>
          <p:nvPr/>
        </p:nvSpPr>
        <p:spPr>
          <a:xfrm>
            <a:off x="6858000" y="3319272"/>
            <a:ext cx="4510735" cy="27432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user-emails/{sha256}.json</a:t>
            </a:r>
            <a:endParaRPr lang="en-US" sz="1300" dirty="0"/>
          </a:p>
        </p:txBody>
      </p:sp>
      <p:sp>
        <p:nvSpPr>
          <p:cNvPr id="31" name="Text 24"/>
          <p:cNvSpPr txBox="1"/>
          <p:nvPr/>
        </p:nvSpPr>
        <p:spPr>
          <a:xfrm>
            <a:off x="6858000" y="3593592"/>
            <a:ext cx="4510735" cy="274320"/>
          </a:xfrm>
          <a:prstGeom prst="rect">
            <a:avLst/>
          </a:prstGeom>
          <a:noFill/>
          <a:ln/>
        </p:spPr>
        <p:txBody>
          <a:bodyPr wrap="square" lIns="0" tIns="0" rIns="0" bIns="0" rtlCol="0" anchor="t"/>
          <a:lstStyle/>
          <a:p>
            <a:pPr indent="0" marL="0">
              <a:buNone/>
            </a:pPr>
            <a:r>
              <a:rPr lang="en-US" sz="1200" dirty="0">
                <a:solidFill>
                  <a:schemeClr val="accent6"/>
                </a:solidFill>
              </a:rPr>
              <a:t>one account per email</a:t>
            </a:r>
            <a:endParaRPr lang="en-US" sz="1200" dirty="0"/>
          </a:p>
        </p:txBody>
      </p:sp>
      <p:sp>
        <p:nvSpPr>
          <p:cNvPr id="32" name="Text 25"/>
          <p:cNvSpPr txBox="1"/>
          <p:nvPr/>
        </p:nvSpPr>
        <p:spPr>
          <a:xfrm>
            <a:off x="6858000" y="3941064"/>
            <a:ext cx="4510735" cy="27432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auth/signing-key.json</a:t>
            </a:r>
            <a:endParaRPr lang="en-US" sz="1300" dirty="0"/>
          </a:p>
        </p:txBody>
      </p:sp>
      <p:sp>
        <p:nvSpPr>
          <p:cNvPr id="33" name="Text 26"/>
          <p:cNvSpPr txBox="1"/>
          <p:nvPr/>
        </p:nvSpPr>
        <p:spPr>
          <a:xfrm>
            <a:off x="6858000" y="4215384"/>
            <a:ext cx="4510735" cy="274320"/>
          </a:xfrm>
          <a:prstGeom prst="rect">
            <a:avLst/>
          </a:prstGeom>
          <a:noFill/>
          <a:ln/>
        </p:spPr>
        <p:txBody>
          <a:bodyPr wrap="square" lIns="0" tIns="0" rIns="0" bIns="0" rtlCol="0" anchor="t"/>
          <a:lstStyle/>
          <a:p>
            <a:pPr indent="0" marL="0">
              <a:buNone/>
            </a:pPr>
            <a:r>
              <a:rPr lang="en-US" sz="1200" dirty="0">
                <a:solidFill>
                  <a:schemeClr val="accent6"/>
                </a:solidFill>
              </a:rPr>
              <a:t>session key shared by every gateway VM</a:t>
            </a:r>
            <a:endParaRPr lang="en-US" sz="1200" dirty="0"/>
          </a:p>
        </p:txBody>
      </p:sp>
      <p:sp>
        <p:nvSpPr>
          <p:cNvPr id="34" name="Text 27"/>
          <p:cNvSpPr txBox="1"/>
          <p:nvPr/>
        </p:nvSpPr>
        <p:spPr>
          <a:xfrm>
            <a:off x="6858000" y="4562856"/>
            <a:ext cx="4510735" cy="274320"/>
          </a:xfrm>
          <a:prstGeom prst="rect">
            <a:avLst/>
          </a:prstGeom>
          <a:noFill/>
          <a:ln/>
        </p:spPr>
        <p:txBody>
          <a:bodyPr wrap="square" lIns="0" tIns="0" rIns="0" bIns="0" rtlCol="0" anchor="t"/>
          <a:lstStyle/>
          <a:p>
            <a:pPr indent="0" marL="0">
              <a:buNone/>
            </a:pPr>
            <a:r>
              <a:rPr lang="en-US" sz="1300" b="1" dirty="0">
                <a:solidFill>
                  <a:schemeClr val="accent4"/>
                </a:solidFill>
                <a:latin typeface="Courier New" pitchFamily="34" charset="0"/>
                <a:ea typeface="Courier New" pitchFamily="34" charset="-122"/>
                <a:cs typeface="Courier New" pitchFamily="34" charset="-120"/>
              </a:rPr>
              <a:t>personal/{user_id or gst_…}/…</a:t>
            </a:r>
            <a:endParaRPr lang="en-US" sz="1300" dirty="0"/>
          </a:p>
        </p:txBody>
      </p:sp>
      <p:sp>
        <p:nvSpPr>
          <p:cNvPr id="35" name="Text 28"/>
          <p:cNvSpPr txBox="1"/>
          <p:nvPr/>
        </p:nvSpPr>
        <p:spPr>
          <a:xfrm>
            <a:off x="6858000" y="4837176"/>
            <a:ext cx="4510735" cy="274320"/>
          </a:xfrm>
          <a:prstGeom prst="rect">
            <a:avLst/>
          </a:prstGeom>
          <a:noFill/>
          <a:ln/>
        </p:spPr>
        <p:txBody>
          <a:bodyPr wrap="square" lIns="0" tIns="0" rIns="0" bIns="0" rtlCol="0" anchor="t"/>
          <a:lstStyle/>
          <a:p>
            <a:pPr indent="0" marL="0">
              <a:buNone/>
            </a:pPr>
            <a:r>
              <a:rPr lang="en-US" sz="1200" dirty="0">
                <a:solidFill>
                  <a:schemeClr val="accent6"/>
                </a:solidFill>
              </a:rPr>
              <a:t>the vault's photos (guest vaults expire after a day)</a:t>
            </a:r>
            <a:endParaRPr lang="en-US" sz="1200" dirty="0"/>
          </a:p>
        </p:txBody>
      </p:sp>
      <p:sp>
        <p:nvSpPr>
          <p:cNvPr id="36" name="Text 29"/>
          <p:cNvSpPr txBox="1"/>
          <p:nvPr/>
        </p:nvSpPr>
        <p:spPr>
          <a:xfrm>
            <a:off x="6858000" y="5257800"/>
            <a:ext cx="4510735" cy="640080"/>
          </a:xfrm>
          <a:prstGeom prst="rect">
            <a:avLst/>
          </a:prstGeom>
          <a:noFill/>
          <a:ln/>
        </p:spPr>
        <p:txBody>
          <a:bodyPr wrap="square" lIns="0" tIns="0" rIns="0" bIns="0" rtlCol="0" anchor="t"/>
          <a:lstStyle/>
          <a:p>
            <a:pPr indent="0" marL="0">
              <a:buNone/>
            </a:pPr>
            <a:r>
              <a:rPr lang="en-US" sz="1150" i="1" dirty="0">
                <a:solidFill>
                  <a:schemeClr val="accent6"/>
                </a:solidFill>
              </a:rPr>
              <a:t>Signed HttpOnly session cookie · lockout after 10 failed logins · forgot-password link (email delivery is future scope)</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4 · MULTI-ENGINE COMPUTE CORE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Four render engines, all on CPUs</a:t>
            </a:r>
            <a:endParaRPr lang="en-US" sz="3400" dirty="0"/>
          </a:p>
        </p:txBody>
      </p:sp>
      <p:sp>
        <p:nvSpPr>
          <p:cNvPr id="4" name="engine-0"/>
          <p:cNvSpPr/>
          <p:nvPr/>
        </p:nvSpPr>
        <p:spPr>
          <a:xfrm>
            <a:off x="548640" y="1737360"/>
            <a:ext cx="2602154" cy="4297680"/>
          </a:xfrm>
          <a:prstGeom prst="roundRect">
            <a:avLst>
              <a:gd name="adj" fmla="val 421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5" name="badge-FaTableCells"/>
          <p:cNvSpPr/>
          <p:nvPr/>
        </p:nvSpPr>
        <p:spPr>
          <a:xfrm>
            <a:off x="804672" y="2011680"/>
            <a:ext cx="640080" cy="640080"/>
          </a:xfrm>
          <a:prstGeom prst="roundRect">
            <a:avLst>
              <a:gd name="adj" fmla="val 14286"/>
            </a:avLst>
          </a:prstGeom>
          <a:solidFill>
            <a:srgbClr val="CFFAFE"/>
          </a:solidFill>
          <a:ln/>
        </p:spPr>
      </p:sp>
      <p:pic>
        <p:nvPicPr>
          <p:cNvPr id="6" name="Image 0" descr="TableCells">    </p:cNvPr>
          <p:cNvPicPr>
            <a:picLocks noChangeAspect="1"/>
          </p:cNvPicPr>
          <p:nvPr/>
        </p:nvPicPr>
        <p:blipFill>
          <a:blip r:embed="rId1"/>
          <a:stretch>
            <a:fillRect/>
          </a:stretch>
        </p:blipFill>
        <p:spPr>
          <a:xfrm>
            <a:off x="958291" y="2165299"/>
            <a:ext cx="332842" cy="332842"/>
          </a:xfrm>
          <a:prstGeom prst="rect">
            <a:avLst/>
          </a:prstGeom>
        </p:spPr>
      </p:pic>
      <p:sp>
        <p:nvSpPr>
          <p:cNvPr id="7" name="Text 4"/>
          <p:cNvSpPr txBox="1"/>
          <p:nvPr/>
        </p:nvSpPr>
        <p:spPr>
          <a:xfrm>
            <a:off x="804672" y="2852928"/>
            <a:ext cx="209009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MODE 1</a:t>
            </a:r>
            <a:endParaRPr lang="en-US" sz="1200" dirty="0"/>
          </a:p>
        </p:txBody>
      </p:sp>
      <p:sp>
        <p:nvSpPr>
          <p:cNvPr id="8" name="Text 5"/>
          <p:cNvSpPr txBox="1"/>
          <p:nvPr/>
        </p:nvSpPr>
        <p:spPr>
          <a:xfrm>
            <a:off x="804672" y="3127248"/>
            <a:ext cx="2090090" cy="411480"/>
          </a:xfrm>
          <a:prstGeom prst="rect">
            <a:avLst/>
          </a:prstGeom>
          <a:noFill/>
          <a:ln/>
        </p:spPr>
        <p:txBody>
          <a:bodyPr wrap="square" lIns="0" tIns="0" rIns="0" bIns="0" rtlCol="0" anchor="t"/>
          <a:lstStyle/>
          <a:p>
            <a:pPr indent="0" marL="0">
              <a:buNone/>
            </a:pPr>
            <a:r>
              <a:rPr lang="en-US" sz="1900" b="1" dirty="0">
                <a:solidFill>
                  <a:schemeClr val="tx1"/>
                </a:solidFill>
              </a:rPr>
              <a:t>Photomosaic</a:t>
            </a:r>
            <a:endParaRPr lang="en-US" sz="1900" dirty="0"/>
          </a:p>
        </p:txBody>
      </p:sp>
      <p:sp>
        <p:nvSpPr>
          <p:cNvPr id="9" name="Text 6"/>
          <p:cNvSpPr txBox="1"/>
          <p:nvPr/>
        </p:nvSpPr>
        <p:spPr>
          <a:xfrm>
            <a:off x="804672" y="3657600"/>
            <a:ext cx="2090090" cy="2194560"/>
          </a:xfrm>
          <a:prstGeom prst="rect">
            <a:avLst/>
          </a:prstGeom>
          <a:noFill/>
          <a:ln/>
        </p:spPr>
        <p:txBody>
          <a:bodyPr wrap="square" lIns="0" tIns="0" rIns="0" bIns="0" rtlCol="0" anchor="t"/>
          <a:lstStyle/>
          <a:p>
            <a:pPr indent="0" marL="0">
              <a:buNone/>
            </a:pPr>
            <a:r>
              <a:rPr lang="en-US" sz="1300" dirty="0">
                <a:solidFill>
                  <a:schemeClr val="tx2"/>
                </a:solidFill>
              </a:rPr>
              <a:t>Two-stage search: a matrix product shortlists 256 photos per cell, CIEDE2000 picks the best. No-repeat radius, personal / community blend.</a:t>
            </a:r>
            <a:endParaRPr lang="en-US" sz="1300" dirty="0"/>
          </a:p>
        </p:txBody>
      </p:sp>
      <p:sp>
        <p:nvSpPr>
          <p:cNvPr id="10" name="engine-1"/>
          <p:cNvSpPr/>
          <p:nvPr/>
        </p:nvSpPr>
        <p:spPr>
          <a:xfrm>
            <a:off x="3379394" y="1737360"/>
            <a:ext cx="2602154" cy="4297680"/>
          </a:xfrm>
          <a:prstGeom prst="roundRect">
            <a:avLst>
              <a:gd name="adj" fmla="val 421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1" name="badge-FaFont"/>
          <p:cNvSpPr/>
          <p:nvPr/>
        </p:nvSpPr>
        <p:spPr>
          <a:xfrm>
            <a:off x="3635426" y="2011680"/>
            <a:ext cx="640080" cy="640080"/>
          </a:xfrm>
          <a:prstGeom prst="roundRect">
            <a:avLst>
              <a:gd name="adj" fmla="val 14286"/>
            </a:avLst>
          </a:prstGeom>
          <a:solidFill>
            <a:srgbClr val="FCE7F3"/>
          </a:solidFill>
          <a:ln/>
        </p:spPr>
      </p:sp>
      <p:pic>
        <p:nvPicPr>
          <p:cNvPr id="12" name="Image 1" descr="Font">    </p:cNvPr>
          <p:cNvPicPr>
            <a:picLocks noChangeAspect="1"/>
          </p:cNvPicPr>
          <p:nvPr/>
        </p:nvPicPr>
        <p:blipFill>
          <a:blip r:embed="rId2"/>
          <a:stretch>
            <a:fillRect/>
          </a:stretch>
        </p:blipFill>
        <p:spPr>
          <a:xfrm>
            <a:off x="3789045" y="2165299"/>
            <a:ext cx="332842" cy="332842"/>
          </a:xfrm>
          <a:prstGeom prst="rect">
            <a:avLst/>
          </a:prstGeom>
        </p:spPr>
      </p:pic>
      <p:sp>
        <p:nvSpPr>
          <p:cNvPr id="13" name="Text 9"/>
          <p:cNvSpPr txBox="1"/>
          <p:nvPr/>
        </p:nvSpPr>
        <p:spPr>
          <a:xfrm>
            <a:off x="3635426" y="2852928"/>
            <a:ext cx="209009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MODE 2</a:t>
            </a:r>
            <a:endParaRPr lang="en-US" sz="1200" dirty="0"/>
          </a:p>
        </p:txBody>
      </p:sp>
      <p:sp>
        <p:nvSpPr>
          <p:cNvPr id="14" name="Text 10"/>
          <p:cNvSpPr txBox="1"/>
          <p:nvPr/>
        </p:nvSpPr>
        <p:spPr>
          <a:xfrm>
            <a:off x="3635426" y="3127248"/>
            <a:ext cx="2090090" cy="411480"/>
          </a:xfrm>
          <a:prstGeom prst="rect">
            <a:avLst/>
          </a:prstGeom>
          <a:noFill/>
          <a:ln/>
        </p:spPr>
        <p:txBody>
          <a:bodyPr wrap="square" lIns="0" tIns="0" rIns="0" bIns="0" rtlCol="0" anchor="t"/>
          <a:lstStyle/>
          <a:p>
            <a:pPr indent="0" marL="0">
              <a:buNone/>
            </a:pPr>
            <a:r>
              <a:rPr lang="en-US" sz="1900" b="1" dirty="0">
                <a:solidFill>
                  <a:schemeClr val="tx1"/>
                </a:solidFill>
              </a:rPr>
              <a:t>Sobel ASCII</a:t>
            </a:r>
            <a:endParaRPr lang="en-US" sz="1900" dirty="0"/>
          </a:p>
        </p:txBody>
      </p:sp>
      <p:sp>
        <p:nvSpPr>
          <p:cNvPr id="15" name="Text 11"/>
          <p:cNvSpPr txBox="1"/>
          <p:nvPr/>
        </p:nvSpPr>
        <p:spPr>
          <a:xfrm>
            <a:off x="3635426" y="3657600"/>
            <a:ext cx="2090090" cy="2194560"/>
          </a:xfrm>
          <a:prstGeom prst="rect">
            <a:avLst/>
          </a:prstGeom>
          <a:noFill/>
          <a:ln/>
        </p:spPr>
        <p:txBody>
          <a:bodyPr wrap="square" lIns="0" tIns="0" rIns="0" bIns="0" rtlCol="0" anchor="t"/>
          <a:lstStyle/>
          <a:p>
            <a:pPr indent="0" marL="0">
              <a:buNone/>
            </a:pPr>
            <a:r>
              <a:rPr lang="en-US" sz="1300" dirty="0">
                <a:solidFill>
                  <a:schemeClr val="tx2"/>
                </a:solidFill>
              </a:rPr>
              <a:t>CLAHE-equalised brightness picks from a 70-glyph ramp; strong edges become ─ │ ╱ ╲. True Color paints each glyph in the photo's own colour.</a:t>
            </a:r>
            <a:endParaRPr lang="en-US" sz="1300" dirty="0"/>
          </a:p>
        </p:txBody>
      </p:sp>
      <p:sp>
        <p:nvSpPr>
          <p:cNvPr id="16" name="engine-2"/>
          <p:cNvSpPr/>
          <p:nvPr/>
        </p:nvSpPr>
        <p:spPr>
          <a:xfrm>
            <a:off x="6210148" y="1737360"/>
            <a:ext cx="2602154" cy="4297680"/>
          </a:xfrm>
          <a:prstGeom prst="roundRect">
            <a:avLst>
              <a:gd name="adj" fmla="val 421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17" name="badge-FaPaintbrush"/>
          <p:cNvSpPr/>
          <p:nvPr/>
        </p:nvSpPr>
        <p:spPr>
          <a:xfrm>
            <a:off x="6466180" y="2011680"/>
            <a:ext cx="640080" cy="640080"/>
          </a:xfrm>
          <a:prstGeom prst="roundRect">
            <a:avLst>
              <a:gd name="adj" fmla="val 14286"/>
            </a:avLst>
          </a:prstGeom>
          <a:solidFill>
            <a:srgbClr val="EDE9FE"/>
          </a:solidFill>
          <a:ln/>
        </p:spPr>
      </p:sp>
      <p:pic>
        <p:nvPicPr>
          <p:cNvPr id="18" name="Image 2" descr="Paintbrush">    </p:cNvPr>
          <p:cNvPicPr>
            <a:picLocks noChangeAspect="1"/>
          </p:cNvPicPr>
          <p:nvPr/>
        </p:nvPicPr>
        <p:blipFill>
          <a:blip r:embed="rId3"/>
          <a:stretch>
            <a:fillRect/>
          </a:stretch>
        </p:blipFill>
        <p:spPr>
          <a:xfrm>
            <a:off x="6619799" y="2165299"/>
            <a:ext cx="332842" cy="332842"/>
          </a:xfrm>
          <a:prstGeom prst="rect">
            <a:avLst/>
          </a:prstGeom>
        </p:spPr>
      </p:pic>
      <p:sp>
        <p:nvSpPr>
          <p:cNvPr id="19" name="Text 14"/>
          <p:cNvSpPr txBox="1"/>
          <p:nvPr/>
        </p:nvSpPr>
        <p:spPr>
          <a:xfrm>
            <a:off x="6466180" y="2852928"/>
            <a:ext cx="209009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MODE 3</a:t>
            </a:r>
            <a:endParaRPr lang="en-US" sz="1200" dirty="0"/>
          </a:p>
        </p:txBody>
      </p:sp>
      <p:sp>
        <p:nvSpPr>
          <p:cNvPr id="20" name="Text 15"/>
          <p:cNvSpPr txBox="1"/>
          <p:nvPr/>
        </p:nvSpPr>
        <p:spPr>
          <a:xfrm>
            <a:off x="6466180" y="3127248"/>
            <a:ext cx="2090090" cy="411480"/>
          </a:xfrm>
          <a:prstGeom prst="rect">
            <a:avLst/>
          </a:prstGeom>
          <a:noFill/>
          <a:ln/>
        </p:spPr>
        <p:txBody>
          <a:bodyPr wrap="square" lIns="0" tIns="0" rIns="0" bIns="0" rtlCol="0" anchor="t"/>
          <a:lstStyle/>
          <a:p>
            <a:pPr indent="0" marL="0">
              <a:buNone/>
            </a:pPr>
            <a:r>
              <a:rPr lang="en-US" sz="1900" b="1" dirty="0">
                <a:solidFill>
                  <a:schemeClr val="tx1"/>
                </a:solidFill>
              </a:rPr>
              <a:t>Kuwahara oil</a:t>
            </a:r>
            <a:endParaRPr lang="en-US" sz="1900" dirty="0"/>
          </a:p>
        </p:txBody>
      </p:sp>
      <p:sp>
        <p:nvSpPr>
          <p:cNvPr id="21" name="Text 16"/>
          <p:cNvSpPr txBox="1"/>
          <p:nvPr/>
        </p:nvSpPr>
        <p:spPr>
          <a:xfrm>
            <a:off x="6466180" y="3657600"/>
            <a:ext cx="2090090" cy="2194560"/>
          </a:xfrm>
          <a:prstGeom prst="rect">
            <a:avLst/>
          </a:prstGeom>
          <a:noFill/>
          <a:ln/>
        </p:spPr>
        <p:txBody>
          <a:bodyPr wrap="square" lIns="0" tIns="0" rIns="0" bIns="0" rtlCol="0" anchor="t"/>
          <a:lstStyle/>
          <a:p>
            <a:pPr indent="0" marL="0">
              <a:buNone/>
            </a:pPr>
            <a:r>
              <a:rPr lang="en-US" sz="1300" dirty="0">
                <a:solidFill>
                  <a:schemeClr val="tx2"/>
                </a:solidFill>
              </a:rPr>
              <a:t>Each pixel takes the mean colour of the calmest of its four quadrant windows. Fully vectorised box filters: a 4K frame in about 0.3 s.</a:t>
            </a:r>
            <a:endParaRPr lang="en-US" sz="1300" dirty="0"/>
          </a:p>
        </p:txBody>
      </p:sp>
      <p:sp>
        <p:nvSpPr>
          <p:cNvPr id="22" name="engine-3"/>
          <p:cNvSpPr/>
          <p:nvPr/>
        </p:nvSpPr>
        <p:spPr>
          <a:xfrm>
            <a:off x="9040901" y="1737360"/>
            <a:ext cx="2602154" cy="4297680"/>
          </a:xfrm>
          <a:prstGeom prst="roundRect">
            <a:avLst>
              <a:gd name="adj" fmla="val 4217"/>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23" name="badge-FaWind"/>
          <p:cNvSpPr/>
          <p:nvPr/>
        </p:nvSpPr>
        <p:spPr>
          <a:xfrm>
            <a:off x="9296933" y="2011680"/>
            <a:ext cx="640080" cy="640080"/>
          </a:xfrm>
          <a:prstGeom prst="roundRect">
            <a:avLst>
              <a:gd name="adj" fmla="val 14286"/>
            </a:avLst>
          </a:prstGeom>
          <a:solidFill>
            <a:srgbClr val="CFFAFE"/>
          </a:solidFill>
          <a:ln/>
        </p:spPr>
      </p:sp>
      <p:pic>
        <p:nvPicPr>
          <p:cNvPr id="24" name="Image 3" descr="Wind">    </p:cNvPr>
          <p:cNvPicPr>
            <a:picLocks noChangeAspect="1"/>
          </p:cNvPicPr>
          <p:nvPr/>
        </p:nvPicPr>
        <p:blipFill>
          <a:blip r:embed="rId4"/>
          <a:stretch>
            <a:fillRect/>
          </a:stretch>
        </p:blipFill>
        <p:spPr>
          <a:xfrm>
            <a:off x="9450553" y="2165299"/>
            <a:ext cx="332842" cy="332842"/>
          </a:xfrm>
          <a:prstGeom prst="rect">
            <a:avLst/>
          </a:prstGeom>
        </p:spPr>
      </p:pic>
      <p:sp>
        <p:nvSpPr>
          <p:cNvPr id="25" name="Text 19"/>
          <p:cNvSpPr txBox="1"/>
          <p:nvPr/>
        </p:nvSpPr>
        <p:spPr>
          <a:xfrm>
            <a:off x="9296933" y="2852928"/>
            <a:ext cx="209009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MODE 4</a:t>
            </a:r>
            <a:endParaRPr lang="en-US" sz="1200" dirty="0"/>
          </a:p>
        </p:txBody>
      </p:sp>
      <p:sp>
        <p:nvSpPr>
          <p:cNvPr id="26" name="Text 20"/>
          <p:cNvSpPr txBox="1"/>
          <p:nvPr/>
        </p:nvSpPr>
        <p:spPr>
          <a:xfrm>
            <a:off x="9296933" y="3127248"/>
            <a:ext cx="2090090" cy="411480"/>
          </a:xfrm>
          <a:prstGeom prst="rect">
            <a:avLst/>
          </a:prstGeom>
          <a:noFill/>
          <a:ln/>
        </p:spPr>
        <p:txBody>
          <a:bodyPr wrap="square" lIns="0" tIns="0" rIns="0" bIns="0" rtlCol="0" anchor="t"/>
          <a:lstStyle/>
          <a:p>
            <a:pPr indent="0" marL="0">
              <a:buNone/>
            </a:pPr>
            <a:r>
              <a:rPr lang="en-US" sz="1900" b="1" dirty="0">
                <a:solidFill>
                  <a:schemeClr val="tx1"/>
                </a:solidFill>
              </a:rPr>
              <a:t>Vector flow field</a:t>
            </a:r>
            <a:endParaRPr lang="en-US" sz="1900" dirty="0"/>
          </a:p>
        </p:txBody>
      </p:sp>
      <p:sp>
        <p:nvSpPr>
          <p:cNvPr id="27" name="Text 21"/>
          <p:cNvSpPr txBox="1"/>
          <p:nvPr/>
        </p:nvSpPr>
        <p:spPr>
          <a:xfrm>
            <a:off x="9296933" y="3657600"/>
            <a:ext cx="2090090" cy="2194560"/>
          </a:xfrm>
          <a:prstGeom prst="rect">
            <a:avLst/>
          </a:prstGeom>
          <a:noFill/>
          <a:ln/>
        </p:spPr>
        <p:txBody>
          <a:bodyPr wrap="square" lIns="0" tIns="0" rIns="0" bIns="0" rtlCol="0" anchor="t"/>
          <a:lstStyle/>
          <a:p>
            <a:pPr indent="0" marL="0">
              <a:buNone/>
            </a:pPr>
            <a:r>
              <a:rPr lang="en-US" sz="1300" dirty="0">
                <a:solidFill>
                  <a:schemeClr val="tx2"/>
                </a:solidFill>
              </a:rPr>
              <a:t>Brush strokes follow the edge direction, θ = atan2(Gy, Gx) + π/2, traced in RK2 steps and painted in the photo's colours.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4"/>
                </a:solidFill>
              </a:rPr>
              <a:t>WHY IT'S DISTRIBUTED</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One render, shared between many workers</a:t>
            </a:r>
            <a:endParaRPr lang="en-US" sz="3400" dirty="0"/>
          </a:p>
        </p:txBody>
      </p:sp>
      <p:sp>
        <p:nvSpPr>
          <p:cNvPr id="4" name="Text 2"/>
          <p:cNvSpPr txBox="1"/>
          <p:nvPr/>
        </p:nvSpPr>
        <p:spPr>
          <a:xfrm>
            <a:off x="548640" y="2011680"/>
            <a:ext cx="2286000" cy="109728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2,700</a:t>
            </a:r>
            <a:endParaRPr lang="en-US" sz="5400" dirty="0"/>
          </a:p>
        </p:txBody>
      </p:sp>
      <p:sp>
        <p:nvSpPr>
          <p:cNvPr id="5" name="Text 3"/>
          <p:cNvSpPr txBox="1"/>
          <p:nvPr/>
        </p:nvSpPr>
        <p:spPr>
          <a:xfrm>
            <a:off x="548640" y="3154680"/>
            <a:ext cx="2377440" cy="548640"/>
          </a:xfrm>
          <a:prstGeom prst="rect">
            <a:avLst/>
          </a:prstGeom>
          <a:noFill/>
          <a:ln/>
        </p:spPr>
        <p:txBody>
          <a:bodyPr wrap="square" lIns="0" tIns="0" rIns="0" bIns="0" rtlCol="0" anchor="t"/>
          <a:lstStyle/>
          <a:p>
            <a:pPr indent="0" marL="0">
              <a:buNone/>
            </a:pPr>
            <a:r>
              <a:rPr lang="en-US" sz="1500" dirty="0">
                <a:solidFill>
                  <a:schemeClr val="accent6"/>
                </a:solidFill>
              </a:rPr>
              <a:t>tiles in a 60 × 45 grid</a:t>
            </a:r>
            <a:endParaRPr lang="en-US" sz="1500" dirty="0"/>
          </a:p>
        </p:txBody>
      </p:sp>
      <p:sp>
        <p:nvSpPr>
          <p:cNvPr id="6" name="Text 4"/>
          <p:cNvSpPr txBox="1"/>
          <p:nvPr/>
        </p:nvSpPr>
        <p:spPr>
          <a:xfrm>
            <a:off x="2907792" y="2212848"/>
            <a:ext cx="411480" cy="731520"/>
          </a:xfrm>
          <a:prstGeom prst="rect">
            <a:avLst/>
          </a:prstGeom>
          <a:noFill/>
          <a:ln/>
        </p:spPr>
        <p:txBody>
          <a:bodyPr wrap="square" lIns="0" tIns="0" rIns="0" bIns="0" rtlCol="0" anchor="t"/>
          <a:lstStyle/>
          <a:p>
            <a:pPr indent="0" marL="0">
              <a:buNone/>
            </a:pPr>
            <a:r>
              <a:rPr lang="en-US" sz="2800" dirty="0">
                <a:solidFill>
                  <a:schemeClr val="accent6"/>
                </a:solidFill>
              </a:rPr>
              <a:t>→</a:t>
            </a:r>
            <a:endParaRPr lang="en-US" sz="2800" dirty="0"/>
          </a:p>
        </p:txBody>
      </p:sp>
      <p:sp>
        <p:nvSpPr>
          <p:cNvPr id="7" name="Text 5"/>
          <p:cNvSpPr txBox="1"/>
          <p:nvPr/>
        </p:nvSpPr>
        <p:spPr>
          <a:xfrm>
            <a:off x="3364992" y="2011680"/>
            <a:ext cx="2286000" cy="109728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9</a:t>
            </a:r>
            <a:endParaRPr lang="en-US" sz="5400" dirty="0"/>
          </a:p>
        </p:txBody>
      </p:sp>
      <p:sp>
        <p:nvSpPr>
          <p:cNvPr id="8" name="Text 6"/>
          <p:cNvSpPr txBox="1"/>
          <p:nvPr/>
        </p:nvSpPr>
        <p:spPr>
          <a:xfrm>
            <a:off x="3364992" y="3154680"/>
            <a:ext cx="2377440" cy="548640"/>
          </a:xfrm>
          <a:prstGeom prst="rect">
            <a:avLst/>
          </a:prstGeom>
          <a:noFill/>
          <a:ln/>
        </p:spPr>
        <p:txBody>
          <a:bodyPr wrap="square" lIns="0" tIns="0" rIns="0" bIns="0" rtlCol="0" anchor="t"/>
          <a:lstStyle/>
          <a:p>
            <a:pPr indent="0" marL="0">
              <a:buNone/>
            </a:pPr>
            <a:r>
              <a:rPr lang="en-US" sz="1500" dirty="0">
                <a:solidFill>
                  <a:schemeClr val="accent6"/>
                </a:solidFill>
              </a:rPr>
              <a:t>row-band chunks</a:t>
            </a:r>
            <a:endParaRPr lang="en-US" sz="1500" dirty="0"/>
          </a:p>
        </p:txBody>
      </p:sp>
      <p:sp>
        <p:nvSpPr>
          <p:cNvPr id="9" name="Text 7"/>
          <p:cNvSpPr txBox="1"/>
          <p:nvPr/>
        </p:nvSpPr>
        <p:spPr>
          <a:xfrm>
            <a:off x="5724144" y="2212848"/>
            <a:ext cx="411480" cy="731520"/>
          </a:xfrm>
          <a:prstGeom prst="rect">
            <a:avLst/>
          </a:prstGeom>
          <a:noFill/>
          <a:ln/>
        </p:spPr>
        <p:txBody>
          <a:bodyPr wrap="square" lIns="0" tIns="0" rIns="0" bIns="0" rtlCol="0" anchor="t"/>
          <a:lstStyle/>
          <a:p>
            <a:pPr indent="0" marL="0">
              <a:buNone/>
            </a:pPr>
            <a:r>
              <a:rPr lang="en-US" sz="2800" dirty="0">
                <a:solidFill>
                  <a:schemeClr val="accent6"/>
                </a:solidFill>
              </a:rPr>
              <a:t>→</a:t>
            </a:r>
            <a:endParaRPr lang="en-US" sz="2800" dirty="0"/>
          </a:p>
        </p:txBody>
      </p:sp>
      <p:sp>
        <p:nvSpPr>
          <p:cNvPr id="10" name="Text 8"/>
          <p:cNvSpPr txBox="1"/>
          <p:nvPr/>
        </p:nvSpPr>
        <p:spPr>
          <a:xfrm>
            <a:off x="6181344" y="2011680"/>
            <a:ext cx="2286000" cy="109728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3</a:t>
            </a:r>
            <a:endParaRPr lang="en-US" sz="5400" dirty="0"/>
          </a:p>
        </p:txBody>
      </p:sp>
      <p:sp>
        <p:nvSpPr>
          <p:cNvPr id="11" name="Text 9"/>
          <p:cNvSpPr txBox="1"/>
          <p:nvPr/>
        </p:nvSpPr>
        <p:spPr>
          <a:xfrm>
            <a:off x="6181344" y="3154680"/>
            <a:ext cx="2377440" cy="548640"/>
          </a:xfrm>
          <a:prstGeom prst="rect">
            <a:avLst/>
          </a:prstGeom>
          <a:noFill/>
          <a:ln/>
        </p:spPr>
        <p:txBody>
          <a:bodyPr wrap="square" lIns="0" tIns="0" rIns="0" bIns="0" rtlCol="0" anchor="t"/>
          <a:lstStyle/>
          <a:p>
            <a:pPr indent="0" marL="0">
              <a:buNone/>
            </a:pPr>
            <a:r>
              <a:rPr lang="en-US" sz="1500" dirty="0">
                <a:solidFill>
                  <a:schemeClr val="accent6"/>
                </a:solidFill>
              </a:rPr>
              <a:t>workers at the same time</a:t>
            </a:r>
            <a:endParaRPr lang="en-US" sz="1500" dirty="0"/>
          </a:p>
        </p:txBody>
      </p:sp>
      <p:sp>
        <p:nvSpPr>
          <p:cNvPr id="12" name="Text 10"/>
          <p:cNvSpPr txBox="1"/>
          <p:nvPr/>
        </p:nvSpPr>
        <p:spPr>
          <a:xfrm>
            <a:off x="8540496" y="2212848"/>
            <a:ext cx="411480" cy="731520"/>
          </a:xfrm>
          <a:prstGeom prst="rect">
            <a:avLst/>
          </a:prstGeom>
          <a:noFill/>
          <a:ln/>
        </p:spPr>
        <p:txBody>
          <a:bodyPr wrap="square" lIns="0" tIns="0" rIns="0" bIns="0" rtlCol="0" anchor="t"/>
          <a:lstStyle/>
          <a:p>
            <a:pPr indent="0" marL="0">
              <a:buNone/>
            </a:pPr>
            <a:r>
              <a:rPr lang="en-US" sz="2800" dirty="0">
                <a:solidFill>
                  <a:schemeClr val="accent6"/>
                </a:solidFill>
              </a:rPr>
              <a:t>→</a:t>
            </a:r>
            <a:endParaRPr lang="en-US" sz="2800" dirty="0"/>
          </a:p>
        </p:txBody>
      </p:sp>
      <p:sp>
        <p:nvSpPr>
          <p:cNvPr id="13" name="Text 11"/>
          <p:cNvSpPr txBox="1"/>
          <p:nvPr/>
        </p:nvSpPr>
        <p:spPr>
          <a:xfrm>
            <a:off x="8997696" y="2011680"/>
            <a:ext cx="2286000" cy="109728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~7 s</a:t>
            </a:r>
            <a:endParaRPr lang="en-US" sz="5400" dirty="0"/>
          </a:p>
        </p:txBody>
      </p:sp>
      <p:sp>
        <p:nvSpPr>
          <p:cNvPr id="14" name="Text 12"/>
          <p:cNvSpPr txBox="1"/>
          <p:nvPr/>
        </p:nvSpPr>
        <p:spPr>
          <a:xfrm>
            <a:off x="8997696" y="3154680"/>
            <a:ext cx="2377440" cy="548640"/>
          </a:xfrm>
          <a:prstGeom prst="rect">
            <a:avLst/>
          </a:prstGeom>
          <a:noFill/>
          <a:ln/>
        </p:spPr>
        <p:txBody>
          <a:bodyPr wrap="square" lIns="0" tIns="0" rIns="0" bIns="0" rtlCol="0" anchor="t"/>
          <a:lstStyle/>
          <a:p>
            <a:pPr indent="0" marL="0">
              <a:buNone/>
            </a:pPr>
            <a:r>
              <a:rPr lang="en-US" sz="1500" dirty="0">
                <a:solidFill>
                  <a:schemeClr val="accent6"/>
                </a:solidFill>
              </a:rPr>
              <a:t>for an 8,000 px image</a:t>
            </a:r>
            <a:endParaRPr lang="en-US" sz="1500" dirty="0"/>
          </a:p>
        </p:txBody>
      </p:sp>
      <p:sp>
        <p:nvSpPr>
          <p:cNvPr id="15" name="Text 13"/>
          <p:cNvSpPr txBox="1"/>
          <p:nvPr/>
        </p:nvSpPr>
        <p:spPr>
          <a:xfrm>
            <a:off x="548640" y="4343400"/>
            <a:ext cx="10607040" cy="1371600"/>
          </a:xfrm>
          <a:prstGeom prst="rect">
            <a:avLst/>
          </a:prstGeom>
          <a:noFill/>
          <a:ln/>
        </p:spPr>
        <p:txBody>
          <a:bodyPr wrap="square" lIns="0" tIns="0" rIns="0" bIns="0" rtlCol="0" anchor="t"/>
          <a:lstStyle/>
          <a:p>
            <a:pPr indent="0" marL="0">
              <a:buNone/>
            </a:pPr>
            <a:r>
              <a:rPr lang="en-US" sz="1600" dirty="0">
                <a:solidFill>
                  <a:schemeClr val="accent6"/>
                </a:solidFill>
              </a:rPr>
              <a:t>Each worker </a:t>
            </a:r>
            <a:pPr indent="0" marL="0">
              <a:buNone/>
            </a:pPr>
            <a:r>
              <a:rPr lang="en-US" sz="1600" b="1" dirty="0">
                <a:solidFill>
                  <a:schemeClr val="bg1"/>
                </a:solidFill>
              </a:rPr>
              <a:t>claims</a:t>
            </a:r>
            <a:pPr indent="0" marL="0">
              <a:buNone/>
            </a:pPr>
            <a:r>
              <a:rPr lang="en-US" sz="1600" dirty="0">
                <a:solidFill>
                  <a:schemeClr val="accent6"/>
                </a:solidFill>
              </a:rPr>
              <a:t> a chunk by writing a lock file in the bucket and keeps renewing it while it works, so no two workers do the same piece. If a Spot VM is preempted, its lock expires after </a:t>
            </a:r>
            <a:pPr indent="0" marL="0">
              <a:buNone/>
            </a:pPr>
            <a:r>
              <a:rPr lang="en-US" sz="1600" b="1" dirty="0">
                <a:solidFill>
                  <a:schemeClr val="bg1"/>
                </a:solidFill>
              </a:rPr>
              <a:t>120 seconds</a:t>
            </a:r>
            <a:pPr indent="0" marL="0">
              <a:buNone/>
            </a:pPr>
            <a:r>
              <a:rPr lang="en-US" sz="1600" dirty="0">
                <a:solidFill>
                  <a:schemeClr val="accent6"/>
                </a:solidFill>
              </a:rPr>
              <a:t> and another worker finishes the chunk. Neighbouring bands run in two waves, so the no-repeat rule holds across chunk boundaries.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6 &amp; 8.2 · OBSERVABILITY AND ADMIN</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System numbers stay behind the scenes</a:t>
            </a:r>
            <a:endParaRPr lang="en-US" sz="3400" dirty="0"/>
          </a:p>
        </p:txBody>
      </p:sp>
      <p:sp>
        <p:nvSpPr>
          <p:cNvPr id="4" name="admin-frame"/>
          <p:cNvSpPr/>
          <p:nvPr/>
        </p:nvSpPr>
        <p:spPr>
          <a:xfrm>
            <a:off x="4800600" y="1645920"/>
            <a:ext cx="6839712" cy="4389120"/>
          </a:xfrm>
          <a:prstGeom prst="roundRect">
            <a:avLst>
              <a:gd name="adj" fmla="val 2083"/>
            </a:avLst>
          </a:prstGeom>
          <a:solidFill>
            <a:schemeClr val="tx1"/>
          </a:solidFill>
          <a:ln/>
        </p:spPr>
      </p:sp>
      <p:pic>
        <p:nvPicPr>
          <p:cNvPr id="5" name="Image 0" descr="Admin cluster health dashboard with live worker nodes and charts">    </p:cNvPr>
          <p:cNvPicPr>
            <a:picLocks noChangeAspect="1"/>
          </p:cNvPicPr>
          <p:nvPr/>
        </p:nvPicPr>
        <p:blipFill>
          <a:blip r:embed="rId1"/>
          <a:stretch>
            <a:fillRect/>
          </a:stretch>
        </p:blipFill>
        <p:spPr>
          <a:xfrm>
            <a:off x="4855464" y="1700784"/>
            <a:ext cx="6729984" cy="4261104"/>
          </a:xfrm>
          <a:prstGeom prst="rect">
            <a:avLst/>
          </a:prstGeom>
        </p:spPr>
      </p:pic>
      <p:sp>
        <p:nvSpPr>
          <p:cNvPr id="6" name="badge-FaChartLine"/>
          <p:cNvSpPr/>
          <p:nvPr/>
        </p:nvSpPr>
        <p:spPr>
          <a:xfrm>
            <a:off x="548640" y="1691640"/>
            <a:ext cx="548640" cy="548640"/>
          </a:xfrm>
          <a:prstGeom prst="roundRect">
            <a:avLst>
              <a:gd name="adj" fmla="val 16667"/>
            </a:avLst>
          </a:prstGeom>
          <a:solidFill>
            <a:srgbClr val="CFFAFE"/>
          </a:solidFill>
          <a:ln/>
        </p:spPr>
      </p:sp>
      <p:pic>
        <p:nvPicPr>
          <p:cNvPr id="7" name="Image 1" descr="ChartLine">    </p:cNvPr>
          <p:cNvPicPr>
            <a:picLocks noChangeAspect="1"/>
          </p:cNvPicPr>
          <p:nvPr/>
        </p:nvPicPr>
        <p:blipFill>
          <a:blip r:embed="rId2"/>
          <a:stretch>
            <a:fillRect/>
          </a:stretch>
        </p:blipFill>
        <p:spPr>
          <a:xfrm>
            <a:off x="680314" y="1823314"/>
            <a:ext cx="285293" cy="285293"/>
          </a:xfrm>
          <a:prstGeom prst="rect">
            <a:avLst/>
          </a:prstGeom>
        </p:spPr>
      </p:pic>
      <p:sp>
        <p:nvSpPr>
          <p:cNvPr id="8" name="Text 4"/>
          <p:cNvSpPr txBox="1"/>
          <p:nvPr/>
        </p:nvSpPr>
        <p:spPr>
          <a:xfrm>
            <a:off x="1280160" y="1673352"/>
            <a:ext cx="3383280" cy="320040"/>
          </a:xfrm>
          <a:prstGeom prst="rect">
            <a:avLst/>
          </a:prstGeom>
          <a:noFill/>
          <a:ln/>
        </p:spPr>
        <p:txBody>
          <a:bodyPr wrap="square" lIns="0" tIns="0" rIns="0" bIns="0" rtlCol="0" anchor="t"/>
          <a:lstStyle/>
          <a:p>
            <a:pPr indent="0" marL="0">
              <a:buNone/>
            </a:pPr>
            <a:r>
              <a:rPr lang="en-US" sz="1600" b="1" dirty="0">
                <a:solidFill>
                  <a:schemeClr val="tx1"/>
                </a:solidFill>
              </a:rPr>
              <a:t>What admins see</a:t>
            </a:r>
            <a:endParaRPr lang="en-US" sz="1600" dirty="0"/>
          </a:p>
        </p:txBody>
      </p:sp>
      <p:sp>
        <p:nvSpPr>
          <p:cNvPr id="9" name="Text 5"/>
          <p:cNvSpPr txBox="1"/>
          <p:nvPr/>
        </p:nvSpPr>
        <p:spPr>
          <a:xfrm>
            <a:off x="1280160" y="2020824"/>
            <a:ext cx="3383280" cy="685800"/>
          </a:xfrm>
          <a:prstGeom prst="rect">
            <a:avLst/>
          </a:prstGeom>
          <a:noFill/>
          <a:ln/>
        </p:spPr>
        <p:txBody>
          <a:bodyPr wrap="square" lIns="0" tIns="0" rIns="0" bIns="0" rtlCol="0" anchor="t"/>
          <a:lstStyle/>
          <a:p>
            <a:pPr indent="0" marL="0">
              <a:buNone/>
            </a:pPr>
            <a:r>
              <a:rPr lang="en-US" sz="1300" dirty="0">
                <a:solidFill>
                  <a:schemeClr val="tx2"/>
                </a:solidFill>
              </a:rPr>
              <a:t>Live nodes, CPU per worker and per core, tiles per second, queue depth; live pulse, every 5 s</a:t>
            </a:r>
            <a:endParaRPr lang="en-US" sz="1300" dirty="0"/>
          </a:p>
        </p:txBody>
      </p:sp>
      <p:sp>
        <p:nvSpPr>
          <p:cNvPr id="10" name="badge-FaArrowsUpDown"/>
          <p:cNvSpPr/>
          <p:nvPr/>
        </p:nvSpPr>
        <p:spPr>
          <a:xfrm>
            <a:off x="548640" y="2788920"/>
            <a:ext cx="548640" cy="548640"/>
          </a:xfrm>
          <a:prstGeom prst="roundRect">
            <a:avLst>
              <a:gd name="adj" fmla="val 16667"/>
            </a:avLst>
          </a:prstGeom>
          <a:solidFill>
            <a:srgbClr val="CFFAFE"/>
          </a:solidFill>
          <a:ln/>
        </p:spPr>
      </p:sp>
      <p:pic>
        <p:nvPicPr>
          <p:cNvPr id="11" name="Image 2" descr="ArrowsUpDown">    </p:cNvPr>
          <p:cNvPicPr>
            <a:picLocks noChangeAspect="1"/>
          </p:cNvPicPr>
          <p:nvPr/>
        </p:nvPicPr>
        <p:blipFill>
          <a:blip r:embed="rId3"/>
          <a:stretch>
            <a:fillRect/>
          </a:stretch>
        </p:blipFill>
        <p:spPr>
          <a:xfrm>
            <a:off x="680314" y="2920594"/>
            <a:ext cx="285293" cy="285293"/>
          </a:xfrm>
          <a:prstGeom prst="rect">
            <a:avLst/>
          </a:prstGeom>
        </p:spPr>
      </p:pic>
      <p:sp>
        <p:nvSpPr>
          <p:cNvPr id="12" name="Text 7"/>
          <p:cNvSpPr txBox="1"/>
          <p:nvPr/>
        </p:nvSpPr>
        <p:spPr>
          <a:xfrm>
            <a:off x="1280160" y="2770632"/>
            <a:ext cx="3383280" cy="320040"/>
          </a:xfrm>
          <a:prstGeom prst="rect">
            <a:avLst/>
          </a:prstGeom>
          <a:noFill/>
          <a:ln/>
        </p:spPr>
        <p:txBody>
          <a:bodyPr wrap="square" lIns="0" tIns="0" rIns="0" bIns="0" rtlCol="0" anchor="t"/>
          <a:lstStyle/>
          <a:p>
            <a:pPr indent="0" marL="0">
              <a:buNone/>
            </a:pPr>
            <a:r>
              <a:rPr lang="en-US" sz="1600" b="1" dirty="0">
                <a:solidFill>
                  <a:schemeClr val="tx1"/>
                </a:solidFill>
              </a:rPr>
              <a:t>Scaling history</a:t>
            </a:r>
            <a:endParaRPr lang="en-US" sz="1600" dirty="0"/>
          </a:p>
        </p:txBody>
      </p:sp>
      <p:sp>
        <p:nvSpPr>
          <p:cNvPr id="13" name="Text 8"/>
          <p:cNvSpPr txBox="1"/>
          <p:nvPr/>
        </p:nvSpPr>
        <p:spPr>
          <a:xfrm>
            <a:off x="1280160" y="3118104"/>
            <a:ext cx="3383280" cy="685800"/>
          </a:xfrm>
          <a:prstGeom prst="rect">
            <a:avLst/>
          </a:prstGeom>
          <a:noFill/>
          <a:ln/>
        </p:spPr>
        <p:txBody>
          <a:bodyPr wrap="square" lIns="0" tIns="0" rIns="0" bIns="0" rtlCol="0" anchor="t"/>
          <a:lstStyle/>
          <a:p>
            <a:pPr indent="0" marL="0">
              <a:buNone/>
            </a:pPr>
            <a:r>
              <a:rPr lang="en-US" sz="1300" dirty="0">
                <a:solidFill>
                  <a:schemeClr val="tx2"/>
                </a:solidFill>
              </a:rPr>
              <a:t>Node count over time, plus every VM joining or leaving the cluster</a:t>
            </a:r>
            <a:endParaRPr lang="en-US" sz="1300" dirty="0"/>
          </a:p>
        </p:txBody>
      </p:sp>
      <p:sp>
        <p:nvSpPr>
          <p:cNvPr id="14" name="badge-FaImages"/>
          <p:cNvSpPr/>
          <p:nvPr/>
        </p:nvSpPr>
        <p:spPr>
          <a:xfrm>
            <a:off x="548640" y="3886200"/>
            <a:ext cx="548640" cy="548640"/>
          </a:xfrm>
          <a:prstGeom prst="roundRect">
            <a:avLst>
              <a:gd name="adj" fmla="val 16667"/>
            </a:avLst>
          </a:prstGeom>
          <a:solidFill>
            <a:srgbClr val="CFFAFE"/>
          </a:solidFill>
          <a:ln/>
        </p:spPr>
      </p:sp>
      <p:pic>
        <p:nvPicPr>
          <p:cNvPr id="15" name="Image 3" descr="Images">    </p:cNvPr>
          <p:cNvPicPr>
            <a:picLocks noChangeAspect="1"/>
          </p:cNvPicPr>
          <p:nvPr/>
        </p:nvPicPr>
        <p:blipFill>
          <a:blip r:embed="rId4"/>
          <a:stretch>
            <a:fillRect/>
          </a:stretch>
        </p:blipFill>
        <p:spPr>
          <a:xfrm>
            <a:off x="680314" y="4017874"/>
            <a:ext cx="285293" cy="285293"/>
          </a:xfrm>
          <a:prstGeom prst="rect">
            <a:avLst/>
          </a:prstGeom>
        </p:spPr>
      </p:pic>
      <p:sp>
        <p:nvSpPr>
          <p:cNvPr id="16" name="Text 10"/>
          <p:cNvSpPr txBox="1"/>
          <p:nvPr/>
        </p:nvSpPr>
        <p:spPr>
          <a:xfrm>
            <a:off x="1280160" y="3867912"/>
            <a:ext cx="3383280" cy="320040"/>
          </a:xfrm>
          <a:prstGeom prst="rect">
            <a:avLst/>
          </a:prstGeom>
          <a:noFill/>
          <a:ln/>
        </p:spPr>
        <p:txBody>
          <a:bodyPr wrap="square" lIns="0" tIns="0" rIns="0" bIns="0" rtlCol="0" anchor="t"/>
          <a:lstStyle/>
          <a:p>
            <a:pPr indent="0" marL="0">
              <a:buNone/>
            </a:pPr>
            <a:r>
              <a:rPr lang="en-US" sz="1600" b="1" dirty="0">
                <a:solidFill>
                  <a:schemeClr val="tx1"/>
                </a:solidFill>
              </a:rPr>
              <a:t>Community moderation</a:t>
            </a:r>
            <a:endParaRPr lang="en-US" sz="1600" dirty="0"/>
          </a:p>
        </p:txBody>
      </p:sp>
      <p:sp>
        <p:nvSpPr>
          <p:cNvPr id="17" name="Text 11"/>
          <p:cNvSpPr txBox="1"/>
          <p:nvPr/>
        </p:nvSpPr>
        <p:spPr>
          <a:xfrm>
            <a:off x="1280160" y="4215384"/>
            <a:ext cx="3383280" cy="685800"/>
          </a:xfrm>
          <a:prstGeom prst="rect">
            <a:avLst/>
          </a:prstGeom>
          <a:noFill/>
          <a:ln/>
        </p:spPr>
        <p:txBody>
          <a:bodyPr wrap="square" lIns="0" tIns="0" rIns="0" bIns="0" rtlCol="0" anchor="t"/>
          <a:lstStyle/>
          <a:p>
            <a:pPr indent="0" marL="0">
              <a:buNone/>
            </a:pPr>
            <a:r>
              <a:rPr lang="en-US" sz="1300" dirty="0">
                <a:solidFill>
                  <a:schemeClr val="tx2"/>
                </a:solidFill>
              </a:rPr>
              <a:t>Browse every community photo and delete any of them</a:t>
            </a:r>
            <a:endParaRPr lang="en-US" sz="1300" dirty="0"/>
          </a:p>
        </p:txBody>
      </p:sp>
      <p:sp>
        <p:nvSpPr>
          <p:cNvPr id="18" name="badge-FaUserShield"/>
          <p:cNvSpPr/>
          <p:nvPr/>
        </p:nvSpPr>
        <p:spPr>
          <a:xfrm>
            <a:off x="548640" y="4983480"/>
            <a:ext cx="548640" cy="548640"/>
          </a:xfrm>
          <a:prstGeom prst="roundRect">
            <a:avLst>
              <a:gd name="adj" fmla="val 16667"/>
            </a:avLst>
          </a:prstGeom>
          <a:solidFill>
            <a:srgbClr val="CFFAFE"/>
          </a:solidFill>
          <a:ln/>
        </p:spPr>
      </p:sp>
      <p:pic>
        <p:nvPicPr>
          <p:cNvPr id="19" name="Image 4" descr="UserShield">    </p:cNvPr>
          <p:cNvPicPr>
            <a:picLocks noChangeAspect="1"/>
          </p:cNvPicPr>
          <p:nvPr/>
        </p:nvPicPr>
        <p:blipFill>
          <a:blip r:embed="rId5"/>
          <a:stretch>
            <a:fillRect/>
          </a:stretch>
        </p:blipFill>
        <p:spPr>
          <a:xfrm>
            <a:off x="680314" y="5115154"/>
            <a:ext cx="285293" cy="285293"/>
          </a:xfrm>
          <a:prstGeom prst="rect">
            <a:avLst/>
          </a:prstGeom>
        </p:spPr>
      </p:pic>
      <p:sp>
        <p:nvSpPr>
          <p:cNvPr id="20" name="Text 13"/>
          <p:cNvSpPr txBox="1"/>
          <p:nvPr/>
        </p:nvSpPr>
        <p:spPr>
          <a:xfrm>
            <a:off x="1280160" y="4965192"/>
            <a:ext cx="3383280" cy="320040"/>
          </a:xfrm>
          <a:prstGeom prst="rect">
            <a:avLst/>
          </a:prstGeom>
          <a:noFill/>
          <a:ln/>
        </p:spPr>
        <p:txBody>
          <a:bodyPr wrap="square" lIns="0" tIns="0" rIns="0" bIns="0" rtlCol="0" anchor="t"/>
          <a:lstStyle/>
          <a:p>
            <a:pPr indent="0" marL="0">
              <a:buNone/>
            </a:pPr>
            <a:r>
              <a:rPr lang="en-US" sz="1600" b="1" dirty="0">
                <a:solidFill>
                  <a:schemeClr val="tx1"/>
                </a:solidFill>
              </a:rPr>
              <a:t>Who sees it</a:t>
            </a:r>
            <a:endParaRPr lang="en-US" sz="1600" dirty="0"/>
          </a:p>
        </p:txBody>
      </p:sp>
      <p:sp>
        <p:nvSpPr>
          <p:cNvPr id="21" name="Text 14"/>
          <p:cNvSpPr txBox="1"/>
          <p:nvPr/>
        </p:nvSpPr>
        <p:spPr>
          <a:xfrm>
            <a:off x="1280160" y="5312664"/>
            <a:ext cx="3383280" cy="685800"/>
          </a:xfrm>
          <a:prstGeom prst="rect">
            <a:avLst/>
          </a:prstGeom>
          <a:noFill/>
          <a:ln/>
        </p:spPr>
        <p:txBody>
          <a:bodyPr wrap="square" lIns="0" tIns="0" rIns="0" bIns="0" rtlCol="0" anchor="t"/>
          <a:lstStyle/>
          <a:p>
            <a:pPr indent="0" marL="0">
              <a:buNone/>
            </a:pPr>
            <a:r>
              <a:rPr lang="en-US" sz="1300" dirty="0">
                <a:solidFill>
                  <a:schemeClr val="tx2"/>
                </a:solidFill>
              </a:rPr>
              <a:t>Unlisted URL, never linked or indexed; deleting needs an admin account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9 · DUAL ENVIRONMENT: WRITE ONCE, RUN ANYWHERE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Same code on a laptop and on Google Cloud</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11680"/>
                <a:gridCol w="4343400"/>
                <a:gridCol w="4736592"/>
              </a:tblGrid>
              <a:tr h="502920">
                <a:tc>
                  <a:txBody>
                    <a:bodyPr/>
                    <a:lstStyle/>
                    <a:p>
                      <a:pPr indent="0" marL="0">
                        <a:buNone/>
                      </a:pPr>
                      <a:r>
                        <a:rPr lang="en-US" sz="1400" b="1" dirty="0">
                          <a:solidFill>
                            <a:schemeClr val="bg1"/>
                          </a:solidFill>
                        </a:rPr>
                        <a:t>Setting</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LOCAL (Docker Compose)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PROD (Google Cloud)</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502920">
                <a:tc>
                  <a:txBody>
                    <a:bodyPr/>
                    <a:lstStyle/>
                    <a:p>
                      <a:pPr indent="0" marL="0">
                        <a:buNone/>
                      </a:pPr>
                      <a:r>
                        <a:rPr lang="en-US" sz="1400" b="1" dirty="0">
                          <a:solidFill>
                            <a:schemeClr val="tx1"/>
                          </a:solidFill>
                        </a:rPr>
                        <a:t>USE_GCP</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false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true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Storage</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MinIO, private network only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Cloud Storage, 4 private buckets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502920">
                <a:tc>
                  <a:txBody>
                    <a:bodyPr/>
                    <a:lstStyle/>
                    <a:p>
                      <a:pPr indent="0" marL="0">
                        <a:buNone/>
                      </a:pPr>
                      <a:r>
                        <a:rPr lang="en-US" sz="1400" b="1" dirty="0">
                          <a:solidFill>
                            <a:schemeClr val="tx1"/>
                          </a:solidFill>
                        </a:rPr>
                        <a:t>Entry point</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Frontend on port 3000, the only open port</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External Application Load Balancer</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Workers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Compose replicas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Spot VM group, autoscaled 1–7</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502920">
                <a:tc>
                  <a:txBody>
                    <a:bodyPr/>
                    <a:lstStyle/>
                    <a:p>
                      <a:pPr indent="0" marL="0">
                        <a:buNone/>
                      </a:pPr>
                      <a:r>
                        <a:rPr lang="en-US" sz="1400" b="1" dirty="0">
                          <a:solidFill>
                            <a:schemeClr val="tx1"/>
                          </a:solidFill>
                        </a:rPr>
                        <a:t>Health</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Container health checks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LB health checks + MIG auto-healing</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Images</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docker compose build</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c>
                  <a:txBody>
                    <a:bodyPr/>
                    <a:lstStyle/>
                    <a:p>
                      <a:pPr indent="0" marL="0">
                        <a:buNone/>
                      </a:pPr>
                      <a:r>
                        <a:rPr lang="en-US" sz="1400" dirty="0">
                          <a:solidFill>
                            <a:schemeClr val="tx1"/>
                          </a:solidFill>
                        </a:rPr>
                        <a:t>Cloud Build → Artifact Registry</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7ECF5"/>
                    </a:solidFill>
                  </a:tcPr>
                </a:tc>
              </a:tr>
              <a:tr h="502920">
                <a:tc>
                  <a:txBody>
                    <a:bodyPr/>
                    <a:lstStyle/>
                    <a:p>
                      <a:pPr indent="0" marL="0">
                        <a:buNone/>
                      </a:pPr>
                      <a:r>
                        <a:rPr lang="en-US" sz="1400" b="1" dirty="0">
                          <a:solidFill>
                            <a:schemeClr val="tx1"/>
                          </a:solidFill>
                        </a:rPr>
                        <a:t>Setup</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docker-compose.yml</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Terraform + one deploy script</a:t>
                      </a:r>
                      <a:endParaRPr lang="en-US" sz="1400" dirty="0"/>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200" i="1" dirty="0">
                <a:solidFill>
                  <a:schemeClr val="tx2"/>
                </a:solidFill>
              </a:rPr>
              <a:t>The production code path was also tested locally against a Cloud Storage emulator before deploying.</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PROGRESS AGAINST THE BRD</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Core platform delivered and deployed</a:t>
            </a:r>
            <a:endParaRPr lang="en-US" sz="3400" dirty="0"/>
          </a:p>
        </p:txBody>
      </p:sp>
      <p:sp>
        <p:nvSpPr>
          <p:cNvPr id="4" name="done-card"/>
          <p:cNvSpPr/>
          <p:nvPr/>
        </p:nvSpPr>
        <p:spPr>
          <a:xfrm>
            <a:off x="548640" y="1691640"/>
            <a:ext cx="7040880" cy="4434840"/>
          </a:xfrm>
          <a:prstGeom prst="roundRect">
            <a:avLst>
              <a:gd name="adj" fmla="val 2474"/>
            </a:avLst>
          </a:prstGeom>
          <a:solidFill>
            <a:schemeClr val="bg1"/>
          </a:solidFill>
          <a:ln w="12700">
            <a:solidFill>
              <a:srgbClr val="DCE3EE"/>
            </a:solidFill>
            <a:prstDash val="solid"/>
          </a:ln>
          <a:effectLst>
            <a:outerShdw sx="100000" sy="100000" kx="0" ky="0" algn="bl" rotWithShape="0" blurRad="76200" dist="25400" dir="5400000">
              <a:srgbClr val="0B0F19">
                <a:alpha val="8000"/>
              </a:srgbClr>
            </a:outerShdw>
          </a:effectLst>
        </p:spPr>
      </p:sp>
      <p:sp>
        <p:nvSpPr>
          <p:cNvPr id="5" name="badge-FaCheck"/>
          <p:cNvSpPr/>
          <p:nvPr/>
        </p:nvSpPr>
        <p:spPr>
          <a:xfrm>
            <a:off x="868680" y="1920240"/>
            <a:ext cx="566928" cy="566928"/>
          </a:xfrm>
          <a:prstGeom prst="roundRect">
            <a:avLst>
              <a:gd name="adj" fmla="val 16129"/>
            </a:avLst>
          </a:prstGeom>
          <a:solidFill>
            <a:srgbClr val="CFFAFE"/>
          </a:solidFill>
          <a:ln/>
        </p:spPr>
      </p:sp>
      <p:pic>
        <p:nvPicPr>
          <p:cNvPr id="6" name="Image 0" descr="Check">    </p:cNvPr>
          <p:cNvPicPr>
            <a:picLocks noChangeAspect="1"/>
          </p:cNvPicPr>
          <p:nvPr/>
        </p:nvPicPr>
        <p:blipFill>
          <a:blip r:embed="rId1"/>
          <a:stretch>
            <a:fillRect/>
          </a:stretch>
        </p:blipFill>
        <p:spPr>
          <a:xfrm>
            <a:off x="1004743" y="2056303"/>
            <a:ext cx="294803" cy="294803"/>
          </a:xfrm>
          <a:prstGeom prst="rect">
            <a:avLst/>
          </a:prstGeom>
        </p:spPr>
      </p:pic>
      <p:sp>
        <p:nvSpPr>
          <p:cNvPr id="7" name="Text 4"/>
          <p:cNvSpPr txBox="1"/>
          <p:nvPr/>
        </p:nvSpPr>
        <p:spPr>
          <a:xfrm>
            <a:off x="1600200" y="1965960"/>
            <a:ext cx="5486400" cy="457200"/>
          </a:xfrm>
          <a:prstGeom prst="rect">
            <a:avLst/>
          </a:prstGeom>
          <a:noFill/>
          <a:ln/>
        </p:spPr>
        <p:txBody>
          <a:bodyPr wrap="square" lIns="0" tIns="0" rIns="0" bIns="0" rtlCol="0" anchor="t"/>
          <a:lstStyle/>
          <a:p>
            <a:pPr indent="0" marL="0">
              <a:buNone/>
            </a:pPr>
            <a:r>
              <a:rPr lang="en-US" sz="2200" b="1" dirty="0">
                <a:solidFill>
                  <a:schemeClr val="tx1"/>
                </a:solidFill>
              </a:rPr>
              <a:t>Delivered</a:t>
            </a:r>
            <a:endParaRPr lang="en-US" sz="2200" dirty="0"/>
          </a:p>
        </p:txBody>
      </p:sp>
      <p:sp>
        <p:nvSpPr>
          <p:cNvPr id="8" name="Text 5"/>
          <p:cNvSpPr txBox="1"/>
          <p:nvPr/>
        </p:nvSpPr>
        <p:spPr>
          <a:xfrm>
            <a:off x="914400" y="2651760"/>
            <a:ext cx="6400800" cy="33832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1"/>
                </a:solidFill>
              </a:rPr>
              <a:t>Bucket-only storage, MinIO ⇄ Cloud Storage (§3, §9)</a:t>
            </a:r>
            <a:endParaRPr lang="en-US" sz="1450" dirty="0"/>
          </a:p>
          <a:p>
            <a:pPr marL="342900" indent="-342900">
              <a:spcAft>
                <a:spcPts val="400"/>
              </a:spcAft>
              <a:buSzPct val="100000"/>
              <a:buChar char="•"/>
            </a:pPr>
            <a:r>
              <a:rPr lang="en-US" sz="1450" dirty="0">
                <a:solidFill>
                  <a:schemeClr val="tx1"/>
                </a:solidFill>
              </a:rPr>
              <a:t>Photomosaic, ASCII, Kuwahara and flow-field engines (§4)</a:t>
            </a:r>
            <a:endParaRPr lang="en-US" sz="1450" dirty="0"/>
          </a:p>
          <a:p>
            <a:pPr marL="342900" indent="-342900">
              <a:spcAft>
                <a:spcPts val="400"/>
              </a:spcAft>
              <a:buSzPct val="100000"/>
              <a:buChar char="•"/>
            </a:pPr>
            <a:r>
              <a:rPr lang="en-US" sz="1450" dirty="0">
                <a:solidFill>
                  <a:schemeClr val="tx1"/>
                </a:solidFill>
              </a:rPr>
              <a:t>Blend slider, strict tag filters, no-repeat, live alpha-tint (§8.1)</a:t>
            </a:r>
            <a:endParaRPr lang="en-US" sz="1450" dirty="0"/>
          </a:p>
          <a:p>
            <a:pPr marL="342900" indent="-342900">
              <a:spcAft>
                <a:spcPts val="400"/>
              </a:spcAft>
              <a:buSzPct val="100000"/>
              <a:buChar char="•"/>
            </a:pPr>
            <a:r>
              <a:rPr lang="en-US" sz="1450" dirty="0">
                <a:solidFill>
                  <a:schemeClr val="tx1"/>
                </a:solidFill>
              </a:rPr>
              <a:t>Optional accounts: guest vaults, saved vaults, self-service /account</a:t>
            </a:r>
            <a:endParaRPr lang="en-US" sz="1450" dirty="0"/>
          </a:p>
          <a:p>
            <a:pPr marL="342900" indent="-342900">
              <a:spcAft>
                <a:spcPts val="400"/>
              </a:spcAft>
              <a:buSzPct val="100000"/>
              <a:buChar char="•"/>
            </a:pPr>
            <a:r>
              <a:rPr lang="en-US" sz="1450" dirty="0">
                <a:solidFill>
                  <a:schemeClr val="tx1"/>
                </a:solidFill>
              </a:rPr>
              <a:t>Fly-in assembly, tile inspector, community moderation</a:t>
            </a:r>
            <a:endParaRPr lang="en-US" sz="1450" dirty="0"/>
          </a:p>
          <a:p>
            <a:pPr marL="342900" indent="-342900">
              <a:spcAft>
                <a:spcPts val="400"/>
              </a:spcAft>
              <a:buSzPct val="100000"/>
              <a:buChar char="•"/>
            </a:pPr>
            <a:r>
              <a:rPr lang="en-US" sz="1450" dirty="0">
                <a:solidFill>
                  <a:schemeClr val="tx1"/>
                </a:solidFill>
              </a:rPr>
              <a:t>Drag-and-drop uploads through the API Gateway (§4.1)</a:t>
            </a:r>
            <a:endParaRPr lang="en-US" sz="1450" dirty="0"/>
          </a:p>
          <a:p>
            <a:pPr marL="342900" indent="-342900">
              <a:spcAft>
                <a:spcPts val="400"/>
              </a:spcAft>
              <a:buSzPct val="100000"/>
              <a:buChar char="•"/>
            </a:pPr>
            <a:r>
              <a:rPr lang="en-US" sz="1450" dirty="0">
                <a:solidFill>
                  <a:schemeClr val="tx1"/>
                </a:solidFill>
              </a:rPr>
              <a:t>Live cluster telemetry on an unlisted admin URL (§6, §8.2)</a:t>
            </a:r>
            <a:endParaRPr lang="en-US" sz="1450" dirty="0"/>
          </a:p>
          <a:p>
            <a:pPr marL="342900" indent="-342900">
              <a:spcAft>
                <a:spcPts val="400"/>
              </a:spcAft>
              <a:buSzPct val="100000"/>
              <a:buChar char="•"/>
            </a:pPr>
            <a:r>
              <a:rPr lang="en-US" sz="1450" dirty="0">
                <a:solidFill>
                  <a:schemeClr val="tx1"/>
                </a:solidFill>
              </a:rPr>
              <a:t>Terraform deployment: 4 autoscaled VM groups, load balancers (§2)</a:t>
            </a:r>
            <a:endParaRPr lang="en-US" sz="1450" dirty="0"/>
          </a:p>
          <a:p>
            <a:pPr marL="342900" indent="-342900">
              <a:spcAft>
                <a:spcPts val="400"/>
              </a:spcAft>
              <a:buSzPct val="100000"/>
              <a:buChar char="•"/>
            </a:pPr>
            <a:r>
              <a:rPr lang="en-US" sz="1450" dirty="0">
                <a:solidFill>
                  <a:schemeClr val="tx1"/>
                </a:solidFill>
              </a:rPr>
              <a:t>Search-friendly landing page; 43 automated tests</a:t>
            </a:r>
            <a:endParaRPr lang="en-US" sz="1450" dirty="0"/>
          </a:p>
        </p:txBody>
      </p:sp>
      <p:sp>
        <p:nvSpPr>
          <p:cNvPr id="9" name="live-card"/>
          <p:cNvSpPr/>
          <p:nvPr/>
        </p:nvSpPr>
        <p:spPr>
          <a:xfrm>
            <a:off x="7863840" y="1691640"/>
            <a:ext cx="3776472" cy="4434840"/>
          </a:xfrm>
          <a:prstGeom prst="roundRect">
            <a:avLst>
              <a:gd name="adj" fmla="val 2906"/>
            </a:avLst>
          </a:prstGeom>
          <a:solidFill>
            <a:schemeClr val="tx1"/>
          </a:solidFill>
          <a:ln/>
        </p:spPr>
      </p:sp>
      <p:sp>
        <p:nvSpPr>
          <p:cNvPr id="10" name="badge-FaCloud"/>
          <p:cNvSpPr/>
          <p:nvPr/>
        </p:nvSpPr>
        <p:spPr>
          <a:xfrm>
            <a:off x="8138160" y="1920240"/>
            <a:ext cx="566928" cy="566928"/>
          </a:xfrm>
          <a:prstGeom prst="roundRect">
            <a:avLst>
              <a:gd name="adj" fmla="val 16129"/>
            </a:avLst>
          </a:prstGeom>
          <a:solidFill>
            <a:srgbClr val="1E293B"/>
          </a:solidFill>
          <a:ln/>
        </p:spPr>
      </p:sp>
      <p:pic>
        <p:nvPicPr>
          <p:cNvPr id="11" name="Image 1" descr="Cloud">    </p:cNvPr>
          <p:cNvPicPr>
            <a:picLocks noChangeAspect="1"/>
          </p:cNvPicPr>
          <p:nvPr/>
        </p:nvPicPr>
        <p:blipFill>
          <a:blip r:embed="rId2"/>
          <a:stretch>
            <a:fillRect/>
          </a:stretch>
        </p:blipFill>
        <p:spPr>
          <a:xfrm>
            <a:off x="8274223" y="2056303"/>
            <a:ext cx="294803" cy="294803"/>
          </a:xfrm>
          <a:prstGeom prst="rect">
            <a:avLst/>
          </a:prstGeom>
        </p:spPr>
      </p:pic>
      <p:sp>
        <p:nvSpPr>
          <p:cNvPr id="12" name="Text 8"/>
          <p:cNvSpPr txBox="1"/>
          <p:nvPr/>
        </p:nvSpPr>
        <p:spPr>
          <a:xfrm>
            <a:off x="8138160" y="2651760"/>
            <a:ext cx="3291840" cy="365760"/>
          </a:xfrm>
          <a:prstGeom prst="rect">
            <a:avLst/>
          </a:prstGeom>
          <a:noFill/>
          <a:ln/>
        </p:spPr>
        <p:txBody>
          <a:bodyPr wrap="square" lIns="0" tIns="0" rIns="0" bIns="0" rtlCol="0" anchor="t"/>
          <a:lstStyle/>
          <a:p>
            <a:pPr indent="0" marL="0">
              <a:buNone/>
            </a:pPr>
            <a:r>
              <a:rPr lang="en-US" sz="1800" b="1" dirty="0">
                <a:solidFill>
                  <a:schemeClr val="bg1"/>
                </a:solidFill>
              </a:rPr>
              <a:t>Live on Google Cloud</a:t>
            </a:r>
            <a:endParaRPr lang="en-US" sz="1800" dirty="0"/>
          </a:p>
        </p:txBody>
      </p:sp>
      <p:sp>
        <p:nvSpPr>
          <p:cNvPr id="13" name="Text 9">
            <a:hlinkClick r:id="rId3" tooltip=""/>
          </p:cNvPr>
          <p:cNvSpPr txBox="1"/>
          <p:nvPr/>
        </p:nvSpPr>
        <p:spPr>
          <a:xfrm>
            <a:off x="8138160" y="3063240"/>
            <a:ext cx="3291840" cy="365760"/>
          </a:xfrm>
          <a:prstGeom prst="rect">
            <a:avLst/>
          </a:prstGeom>
          <a:noFill/>
          <a:ln/>
        </p:spPr>
        <p:txBody>
          <a:bodyPr wrap="square" lIns="0" tIns="0" rIns="0" bIns="0" rtlCol="0" anchor="t"/>
          <a:lstStyle/>
          <a:p>
            <a:pPr indent="0" marL="0">
              <a:buNone/>
            </a:pPr>
            <a:r>
              <a:rPr lang="en-US" sz="1600" b="1"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http://8.233.196.233</a:t>
            </a:r>
            <a:endParaRPr lang="en-US" sz="1600" dirty="0"/>
          </a:p>
        </p:txBody>
      </p:sp>
      <p:sp>
        <p:nvSpPr>
          <p:cNvPr id="14" name="Text 10"/>
          <p:cNvSpPr txBox="1"/>
          <p:nvPr/>
        </p:nvSpPr>
        <p:spPr>
          <a:xfrm>
            <a:off x="8138160" y="3703320"/>
            <a:ext cx="3291840" cy="822960"/>
          </a:xfrm>
          <a:prstGeom prst="rect">
            <a:avLst/>
          </a:prstGeom>
          <a:noFill/>
          <a:ln/>
        </p:spPr>
        <p:txBody>
          <a:bodyPr wrap="square" lIns="0" tIns="0" rIns="0" bIns="0" rtlCol="0" anchor="t"/>
          <a:lstStyle/>
          <a:p>
            <a:pPr indent="0" marL="0">
              <a:buNone/>
            </a:pPr>
            <a:r>
              <a:rPr lang="en-US" sz="4800" b="1" dirty="0">
                <a:solidFill>
                  <a:schemeClr val="accent5"/>
                </a:solidFill>
                <a:latin typeface="Arial" pitchFamily="34" charset="0"/>
                <a:ea typeface="Arial" pitchFamily="34" charset="-122"/>
                <a:cs typeface="Arial" pitchFamily="34" charset="-120"/>
              </a:rPr>
              <a:t>44 s</a:t>
            </a:r>
            <a:endParaRPr lang="en-US" sz="4800" dirty="0"/>
          </a:p>
        </p:txBody>
      </p:sp>
      <p:sp>
        <p:nvSpPr>
          <p:cNvPr id="15" name="Text 11"/>
          <p:cNvSpPr txBox="1"/>
          <p:nvPr/>
        </p:nvSpPr>
        <p:spPr>
          <a:xfrm>
            <a:off x="8138160" y="4572000"/>
            <a:ext cx="3291840" cy="1371600"/>
          </a:xfrm>
          <a:prstGeom prst="rect">
            <a:avLst/>
          </a:prstGeom>
          <a:noFill/>
          <a:ln/>
        </p:spPr>
        <p:txBody>
          <a:bodyPr wrap="square" lIns="0" tIns="0" rIns="0" bIns="0" rtlCol="0" anchor="t"/>
          <a:lstStyle/>
          <a:p>
            <a:pPr indent="0" marL="0">
              <a:buNone/>
            </a:pPr>
            <a:r>
              <a:rPr lang="en-US" sz="1300" dirty="0">
                <a:solidFill>
                  <a:schemeClr val="accent6"/>
                </a:solidFill>
              </a:rPr>
              <a:t>end to end on the cloud: 30 photos uploaded, a 2,400-tile mosaic rendered, exported and the vault cleared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92608"/>
          </a:xfrm>
          <a:prstGeom prst="rect">
            <a:avLst/>
          </a:prstGeom>
          <a:noFill/>
          <a:ln/>
        </p:spPr>
        <p:txBody>
          <a:bodyPr wrap="square" lIns="0" tIns="0" rIns="0" bIns="0" rtlCol="0" anchor="ctr"/>
          <a:lstStyle/>
          <a:p>
            <a:pPr algn="l" indent="0" marL="0">
              <a:buNone/>
            </a:pPr>
            <a:r>
              <a:rPr lang="en-US" sz="1200" b="1" spc="300" kern="0" dirty="0">
                <a:solidFill>
                  <a:schemeClr val="accent4"/>
                </a:solidFill>
              </a:rPr>
              <a:t>FUTURE SCOPE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What comes next</a:t>
            </a:r>
            <a:endParaRPr lang="en-US" sz="3400" dirty="0"/>
          </a:p>
        </p:txBody>
      </p:sp>
      <p:sp>
        <p:nvSpPr>
          <p:cNvPr id="4" name="live-arena-card"/>
          <p:cNvSpPr/>
          <p:nvPr/>
        </p:nvSpPr>
        <p:spPr>
          <a:xfrm>
            <a:off x="548640" y="1691640"/>
            <a:ext cx="5669280" cy="4434840"/>
          </a:xfrm>
          <a:prstGeom prst="roundRect">
            <a:avLst>
              <a:gd name="adj" fmla="val 2474"/>
            </a:avLst>
          </a:prstGeom>
          <a:solidFill>
            <a:srgbClr val="151B2B"/>
          </a:solidFill>
          <a:ln w="12700">
            <a:solidFill>
              <a:srgbClr val="26304A"/>
            </a:solidFill>
            <a:prstDash val="solid"/>
          </a:ln>
        </p:spPr>
      </p:sp>
      <p:sp>
        <p:nvSpPr>
          <p:cNvPr id="5" name="badge-FaQrcode"/>
          <p:cNvSpPr/>
          <p:nvPr/>
        </p:nvSpPr>
        <p:spPr>
          <a:xfrm>
            <a:off x="868680" y="1965960"/>
            <a:ext cx="685800" cy="685800"/>
          </a:xfrm>
          <a:prstGeom prst="roundRect">
            <a:avLst>
              <a:gd name="adj" fmla="val 13333"/>
            </a:avLst>
          </a:prstGeom>
          <a:solidFill>
            <a:srgbClr val="1E293B"/>
          </a:solidFill>
          <a:ln/>
        </p:spPr>
      </p:sp>
      <p:pic>
        <p:nvPicPr>
          <p:cNvPr id="6" name="Image 0" descr="Qrcode">    </p:cNvPr>
          <p:cNvPicPr>
            <a:picLocks noChangeAspect="1"/>
          </p:cNvPicPr>
          <p:nvPr/>
        </p:nvPicPr>
        <p:blipFill>
          <a:blip r:embed="rId1"/>
          <a:stretch>
            <a:fillRect/>
          </a:stretch>
        </p:blipFill>
        <p:spPr>
          <a:xfrm>
            <a:off x="1033272" y="2130552"/>
            <a:ext cx="356616" cy="356616"/>
          </a:xfrm>
          <a:prstGeom prst="rect">
            <a:avLst/>
          </a:prstGeom>
        </p:spPr>
      </p:pic>
      <p:sp>
        <p:nvSpPr>
          <p:cNvPr id="7" name="Text 4"/>
          <p:cNvSpPr txBox="1"/>
          <p:nvPr/>
        </p:nvSpPr>
        <p:spPr>
          <a:xfrm>
            <a:off x="1737360" y="2011680"/>
            <a:ext cx="4297680" cy="502920"/>
          </a:xfrm>
          <a:prstGeom prst="rect">
            <a:avLst/>
          </a:prstGeom>
          <a:noFill/>
          <a:ln/>
        </p:spPr>
        <p:txBody>
          <a:bodyPr wrap="square" lIns="0" tIns="0" rIns="0" bIns="0" rtlCol="0" anchor="t"/>
          <a:lstStyle/>
          <a:p>
            <a:pPr indent="0" marL="0">
              <a:buNone/>
            </a:pPr>
            <a:r>
              <a:rPr lang="en-US" sz="2400" b="1" dirty="0">
                <a:solidFill>
                  <a:schemeClr val="bg1"/>
                </a:solidFill>
              </a:rPr>
              <a:t>Live Event Arena</a:t>
            </a:r>
            <a:endParaRPr lang="en-US" sz="2400" dirty="0"/>
          </a:p>
        </p:txBody>
      </p:sp>
      <p:sp>
        <p:nvSpPr>
          <p:cNvPr id="8" name="Text 5"/>
          <p:cNvSpPr txBox="1"/>
          <p:nvPr/>
        </p:nvSpPr>
        <p:spPr>
          <a:xfrm>
            <a:off x="1737360" y="2468880"/>
            <a:ext cx="4297680" cy="320040"/>
          </a:xfrm>
          <a:prstGeom prst="rect">
            <a:avLst/>
          </a:prstGeom>
          <a:noFill/>
          <a:ln/>
        </p:spPr>
        <p:txBody>
          <a:bodyPr wrap="square" lIns="0" tIns="0" rIns="0" bIns="0" rtlCol="0" anchor="t"/>
          <a:lstStyle/>
          <a:p>
            <a:pPr indent="0" marL="0">
              <a:buNone/>
            </a:pPr>
            <a:r>
              <a:rPr lang="en-US" sz="1300" i="1" dirty="0">
                <a:solidFill>
                  <a:schemeClr val="accent5"/>
                </a:solidFill>
              </a:rPr>
              <a:t>Moved from core scope</a:t>
            </a:r>
            <a:endParaRPr lang="en-US" sz="1300" dirty="0"/>
          </a:p>
        </p:txBody>
      </p:sp>
      <p:sp>
        <p:nvSpPr>
          <p:cNvPr id="9" name="Text 6"/>
          <p:cNvSpPr txBox="1"/>
          <p:nvPr/>
        </p:nvSpPr>
        <p:spPr>
          <a:xfrm>
            <a:off x="914400" y="3063240"/>
            <a:ext cx="502920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6"/>
                </a:solidFill>
              </a:rPr>
              <a:t>Organizer uploads the main picture and gets a QR code</a:t>
            </a:r>
            <a:endParaRPr lang="en-US" sz="1500" dirty="0"/>
          </a:p>
          <a:p>
            <a:pPr marL="342900" indent="-342900">
              <a:spcAft>
                <a:spcPts val="800"/>
              </a:spcAft>
              <a:buSzPct val="100000"/>
              <a:buChar char="•"/>
            </a:pPr>
            <a:r>
              <a:rPr lang="en-US" sz="1500" dirty="0">
                <a:solidFill>
                  <a:schemeClr val="accent6"/>
                </a:solidFill>
              </a:rPr>
              <a:t>Attendees scan it and add a selfie from their phone</a:t>
            </a:r>
            <a:endParaRPr lang="en-US" sz="1500" dirty="0"/>
          </a:p>
          <a:p>
            <a:pPr marL="342900" indent="-342900">
              <a:spcAft>
                <a:spcPts val="800"/>
              </a:spcAft>
              <a:buSzPct val="100000"/>
              <a:buChar char="•"/>
            </a:pPr>
            <a:r>
              <a:rPr lang="en-US" sz="1500" dirty="0">
                <a:solidFill>
                  <a:schemeClr val="accent6"/>
                </a:solidFill>
              </a:rPr>
              <a:t>The big screen reveals each new tile with a spotlight</a:t>
            </a:r>
            <a:endParaRPr lang="en-US" sz="1500" dirty="0"/>
          </a:p>
          <a:p>
            <a:pPr marL="342900" indent="-342900">
              <a:spcAft>
                <a:spcPts val="800"/>
              </a:spcAft>
              <a:buSzPct val="100000"/>
              <a:buChar char="•"/>
            </a:pPr>
            <a:r>
              <a:rPr lang="en-US" sz="1500" dirty="0">
                <a:solidFill>
                  <a:schemeClr val="accent6"/>
                </a:solidFill>
              </a:rPr>
              <a:t>"Find My Photo" zooms back to a guest's code, e.g. #T-2506</a:t>
            </a:r>
            <a:endParaRPr lang="en-US" sz="1500" dirty="0"/>
          </a:p>
          <a:p>
            <a:pPr marL="342900" indent="-342900">
              <a:spcAft>
                <a:spcPts val="800"/>
              </a:spcAft>
              <a:buSzPct val="100000"/>
              <a:buChar char="•"/>
            </a:pPr>
            <a:r>
              <a:rPr lang="en-US" sz="1500" dirty="0">
                <a:solidFill>
                  <a:schemeClr val="accent6"/>
                </a:solidFill>
              </a:rPr>
              <a:t>Groundwork in place: event state and tokens already live in buckets</a:t>
            </a:r>
            <a:endParaRPr lang="en-US" sz="1500" dirty="0"/>
          </a:p>
        </p:txBody>
      </p:sp>
      <p:sp>
        <p:nvSpPr>
          <p:cNvPr id="10" name="badge-FaBell"/>
          <p:cNvSpPr/>
          <p:nvPr/>
        </p:nvSpPr>
        <p:spPr>
          <a:xfrm>
            <a:off x="6537960" y="1746504"/>
            <a:ext cx="457200" cy="457200"/>
          </a:xfrm>
          <a:prstGeom prst="roundRect">
            <a:avLst>
              <a:gd name="adj" fmla="val 20000"/>
            </a:avLst>
          </a:prstGeom>
          <a:solidFill>
            <a:srgbClr val="1E293B"/>
          </a:solidFill>
          <a:ln/>
        </p:spPr>
      </p:sp>
      <p:pic>
        <p:nvPicPr>
          <p:cNvPr id="11" name="Image 1" descr="Bell">    </p:cNvPr>
          <p:cNvPicPr>
            <a:picLocks noChangeAspect="1"/>
          </p:cNvPicPr>
          <p:nvPr/>
        </p:nvPicPr>
        <p:blipFill>
          <a:blip r:embed="rId2"/>
          <a:stretch>
            <a:fillRect/>
          </a:stretch>
        </p:blipFill>
        <p:spPr>
          <a:xfrm>
            <a:off x="6647688" y="1856232"/>
            <a:ext cx="237744" cy="237744"/>
          </a:xfrm>
          <a:prstGeom prst="rect">
            <a:avLst/>
          </a:prstGeom>
        </p:spPr>
      </p:pic>
      <p:sp>
        <p:nvSpPr>
          <p:cNvPr id="12" name="Text 8"/>
          <p:cNvSpPr txBox="1"/>
          <p:nvPr/>
        </p:nvSpPr>
        <p:spPr>
          <a:xfrm>
            <a:off x="7178040" y="1691640"/>
            <a:ext cx="4480560" cy="292608"/>
          </a:xfrm>
          <a:prstGeom prst="rect">
            <a:avLst/>
          </a:prstGeom>
          <a:noFill/>
          <a:ln/>
        </p:spPr>
        <p:txBody>
          <a:bodyPr wrap="square" lIns="0" tIns="0" rIns="0" bIns="0" rtlCol="0" anchor="t"/>
          <a:lstStyle/>
          <a:p>
            <a:pPr indent="0" marL="0">
              <a:buNone/>
            </a:pPr>
            <a:r>
              <a:rPr lang="en-US" sz="1500" b="1" dirty="0">
                <a:solidFill>
                  <a:schemeClr val="bg1"/>
                </a:solidFill>
              </a:rPr>
              <a:t>Event-driven ingestion</a:t>
            </a:r>
            <a:endParaRPr lang="en-US" sz="1500" dirty="0"/>
          </a:p>
        </p:txBody>
      </p:sp>
      <p:sp>
        <p:nvSpPr>
          <p:cNvPr id="13" name="Text 9"/>
          <p:cNvSpPr txBox="1"/>
          <p:nvPr/>
        </p:nvSpPr>
        <p:spPr>
          <a:xfrm>
            <a:off x="7178040" y="1993392"/>
            <a:ext cx="4480560" cy="384048"/>
          </a:xfrm>
          <a:prstGeom prst="rect">
            <a:avLst/>
          </a:prstGeom>
          <a:noFill/>
          <a:ln/>
        </p:spPr>
        <p:txBody>
          <a:bodyPr wrap="square" lIns="0" tIns="0" rIns="0" bIns="0" rtlCol="0" anchor="t"/>
          <a:lstStyle/>
          <a:p>
            <a:pPr indent="0" marL="0">
              <a:buNone/>
            </a:pPr>
            <a:r>
              <a:rPr lang="en-US" sz="1200" dirty="0">
                <a:solidFill>
                  <a:schemeClr val="accent6"/>
                </a:solidFill>
              </a:rPr>
              <a:t>Start workers from Cloud Storage events via Pub/Sub, not polling</a:t>
            </a:r>
            <a:endParaRPr lang="en-US" sz="1200" dirty="0"/>
          </a:p>
        </p:txBody>
      </p:sp>
      <p:sp>
        <p:nvSpPr>
          <p:cNvPr id="14" name="badge-FaEnvelope"/>
          <p:cNvSpPr/>
          <p:nvPr/>
        </p:nvSpPr>
        <p:spPr>
          <a:xfrm>
            <a:off x="6537960" y="2487168"/>
            <a:ext cx="457200" cy="457200"/>
          </a:xfrm>
          <a:prstGeom prst="roundRect">
            <a:avLst>
              <a:gd name="adj" fmla="val 20000"/>
            </a:avLst>
          </a:prstGeom>
          <a:solidFill>
            <a:srgbClr val="1E293B"/>
          </a:solidFill>
          <a:ln/>
        </p:spPr>
      </p:sp>
      <p:pic>
        <p:nvPicPr>
          <p:cNvPr id="15" name="Image 2" descr="Envelope">    </p:cNvPr>
          <p:cNvPicPr>
            <a:picLocks noChangeAspect="1"/>
          </p:cNvPicPr>
          <p:nvPr/>
        </p:nvPicPr>
        <p:blipFill>
          <a:blip r:embed="rId3"/>
          <a:stretch>
            <a:fillRect/>
          </a:stretch>
        </p:blipFill>
        <p:spPr>
          <a:xfrm>
            <a:off x="6647688" y="2596896"/>
            <a:ext cx="237744" cy="237744"/>
          </a:xfrm>
          <a:prstGeom prst="rect">
            <a:avLst/>
          </a:prstGeom>
        </p:spPr>
      </p:pic>
      <p:sp>
        <p:nvSpPr>
          <p:cNvPr id="16" name="Text 11"/>
          <p:cNvSpPr txBox="1"/>
          <p:nvPr/>
        </p:nvSpPr>
        <p:spPr>
          <a:xfrm>
            <a:off x="7178040" y="2432304"/>
            <a:ext cx="4480560" cy="292608"/>
          </a:xfrm>
          <a:prstGeom prst="rect">
            <a:avLst/>
          </a:prstGeom>
          <a:noFill/>
          <a:ln/>
        </p:spPr>
        <p:txBody>
          <a:bodyPr wrap="square" lIns="0" tIns="0" rIns="0" bIns="0" rtlCol="0" anchor="t"/>
          <a:lstStyle/>
          <a:p>
            <a:pPr indent="0" marL="0">
              <a:buNone/>
            </a:pPr>
            <a:r>
              <a:rPr lang="en-US" sz="1500" b="1" dirty="0">
                <a:solidFill>
                  <a:schemeClr val="bg1"/>
                </a:solidFill>
              </a:rPr>
              <a:t>Password-reset email</a:t>
            </a:r>
            <a:endParaRPr lang="en-US" sz="1500" dirty="0"/>
          </a:p>
        </p:txBody>
      </p:sp>
      <p:sp>
        <p:nvSpPr>
          <p:cNvPr id="17" name="Text 12"/>
          <p:cNvSpPr txBox="1"/>
          <p:nvPr/>
        </p:nvSpPr>
        <p:spPr>
          <a:xfrm>
            <a:off x="7178040" y="2734056"/>
            <a:ext cx="4480560" cy="384048"/>
          </a:xfrm>
          <a:prstGeom prst="rect">
            <a:avLst/>
          </a:prstGeom>
          <a:noFill/>
          <a:ln/>
        </p:spPr>
        <p:txBody>
          <a:bodyPr wrap="square" lIns="0" tIns="0" rIns="0" bIns="0" rtlCol="0" anchor="t"/>
          <a:lstStyle/>
          <a:p>
            <a:pPr indent="0" marL="0">
              <a:buNone/>
            </a:pPr>
            <a:r>
              <a:rPr lang="en-US" sz="1200" dirty="0">
                <a:solidFill>
                  <a:schemeClr val="accent6"/>
                </a:solidFill>
              </a:rPr>
              <a:t>Email the reset link; today it is written to the server log</a:t>
            </a:r>
            <a:endParaRPr lang="en-US" sz="1200" dirty="0"/>
          </a:p>
        </p:txBody>
      </p:sp>
      <p:sp>
        <p:nvSpPr>
          <p:cNvPr id="18" name="badge-FaKey"/>
          <p:cNvSpPr/>
          <p:nvPr/>
        </p:nvSpPr>
        <p:spPr>
          <a:xfrm>
            <a:off x="6537960" y="3227832"/>
            <a:ext cx="457200" cy="457200"/>
          </a:xfrm>
          <a:prstGeom prst="roundRect">
            <a:avLst>
              <a:gd name="adj" fmla="val 20000"/>
            </a:avLst>
          </a:prstGeom>
          <a:solidFill>
            <a:srgbClr val="1E293B"/>
          </a:solidFill>
          <a:ln/>
        </p:spPr>
      </p:sp>
      <p:pic>
        <p:nvPicPr>
          <p:cNvPr id="19" name="Image 3" descr="Key">    </p:cNvPr>
          <p:cNvPicPr>
            <a:picLocks noChangeAspect="1"/>
          </p:cNvPicPr>
          <p:nvPr/>
        </p:nvPicPr>
        <p:blipFill>
          <a:blip r:embed="rId4"/>
          <a:stretch>
            <a:fillRect/>
          </a:stretch>
        </p:blipFill>
        <p:spPr>
          <a:xfrm>
            <a:off x="6647688" y="3337560"/>
            <a:ext cx="237744" cy="237744"/>
          </a:xfrm>
          <a:prstGeom prst="rect">
            <a:avLst/>
          </a:prstGeom>
        </p:spPr>
      </p:pic>
      <p:sp>
        <p:nvSpPr>
          <p:cNvPr id="20" name="Text 14"/>
          <p:cNvSpPr txBox="1"/>
          <p:nvPr/>
        </p:nvSpPr>
        <p:spPr>
          <a:xfrm>
            <a:off x="7178040" y="3172968"/>
            <a:ext cx="4480560" cy="292608"/>
          </a:xfrm>
          <a:prstGeom prst="rect">
            <a:avLst/>
          </a:prstGeom>
          <a:noFill/>
          <a:ln/>
        </p:spPr>
        <p:txBody>
          <a:bodyPr wrap="square" lIns="0" tIns="0" rIns="0" bIns="0" rtlCol="0" anchor="t"/>
          <a:lstStyle/>
          <a:p>
            <a:pPr indent="0" marL="0">
              <a:buNone/>
            </a:pPr>
            <a:r>
              <a:rPr lang="en-US" sz="1500" b="1" dirty="0">
                <a:solidFill>
                  <a:schemeClr val="bg1"/>
                </a:solidFill>
              </a:rPr>
              <a:t>Admin-only dashboards</a:t>
            </a:r>
            <a:endParaRPr lang="en-US" sz="1500" dirty="0"/>
          </a:p>
        </p:txBody>
      </p:sp>
      <p:sp>
        <p:nvSpPr>
          <p:cNvPr id="21" name="Text 15"/>
          <p:cNvSpPr txBox="1"/>
          <p:nvPr/>
        </p:nvSpPr>
        <p:spPr>
          <a:xfrm>
            <a:off x="7178040" y="3474720"/>
            <a:ext cx="4480560" cy="384048"/>
          </a:xfrm>
          <a:prstGeom prst="rect">
            <a:avLst/>
          </a:prstGeom>
          <a:noFill/>
          <a:ln/>
        </p:spPr>
        <p:txBody>
          <a:bodyPr wrap="square" lIns="0" tIns="0" rIns="0" bIns="0" rtlCol="0" anchor="t"/>
          <a:lstStyle/>
          <a:p>
            <a:pPr indent="0" marL="0">
              <a:buNone/>
            </a:pPr>
            <a:r>
              <a:rPr lang="en-US" sz="1200" dirty="0">
                <a:solidFill>
                  <a:schemeClr val="accent6"/>
                </a:solidFill>
              </a:rPr>
              <a:t>Put the read-only telemetry behind the admin role too</a:t>
            </a:r>
            <a:endParaRPr lang="en-US" sz="1200" dirty="0"/>
          </a:p>
        </p:txBody>
      </p:sp>
      <p:sp>
        <p:nvSpPr>
          <p:cNvPr id="22" name="badge-FaLock"/>
          <p:cNvSpPr/>
          <p:nvPr/>
        </p:nvSpPr>
        <p:spPr>
          <a:xfrm>
            <a:off x="6537960" y="3968496"/>
            <a:ext cx="457200" cy="457200"/>
          </a:xfrm>
          <a:prstGeom prst="roundRect">
            <a:avLst>
              <a:gd name="adj" fmla="val 20000"/>
            </a:avLst>
          </a:prstGeom>
          <a:solidFill>
            <a:srgbClr val="1E293B"/>
          </a:solidFill>
          <a:ln/>
        </p:spPr>
      </p:sp>
      <p:pic>
        <p:nvPicPr>
          <p:cNvPr id="23" name="Image 4" descr="Lock">    </p:cNvPr>
          <p:cNvPicPr>
            <a:picLocks noChangeAspect="1"/>
          </p:cNvPicPr>
          <p:nvPr/>
        </p:nvPicPr>
        <p:blipFill>
          <a:blip r:embed="rId5"/>
          <a:stretch>
            <a:fillRect/>
          </a:stretch>
        </p:blipFill>
        <p:spPr>
          <a:xfrm>
            <a:off x="6647688" y="4078224"/>
            <a:ext cx="237744" cy="237744"/>
          </a:xfrm>
          <a:prstGeom prst="rect">
            <a:avLst/>
          </a:prstGeom>
        </p:spPr>
      </p:pic>
      <p:sp>
        <p:nvSpPr>
          <p:cNvPr id="24" name="Text 17"/>
          <p:cNvSpPr txBox="1"/>
          <p:nvPr/>
        </p:nvSpPr>
        <p:spPr>
          <a:xfrm>
            <a:off x="7178040" y="3913632"/>
            <a:ext cx="4480560" cy="292608"/>
          </a:xfrm>
          <a:prstGeom prst="rect">
            <a:avLst/>
          </a:prstGeom>
          <a:noFill/>
          <a:ln/>
        </p:spPr>
        <p:txBody>
          <a:bodyPr wrap="square" lIns="0" tIns="0" rIns="0" bIns="0" rtlCol="0" anchor="t"/>
          <a:lstStyle/>
          <a:p>
            <a:pPr indent="0" marL="0">
              <a:buNone/>
            </a:pPr>
            <a:r>
              <a:rPr lang="en-US" sz="1500" b="1" dirty="0">
                <a:solidFill>
                  <a:schemeClr val="bg1"/>
                </a:solidFill>
              </a:rPr>
              <a:t>HTTPS on a custom domain</a:t>
            </a:r>
            <a:endParaRPr lang="en-US" sz="1500" dirty="0"/>
          </a:p>
        </p:txBody>
      </p:sp>
      <p:sp>
        <p:nvSpPr>
          <p:cNvPr id="25" name="Text 18"/>
          <p:cNvSpPr txBox="1"/>
          <p:nvPr/>
        </p:nvSpPr>
        <p:spPr>
          <a:xfrm>
            <a:off x="7178040" y="4215384"/>
            <a:ext cx="4480560" cy="384048"/>
          </a:xfrm>
          <a:prstGeom prst="rect">
            <a:avLst/>
          </a:prstGeom>
          <a:noFill/>
          <a:ln/>
        </p:spPr>
        <p:txBody>
          <a:bodyPr wrap="square" lIns="0" tIns="0" rIns="0" bIns="0" rtlCol="0" anchor="t"/>
          <a:lstStyle/>
          <a:p>
            <a:pPr indent="0" marL="0">
              <a:buNone/>
            </a:pPr>
            <a:r>
              <a:rPr lang="en-US" sz="1200" dirty="0">
                <a:solidFill>
                  <a:schemeClr val="accent6"/>
                </a:solidFill>
              </a:rPr>
              <a:t>Google-managed certificate on the existing load balancer</a:t>
            </a:r>
            <a:endParaRPr lang="en-US" sz="1200" dirty="0"/>
          </a:p>
        </p:txBody>
      </p:sp>
      <p:sp>
        <p:nvSpPr>
          <p:cNvPr id="26" name="badge-FaChartLine"/>
          <p:cNvSpPr/>
          <p:nvPr/>
        </p:nvSpPr>
        <p:spPr>
          <a:xfrm>
            <a:off x="6537960" y="4709160"/>
            <a:ext cx="457200" cy="457200"/>
          </a:xfrm>
          <a:prstGeom prst="roundRect">
            <a:avLst>
              <a:gd name="adj" fmla="val 20000"/>
            </a:avLst>
          </a:prstGeom>
          <a:solidFill>
            <a:srgbClr val="1E293B"/>
          </a:solidFill>
          <a:ln/>
        </p:spPr>
      </p:sp>
      <p:pic>
        <p:nvPicPr>
          <p:cNvPr id="27" name="Image 5" descr="ChartLine">    </p:cNvPr>
          <p:cNvPicPr>
            <a:picLocks noChangeAspect="1"/>
          </p:cNvPicPr>
          <p:nvPr/>
        </p:nvPicPr>
        <p:blipFill>
          <a:blip r:embed="rId6"/>
          <a:stretch>
            <a:fillRect/>
          </a:stretch>
        </p:blipFill>
        <p:spPr>
          <a:xfrm>
            <a:off x="6647688" y="4818888"/>
            <a:ext cx="237744" cy="237744"/>
          </a:xfrm>
          <a:prstGeom prst="rect">
            <a:avLst/>
          </a:prstGeom>
        </p:spPr>
      </p:pic>
      <p:sp>
        <p:nvSpPr>
          <p:cNvPr id="28" name="Text 20"/>
          <p:cNvSpPr txBox="1"/>
          <p:nvPr/>
        </p:nvSpPr>
        <p:spPr>
          <a:xfrm>
            <a:off x="7178040" y="4654296"/>
            <a:ext cx="4480560" cy="292608"/>
          </a:xfrm>
          <a:prstGeom prst="rect">
            <a:avLst/>
          </a:prstGeom>
          <a:noFill/>
          <a:ln/>
        </p:spPr>
        <p:txBody>
          <a:bodyPr wrap="square" lIns="0" tIns="0" rIns="0" bIns="0" rtlCol="0" anchor="t"/>
          <a:lstStyle/>
          <a:p>
            <a:pPr indent="0" marL="0">
              <a:buNone/>
            </a:pPr>
            <a:r>
              <a:rPr lang="en-US" sz="1500" b="1" dirty="0">
                <a:solidFill>
                  <a:schemeClr val="bg1"/>
                </a:solidFill>
              </a:rPr>
              <a:t>Monitoring dashboards &amp; alerts</a:t>
            </a:r>
            <a:endParaRPr lang="en-US" sz="1500" dirty="0"/>
          </a:p>
        </p:txBody>
      </p:sp>
      <p:sp>
        <p:nvSpPr>
          <p:cNvPr id="29" name="Text 21"/>
          <p:cNvSpPr txBox="1"/>
          <p:nvPr/>
        </p:nvSpPr>
        <p:spPr>
          <a:xfrm>
            <a:off x="7178040" y="4956048"/>
            <a:ext cx="4480560" cy="384048"/>
          </a:xfrm>
          <a:prstGeom prst="rect">
            <a:avLst/>
          </a:prstGeom>
          <a:noFill/>
          <a:ln/>
        </p:spPr>
        <p:txBody>
          <a:bodyPr wrap="square" lIns="0" tIns="0" rIns="0" bIns="0" rtlCol="0" anchor="t"/>
          <a:lstStyle/>
          <a:p>
            <a:pPr indent="0" marL="0">
              <a:buNone/>
            </a:pPr>
            <a:r>
              <a:rPr lang="en-US" sz="1200" dirty="0">
                <a:solidFill>
                  <a:schemeClr val="accent6"/>
                </a:solidFill>
              </a:rPr>
              <a:t>Cloud Monitoring dashboards and alerting for the cluster</a:t>
            </a:r>
            <a:endParaRPr lang="en-US" sz="1200" dirty="0"/>
          </a:p>
        </p:txBody>
      </p:sp>
      <p:sp>
        <p:nvSpPr>
          <p:cNvPr id="30" name="badge-FaMagnifyingGlassPlus"/>
          <p:cNvSpPr/>
          <p:nvPr/>
        </p:nvSpPr>
        <p:spPr>
          <a:xfrm>
            <a:off x="6537960" y="5449824"/>
            <a:ext cx="457200" cy="457200"/>
          </a:xfrm>
          <a:prstGeom prst="roundRect">
            <a:avLst>
              <a:gd name="adj" fmla="val 20000"/>
            </a:avLst>
          </a:prstGeom>
          <a:solidFill>
            <a:srgbClr val="1E293B"/>
          </a:solidFill>
          <a:ln/>
        </p:spPr>
      </p:sp>
      <p:pic>
        <p:nvPicPr>
          <p:cNvPr id="31" name="Image 6" descr="MagnifyingGlassPlus">    </p:cNvPr>
          <p:cNvPicPr>
            <a:picLocks noChangeAspect="1"/>
          </p:cNvPicPr>
          <p:nvPr/>
        </p:nvPicPr>
        <p:blipFill>
          <a:blip r:embed="rId7"/>
          <a:stretch>
            <a:fillRect/>
          </a:stretch>
        </p:blipFill>
        <p:spPr>
          <a:xfrm>
            <a:off x="6647688" y="5559552"/>
            <a:ext cx="237744" cy="237744"/>
          </a:xfrm>
          <a:prstGeom prst="rect">
            <a:avLst/>
          </a:prstGeom>
        </p:spPr>
      </p:pic>
      <p:sp>
        <p:nvSpPr>
          <p:cNvPr id="32" name="Text 23"/>
          <p:cNvSpPr txBox="1"/>
          <p:nvPr/>
        </p:nvSpPr>
        <p:spPr>
          <a:xfrm>
            <a:off x="7178040" y="5394960"/>
            <a:ext cx="4480560" cy="292608"/>
          </a:xfrm>
          <a:prstGeom prst="rect">
            <a:avLst/>
          </a:prstGeom>
          <a:noFill/>
          <a:ln/>
        </p:spPr>
        <p:txBody>
          <a:bodyPr wrap="square" lIns="0" tIns="0" rIns="0" bIns="0" rtlCol="0" anchor="t"/>
          <a:lstStyle/>
          <a:p>
            <a:pPr indent="0" marL="0">
              <a:buNone/>
            </a:pPr>
            <a:r>
              <a:rPr lang="en-US" sz="1500" b="1" dirty="0">
                <a:solidFill>
                  <a:schemeClr val="bg1"/>
                </a:solidFill>
              </a:rPr>
              <a:t>Deep-zoom viewer &amp; time-lapse</a:t>
            </a:r>
            <a:endParaRPr lang="en-US" sz="1500" dirty="0"/>
          </a:p>
        </p:txBody>
      </p:sp>
      <p:sp>
        <p:nvSpPr>
          <p:cNvPr id="33" name="Text 24"/>
          <p:cNvSpPr txBox="1"/>
          <p:nvPr/>
        </p:nvSpPr>
        <p:spPr>
          <a:xfrm>
            <a:off x="7178040" y="5696712"/>
            <a:ext cx="4480560" cy="384048"/>
          </a:xfrm>
          <a:prstGeom prst="rect">
            <a:avLst/>
          </a:prstGeom>
          <a:noFill/>
          <a:ln/>
        </p:spPr>
        <p:txBody>
          <a:bodyPr wrap="square" lIns="0" tIns="0" rIns="0" bIns="0" rtlCol="0" anchor="t"/>
          <a:lstStyle/>
          <a:p>
            <a:pPr indent="0" marL="0">
              <a:buNone/>
            </a:pPr>
            <a:r>
              <a:rPr lang="en-US" sz="1200" dirty="0">
                <a:solidFill>
                  <a:schemeClr val="accent6"/>
                </a:solidFill>
              </a:rPr>
              <a:t>Pan-and-zoom tile pyramids and a replay of the assembly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583680" cy="320040"/>
          </a:xfrm>
          <a:prstGeom prst="rect">
            <a:avLst/>
          </a:prstGeom>
          <a:noFill/>
          <a:ln/>
        </p:spPr>
        <p:txBody>
          <a:bodyPr wrap="square" lIns="0" tIns="0" rIns="0" bIns="0" rtlCol="0"/>
          <a:lstStyle/>
          <a:p>
            <a:pPr algn="l" indent="0" marL="0">
              <a:buNone/>
            </a:pPr>
            <a:r>
              <a:rPr lang="en-US" sz="1300" b="1" spc="400" kern="0" dirty="0">
                <a:solidFill>
                  <a:schemeClr val="accent4"/>
                </a:solidFill>
              </a:rPr>
              <a:t>PIXEL MOSAIC PLATFORM</a:t>
            </a:r>
            <a:endParaRPr lang="en-US" sz="1300" dirty="0"/>
          </a:p>
        </p:txBody>
      </p:sp>
      <p:sp>
        <p:nvSpPr>
          <p:cNvPr id="3" name="Text 0"/>
          <p:cNvSpPr/>
          <p:nvPr>
            <p:ph idx="101" type="title" hasCustomPrompt="1"/>
          </p:nvPr>
        </p:nvSpPr>
        <p:spPr>
          <a:xfrm>
            <a:off x="548640" y="1463040"/>
            <a:ext cx="6766560" cy="2651760"/>
          </a:xfrm>
          <a:prstGeom prst="rect">
            <a:avLst/>
          </a:prstGeom>
          <a:noFill/>
          <a:ln/>
        </p:spPr>
        <p:txBody>
          <a:bodyPr wrap="square" lIns="0" tIns="0" rIns="0" bIns="0" rtlCol="0" anchor="t"/>
          <a:lstStyle/>
          <a:p>
            <a:pPr algn="l" indent="0" marL="0">
              <a:buNone/>
            </a:pPr>
            <a:r>
              <a:rPr lang="en-US" sz="5200" b="1" dirty="0">
                <a:solidFill>
                  <a:schemeClr val="bg1"/>
                </a:solidFill>
              </a:rPr>
              <a:t>Thank you</a:t>
            </a:r>
            <a:endParaRPr lang="en-US" sz="5200" dirty="0"/>
          </a:p>
        </p:txBody>
      </p:sp>
      <p:sp>
        <p:nvSpPr>
          <p:cNvPr id="4" name="Text 0"/>
          <p:cNvSpPr/>
          <p:nvPr>
            <p:ph idx="102" type="body" hasCustomPrompt="1"/>
          </p:nvPr>
        </p:nvSpPr>
        <p:spPr>
          <a:xfrm>
            <a:off x="548640" y="4206240"/>
            <a:ext cx="6583680" cy="822960"/>
          </a:xfrm>
          <a:prstGeom prst="rect">
            <a:avLst/>
          </a:prstGeom>
          <a:noFill/>
          <a:ln/>
        </p:spPr>
        <p:txBody>
          <a:bodyPr wrap="square" lIns="0" tIns="0" rIns="0" bIns="0" rtlCol="0" anchor="t"/>
          <a:lstStyle/>
          <a:p>
            <a:pPr algn="l" indent="0" marL="0">
              <a:buNone/>
            </a:pPr>
            <a:r>
              <a:rPr lang="en-US" sz="2000" dirty="0">
                <a:solidFill>
                  <a:schemeClr val="accent6"/>
                </a:solidFill>
              </a:rPr>
              <a:t>Questions? Try it live at </a:t>
            </a:r>
            <a:pPr algn="l" indent="0" marL="0">
              <a:buNone/>
            </a:pPr>
            <a:r>
              <a:rPr lang="en-US" sz="2000" b="1"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http://8.233.196.233</a:t>
            </a:r>
            <a:endParaRPr lang="en-US" sz="2000" dirty="0"/>
          </a:p>
        </p:txBody>
      </p:sp>
      <p:sp>
        <p:nvSpPr>
          <p:cNvPr id="5" name="Text 0"/>
          <p:cNvSpPr/>
          <p:nvPr>
            <p:ph idx="103" type="body" hasCustomPrompt="1"/>
          </p:nvPr>
        </p:nvSpPr>
        <p:spPr>
          <a:xfrm>
            <a:off x="548640" y="5760720"/>
            <a:ext cx="8229600" cy="365760"/>
          </a:xfrm>
          <a:prstGeom prst="rect">
            <a:avLst/>
          </a:prstGeom>
          <a:noFill/>
          <a:ln/>
        </p:spPr>
        <p:txBody>
          <a:bodyPr wrap="square" lIns="0" tIns="0" rIns="0" bIns="0" rtlCol="0"/>
          <a:lstStyle/>
          <a:p>
            <a:pPr algn="l" indent="0" marL="0">
              <a:buNone/>
            </a:pPr>
            <a:r>
              <a:rPr lang="en-US" sz="1400" dirty="0">
                <a:solidFill>
                  <a:schemeClr val="accent6"/>
                </a:solidFill>
              </a:rPr>
              <a:t>[Name 1] &amp; [Name 2]</a:t>
            </a:r>
            <a:endParaRPr lang="en-US" sz="1400" dirty="0"/>
          </a:p>
        </p:txBody>
      </p:sp>
      <p:sp>
        <p:nvSpPr>
          <p:cNvPr id="6" name="tile-0-0"/>
          <p:cNvSpPr/>
          <p:nvPr/>
        </p:nvSpPr>
        <p:spPr>
          <a:xfrm>
            <a:off x="7909560" y="1234440"/>
            <a:ext cx="402336" cy="402336"/>
          </a:xfrm>
          <a:prstGeom prst="roundRect">
            <a:avLst>
              <a:gd name="adj" fmla="val 13636"/>
            </a:avLst>
          </a:prstGeom>
          <a:solidFill>
            <a:srgbClr val="6D28D9">
              <a:alpha val="92000"/>
            </a:srgbClr>
          </a:solidFill>
          <a:ln/>
        </p:spPr>
      </p:sp>
      <p:sp>
        <p:nvSpPr>
          <p:cNvPr id="7" name="tile-0-1"/>
          <p:cNvSpPr/>
          <p:nvPr/>
        </p:nvSpPr>
        <p:spPr>
          <a:xfrm>
            <a:off x="8403336" y="1234440"/>
            <a:ext cx="402336" cy="402336"/>
          </a:xfrm>
          <a:prstGeom prst="roundRect">
            <a:avLst>
              <a:gd name="adj" fmla="val 13636"/>
            </a:avLst>
          </a:prstGeom>
          <a:solidFill>
            <a:srgbClr val="BE185D">
              <a:alpha val="92000"/>
            </a:srgbClr>
          </a:solidFill>
          <a:ln/>
        </p:spPr>
      </p:sp>
      <p:sp>
        <p:nvSpPr>
          <p:cNvPr id="8" name="tile-0-2"/>
          <p:cNvSpPr/>
          <p:nvPr/>
        </p:nvSpPr>
        <p:spPr>
          <a:xfrm>
            <a:off x="8897112" y="1234440"/>
            <a:ext cx="402336" cy="402336"/>
          </a:xfrm>
          <a:prstGeom prst="roundRect">
            <a:avLst>
              <a:gd name="adj" fmla="val 13636"/>
            </a:avLst>
          </a:prstGeom>
          <a:solidFill>
            <a:srgbClr val="1E293B"/>
          </a:solidFill>
          <a:ln/>
        </p:spPr>
      </p:sp>
      <p:sp>
        <p:nvSpPr>
          <p:cNvPr id="9" name="tile-0-3"/>
          <p:cNvSpPr/>
          <p:nvPr/>
        </p:nvSpPr>
        <p:spPr>
          <a:xfrm>
            <a:off x="9390888" y="1234440"/>
            <a:ext cx="402336" cy="402336"/>
          </a:xfrm>
          <a:prstGeom prst="roundRect">
            <a:avLst>
              <a:gd name="adj" fmla="val 13636"/>
            </a:avLst>
          </a:prstGeom>
          <a:solidFill>
            <a:srgbClr val="BE185D">
              <a:alpha val="92000"/>
            </a:srgbClr>
          </a:solidFill>
          <a:ln/>
        </p:spPr>
      </p:sp>
      <p:sp>
        <p:nvSpPr>
          <p:cNvPr id="10" name="tile-0-4"/>
          <p:cNvSpPr/>
          <p:nvPr/>
        </p:nvSpPr>
        <p:spPr>
          <a:xfrm>
            <a:off x="9884664" y="1234440"/>
            <a:ext cx="402336" cy="402336"/>
          </a:xfrm>
          <a:prstGeom prst="roundRect">
            <a:avLst>
              <a:gd name="adj" fmla="val 13636"/>
            </a:avLst>
          </a:prstGeom>
          <a:solidFill>
            <a:srgbClr val="F472B6">
              <a:alpha val="92000"/>
            </a:srgbClr>
          </a:solidFill>
          <a:ln/>
        </p:spPr>
      </p:sp>
      <p:sp>
        <p:nvSpPr>
          <p:cNvPr id="11" name="tile-0-5"/>
          <p:cNvSpPr/>
          <p:nvPr/>
        </p:nvSpPr>
        <p:spPr>
          <a:xfrm>
            <a:off x="10378440" y="1234440"/>
            <a:ext cx="402336" cy="402336"/>
          </a:xfrm>
          <a:prstGeom prst="roundRect">
            <a:avLst>
              <a:gd name="adj" fmla="val 13636"/>
            </a:avLst>
          </a:prstGeom>
          <a:solidFill>
            <a:srgbClr val="BE185D">
              <a:alpha val="92000"/>
            </a:srgbClr>
          </a:solidFill>
          <a:ln/>
        </p:spPr>
      </p:sp>
      <p:sp>
        <p:nvSpPr>
          <p:cNvPr id="12" name="tile-0-6"/>
          <p:cNvSpPr/>
          <p:nvPr/>
        </p:nvSpPr>
        <p:spPr>
          <a:xfrm>
            <a:off x="10872216" y="1234440"/>
            <a:ext cx="402336" cy="402336"/>
          </a:xfrm>
          <a:prstGeom prst="roundRect">
            <a:avLst>
              <a:gd name="adj" fmla="val 13636"/>
            </a:avLst>
          </a:prstGeom>
          <a:solidFill>
            <a:srgbClr val="0E7490">
              <a:alpha val="92000"/>
            </a:srgbClr>
          </a:solidFill>
          <a:ln/>
        </p:spPr>
      </p:sp>
      <p:sp>
        <p:nvSpPr>
          <p:cNvPr id="13" name="tile-0-7"/>
          <p:cNvSpPr/>
          <p:nvPr/>
        </p:nvSpPr>
        <p:spPr>
          <a:xfrm>
            <a:off x="11365992" y="1234440"/>
            <a:ext cx="402336" cy="402336"/>
          </a:xfrm>
          <a:prstGeom prst="roundRect">
            <a:avLst>
              <a:gd name="adj" fmla="val 13636"/>
            </a:avLst>
          </a:prstGeom>
          <a:solidFill>
            <a:srgbClr val="BE185D">
              <a:alpha val="92000"/>
            </a:srgbClr>
          </a:solidFill>
          <a:ln/>
        </p:spPr>
      </p:sp>
      <p:sp>
        <p:nvSpPr>
          <p:cNvPr id="14" name="tile-1-0"/>
          <p:cNvSpPr/>
          <p:nvPr/>
        </p:nvSpPr>
        <p:spPr>
          <a:xfrm>
            <a:off x="7909560" y="1728216"/>
            <a:ext cx="402336" cy="402336"/>
          </a:xfrm>
          <a:prstGeom prst="roundRect">
            <a:avLst>
              <a:gd name="adj" fmla="val 13636"/>
            </a:avLst>
          </a:prstGeom>
          <a:solidFill>
            <a:srgbClr val="F472B6">
              <a:alpha val="92000"/>
            </a:srgbClr>
          </a:solidFill>
          <a:ln/>
        </p:spPr>
      </p:sp>
      <p:sp>
        <p:nvSpPr>
          <p:cNvPr id="15" name="tile-1-1"/>
          <p:cNvSpPr/>
          <p:nvPr/>
        </p:nvSpPr>
        <p:spPr>
          <a:xfrm>
            <a:off x="8403336" y="1728216"/>
            <a:ext cx="402336" cy="402336"/>
          </a:xfrm>
          <a:prstGeom prst="roundRect">
            <a:avLst>
              <a:gd name="adj" fmla="val 13636"/>
            </a:avLst>
          </a:prstGeom>
          <a:solidFill>
            <a:srgbClr val="22D3EE">
              <a:alpha val="92000"/>
            </a:srgbClr>
          </a:solidFill>
          <a:ln/>
        </p:spPr>
      </p:sp>
      <p:sp>
        <p:nvSpPr>
          <p:cNvPr id="16" name="tile-1-2"/>
          <p:cNvSpPr/>
          <p:nvPr/>
        </p:nvSpPr>
        <p:spPr>
          <a:xfrm>
            <a:off x="8897112" y="1728216"/>
            <a:ext cx="402336" cy="402336"/>
          </a:xfrm>
          <a:prstGeom prst="roundRect">
            <a:avLst>
              <a:gd name="adj" fmla="val 13636"/>
            </a:avLst>
          </a:prstGeom>
          <a:solidFill>
            <a:srgbClr val="22D3EE">
              <a:alpha val="92000"/>
            </a:srgbClr>
          </a:solidFill>
          <a:ln/>
        </p:spPr>
      </p:sp>
      <p:sp>
        <p:nvSpPr>
          <p:cNvPr id="17" name="tile-1-3"/>
          <p:cNvSpPr/>
          <p:nvPr/>
        </p:nvSpPr>
        <p:spPr>
          <a:xfrm>
            <a:off x="9390888" y="1728216"/>
            <a:ext cx="402336" cy="402336"/>
          </a:xfrm>
          <a:prstGeom prst="roundRect">
            <a:avLst>
              <a:gd name="adj" fmla="val 13636"/>
            </a:avLst>
          </a:prstGeom>
          <a:solidFill>
            <a:srgbClr val="22D3EE">
              <a:alpha val="92000"/>
            </a:srgbClr>
          </a:solidFill>
          <a:ln/>
        </p:spPr>
      </p:sp>
      <p:sp>
        <p:nvSpPr>
          <p:cNvPr id="18" name="tile-1-4"/>
          <p:cNvSpPr/>
          <p:nvPr/>
        </p:nvSpPr>
        <p:spPr>
          <a:xfrm>
            <a:off x="9884664" y="1728216"/>
            <a:ext cx="402336" cy="402336"/>
          </a:xfrm>
          <a:prstGeom prst="roundRect">
            <a:avLst>
              <a:gd name="adj" fmla="val 13636"/>
            </a:avLst>
          </a:prstGeom>
          <a:solidFill>
            <a:srgbClr val="F472B6">
              <a:alpha val="92000"/>
            </a:srgbClr>
          </a:solidFill>
          <a:ln/>
        </p:spPr>
      </p:sp>
      <p:sp>
        <p:nvSpPr>
          <p:cNvPr id="19" name="tile-1-5"/>
          <p:cNvSpPr/>
          <p:nvPr/>
        </p:nvSpPr>
        <p:spPr>
          <a:xfrm>
            <a:off x="10378440" y="1728216"/>
            <a:ext cx="402336" cy="402336"/>
          </a:xfrm>
          <a:prstGeom prst="roundRect">
            <a:avLst>
              <a:gd name="adj" fmla="val 13636"/>
            </a:avLst>
          </a:prstGeom>
          <a:solidFill>
            <a:srgbClr val="1E293B"/>
          </a:solidFill>
          <a:ln/>
        </p:spPr>
      </p:sp>
      <p:sp>
        <p:nvSpPr>
          <p:cNvPr id="20" name="tile-1-6"/>
          <p:cNvSpPr/>
          <p:nvPr/>
        </p:nvSpPr>
        <p:spPr>
          <a:xfrm>
            <a:off x="10872216" y="1728216"/>
            <a:ext cx="402336" cy="402336"/>
          </a:xfrm>
          <a:prstGeom prst="roundRect">
            <a:avLst>
              <a:gd name="adj" fmla="val 13636"/>
            </a:avLst>
          </a:prstGeom>
          <a:solidFill>
            <a:srgbClr val="BE185D">
              <a:alpha val="92000"/>
            </a:srgbClr>
          </a:solidFill>
          <a:ln/>
        </p:spPr>
      </p:sp>
      <p:sp>
        <p:nvSpPr>
          <p:cNvPr id="21" name="tile-1-7"/>
          <p:cNvSpPr/>
          <p:nvPr/>
        </p:nvSpPr>
        <p:spPr>
          <a:xfrm>
            <a:off x="11365992" y="1728216"/>
            <a:ext cx="402336" cy="402336"/>
          </a:xfrm>
          <a:prstGeom prst="roundRect">
            <a:avLst>
              <a:gd name="adj" fmla="val 13636"/>
            </a:avLst>
          </a:prstGeom>
          <a:solidFill>
            <a:srgbClr val="BE185D">
              <a:alpha val="92000"/>
            </a:srgbClr>
          </a:solidFill>
          <a:ln/>
        </p:spPr>
      </p:sp>
      <p:sp>
        <p:nvSpPr>
          <p:cNvPr id="22" name="tile-2-0"/>
          <p:cNvSpPr/>
          <p:nvPr/>
        </p:nvSpPr>
        <p:spPr>
          <a:xfrm>
            <a:off x="7909560" y="2221992"/>
            <a:ext cx="402336" cy="402336"/>
          </a:xfrm>
          <a:prstGeom prst="roundRect">
            <a:avLst>
              <a:gd name="adj" fmla="val 13636"/>
            </a:avLst>
          </a:prstGeom>
          <a:solidFill>
            <a:srgbClr val="6D28D9">
              <a:alpha val="92000"/>
            </a:srgbClr>
          </a:solidFill>
          <a:ln/>
        </p:spPr>
      </p:sp>
      <p:sp>
        <p:nvSpPr>
          <p:cNvPr id="23" name="tile-2-1"/>
          <p:cNvSpPr/>
          <p:nvPr/>
        </p:nvSpPr>
        <p:spPr>
          <a:xfrm>
            <a:off x="8403336" y="2221992"/>
            <a:ext cx="402336" cy="402336"/>
          </a:xfrm>
          <a:prstGeom prst="roundRect">
            <a:avLst>
              <a:gd name="adj" fmla="val 13636"/>
            </a:avLst>
          </a:prstGeom>
          <a:solidFill>
            <a:srgbClr val="22D3EE">
              <a:alpha val="92000"/>
            </a:srgbClr>
          </a:solidFill>
          <a:ln/>
        </p:spPr>
      </p:sp>
      <p:sp>
        <p:nvSpPr>
          <p:cNvPr id="24" name="tile-2-2"/>
          <p:cNvSpPr/>
          <p:nvPr/>
        </p:nvSpPr>
        <p:spPr>
          <a:xfrm>
            <a:off x="8897112" y="2221992"/>
            <a:ext cx="402336" cy="402336"/>
          </a:xfrm>
          <a:prstGeom prst="roundRect">
            <a:avLst>
              <a:gd name="adj" fmla="val 13636"/>
            </a:avLst>
          </a:prstGeom>
          <a:solidFill>
            <a:srgbClr val="6D28D9">
              <a:alpha val="92000"/>
            </a:srgbClr>
          </a:solidFill>
          <a:ln/>
        </p:spPr>
      </p:sp>
      <p:sp>
        <p:nvSpPr>
          <p:cNvPr id="25" name="tile-2-3"/>
          <p:cNvSpPr/>
          <p:nvPr/>
        </p:nvSpPr>
        <p:spPr>
          <a:xfrm>
            <a:off x="9390888" y="2221992"/>
            <a:ext cx="402336" cy="402336"/>
          </a:xfrm>
          <a:prstGeom prst="roundRect">
            <a:avLst>
              <a:gd name="adj" fmla="val 13636"/>
            </a:avLst>
          </a:prstGeom>
          <a:solidFill>
            <a:srgbClr val="F472B6">
              <a:alpha val="92000"/>
            </a:srgbClr>
          </a:solidFill>
          <a:ln/>
        </p:spPr>
      </p:sp>
      <p:sp>
        <p:nvSpPr>
          <p:cNvPr id="26" name="tile-2-4"/>
          <p:cNvSpPr/>
          <p:nvPr/>
        </p:nvSpPr>
        <p:spPr>
          <a:xfrm>
            <a:off x="9884664" y="2221992"/>
            <a:ext cx="402336" cy="402336"/>
          </a:xfrm>
          <a:prstGeom prst="roundRect">
            <a:avLst>
              <a:gd name="adj" fmla="val 13636"/>
            </a:avLst>
          </a:prstGeom>
          <a:solidFill>
            <a:srgbClr val="BE185D">
              <a:alpha val="92000"/>
            </a:srgbClr>
          </a:solidFill>
          <a:ln/>
        </p:spPr>
      </p:sp>
      <p:sp>
        <p:nvSpPr>
          <p:cNvPr id="27" name="tile-2-5"/>
          <p:cNvSpPr/>
          <p:nvPr/>
        </p:nvSpPr>
        <p:spPr>
          <a:xfrm>
            <a:off x="10378440" y="2221992"/>
            <a:ext cx="402336" cy="402336"/>
          </a:xfrm>
          <a:prstGeom prst="roundRect">
            <a:avLst>
              <a:gd name="adj" fmla="val 13636"/>
            </a:avLst>
          </a:prstGeom>
          <a:solidFill>
            <a:srgbClr val="22D3EE">
              <a:alpha val="92000"/>
            </a:srgbClr>
          </a:solidFill>
          <a:ln/>
        </p:spPr>
      </p:sp>
      <p:sp>
        <p:nvSpPr>
          <p:cNvPr id="28" name="tile-2-6"/>
          <p:cNvSpPr/>
          <p:nvPr/>
        </p:nvSpPr>
        <p:spPr>
          <a:xfrm>
            <a:off x="10872216" y="2221992"/>
            <a:ext cx="402336" cy="402336"/>
          </a:xfrm>
          <a:prstGeom prst="roundRect">
            <a:avLst>
              <a:gd name="adj" fmla="val 13636"/>
            </a:avLst>
          </a:prstGeom>
          <a:solidFill>
            <a:srgbClr val="6D28D9">
              <a:alpha val="92000"/>
            </a:srgbClr>
          </a:solidFill>
          <a:ln/>
        </p:spPr>
      </p:sp>
      <p:sp>
        <p:nvSpPr>
          <p:cNvPr id="29" name="tile-2-7"/>
          <p:cNvSpPr/>
          <p:nvPr/>
        </p:nvSpPr>
        <p:spPr>
          <a:xfrm>
            <a:off x="11365992" y="2221992"/>
            <a:ext cx="402336" cy="402336"/>
          </a:xfrm>
          <a:prstGeom prst="roundRect">
            <a:avLst>
              <a:gd name="adj" fmla="val 13636"/>
            </a:avLst>
          </a:prstGeom>
          <a:solidFill>
            <a:srgbClr val="BE185D">
              <a:alpha val="92000"/>
            </a:srgbClr>
          </a:solidFill>
          <a:ln/>
        </p:spPr>
      </p:sp>
      <p:sp>
        <p:nvSpPr>
          <p:cNvPr id="30" name="tile-3-0"/>
          <p:cNvSpPr/>
          <p:nvPr/>
        </p:nvSpPr>
        <p:spPr>
          <a:xfrm>
            <a:off x="7909560" y="2715768"/>
            <a:ext cx="402336" cy="402336"/>
          </a:xfrm>
          <a:prstGeom prst="roundRect">
            <a:avLst>
              <a:gd name="adj" fmla="val 13636"/>
            </a:avLst>
          </a:prstGeom>
          <a:solidFill>
            <a:srgbClr val="6D28D9">
              <a:alpha val="92000"/>
            </a:srgbClr>
          </a:solidFill>
          <a:ln/>
        </p:spPr>
      </p:sp>
      <p:sp>
        <p:nvSpPr>
          <p:cNvPr id="31" name="tile-3-1"/>
          <p:cNvSpPr/>
          <p:nvPr/>
        </p:nvSpPr>
        <p:spPr>
          <a:xfrm>
            <a:off x="8403336" y="2715768"/>
            <a:ext cx="402336" cy="402336"/>
          </a:xfrm>
          <a:prstGeom prst="roundRect">
            <a:avLst>
              <a:gd name="adj" fmla="val 13636"/>
            </a:avLst>
          </a:prstGeom>
          <a:solidFill>
            <a:srgbClr val="6D28D9">
              <a:alpha val="92000"/>
            </a:srgbClr>
          </a:solidFill>
          <a:ln/>
        </p:spPr>
      </p:sp>
      <p:sp>
        <p:nvSpPr>
          <p:cNvPr id="32" name="tile-3-2"/>
          <p:cNvSpPr/>
          <p:nvPr/>
        </p:nvSpPr>
        <p:spPr>
          <a:xfrm>
            <a:off x="8897112" y="2715768"/>
            <a:ext cx="402336" cy="402336"/>
          </a:xfrm>
          <a:prstGeom prst="roundRect">
            <a:avLst>
              <a:gd name="adj" fmla="val 13636"/>
            </a:avLst>
          </a:prstGeom>
          <a:solidFill>
            <a:srgbClr val="6D28D9">
              <a:alpha val="92000"/>
            </a:srgbClr>
          </a:solidFill>
          <a:ln/>
        </p:spPr>
      </p:sp>
      <p:sp>
        <p:nvSpPr>
          <p:cNvPr id="33" name="tile-3-3"/>
          <p:cNvSpPr/>
          <p:nvPr/>
        </p:nvSpPr>
        <p:spPr>
          <a:xfrm>
            <a:off x="9390888" y="2715768"/>
            <a:ext cx="402336" cy="402336"/>
          </a:xfrm>
          <a:prstGeom prst="roundRect">
            <a:avLst>
              <a:gd name="adj" fmla="val 13636"/>
            </a:avLst>
          </a:prstGeom>
          <a:solidFill>
            <a:srgbClr val="0E7490">
              <a:alpha val="92000"/>
            </a:srgbClr>
          </a:solidFill>
          <a:ln/>
        </p:spPr>
      </p:sp>
      <p:sp>
        <p:nvSpPr>
          <p:cNvPr id="34" name="tile-3-4"/>
          <p:cNvSpPr/>
          <p:nvPr/>
        </p:nvSpPr>
        <p:spPr>
          <a:xfrm>
            <a:off x="9884664" y="2715768"/>
            <a:ext cx="402336" cy="402336"/>
          </a:xfrm>
          <a:prstGeom prst="roundRect">
            <a:avLst>
              <a:gd name="adj" fmla="val 13636"/>
            </a:avLst>
          </a:prstGeom>
          <a:solidFill>
            <a:srgbClr val="1E293B"/>
          </a:solidFill>
          <a:ln/>
        </p:spPr>
      </p:sp>
      <p:sp>
        <p:nvSpPr>
          <p:cNvPr id="35" name="tile-3-5"/>
          <p:cNvSpPr/>
          <p:nvPr/>
        </p:nvSpPr>
        <p:spPr>
          <a:xfrm>
            <a:off x="10378440" y="2715768"/>
            <a:ext cx="402336" cy="402336"/>
          </a:xfrm>
          <a:prstGeom prst="roundRect">
            <a:avLst>
              <a:gd name="adj" fmla="val 13636"/>
            </a:avLst>
          </a:prstGeom>
          <a:solidFill>
            <a:srgbClr val="22D3EE">
              <a:alpha val="92000"/>
            </a:srgbClr>
          </a:solidFill>
          <a:ln/>
        </p:spPr>
      </p:sp>
      <p:sp>
        <p:nvSpPr>
          <p:cNvPr id="36" name="tile-3-6"/>
          <p:cNvSpPr/>
          <p:nvPr/>
        </p:nvSpPr>
        <p:spPr>
          <a:xfrm>
            <a:off x="10872216" y="2715768"/>
            <a:ext cx="402336" cy="402336"/>
          </a:xfrm>
          <a:prstGeom prst="roundRect">
            <a:avLst>
              <a:gd name="adj" fmla="val 13636"/>
            </a:avLst>
          </a:prstGeom>
          <a:solidFill>
            <a:srgbClr val="1E293B"/>
          </a:solidFill>
          <a:ln/>
        </p:spPr>
      </p:sp>
      <p:sp>
        <p:nvSpPr>
          <p:cNvPr id="37" name="tile-3-7"/>
          <p:cNvSpPr/>
          <p:nvPr/>
        </p:nvSpPr>
        <p:spPr>
          <a:xfrm>
            <a:off x="11365992" y="2715768"/>
            <a:ext cx="402336" cy="402336"/>
          </a:xfrm>
          <a:prstGeom prst="roundRect">
            <a:avLst>
              <a:gd name="adj" fmla="val 13636"/>
            </a:avLst>
          </a:prstGeom>
          <a:solidFill>
            <a:srgbClr val="6D28D9">
              <a:alpha val="92000"/>
            </a:srgbClr>
          </a:solidFill>
          <a:ln/>
        </p:spPr>
      </p:sp>
      <p:sp>
        <p:nvSpPr>
          <p:cNvPr id="38" name="tile-4-0"/>
          <p:cNvSpPr/>
          <p:nvPr/>
        </p:nvSpPr>
        <p:spPr>
          <a:xfrm>
            <a:off x="7909560" y="3209544"/>
            <a:ext cx="402336" cy="402336"/>
          </a:xfrm>
          <a:prstGeom prst="roundRect">
            <a:avLst>
              <a:gd name="adj" fmla="val 13636"/>
            </a:avLst>
          </a:prstGeom>
          <a:solidFill>
            <a:srgbClr val="22D3EE">
              <a:alpha val="92000"/>
            </a:srgbClr>
          </a:solidFill>
          <a:ln/>
        </p:spPr>
      </p:sp>
      <p:sp>
        <p:nvSpPr>
          <p:cNvPr id="39" name="tile-4-1"/>
          <p:cNvSpPr/>
          <p:nvPr/>
        </p:nvSpPr>
        <p:spPr>
          <a:xfrm>
            <a:off x="8403336" y="3209544"/>
            <a:ext cx="402336" cy="402336"/>
          </a:xfrm>
          <a:prstGeom prst="roundRect">
            <a:avLst>
              <a:gd name="adj" fmla="val 13636"/>
            </a:avLst>
          </a:prstGeom>
          <a:solidFill>
            <a:srgbClr val="F472B6">
              <a:alpha val="92000"/>
            </a:srgbClr>
          </a:solidFill>
          <a:ln/>
        </p:spPr>
      </p:sp>
      <p:sp>
        <p:nvSpPr>
          <p:cNvPr id="40" name="tile-4-2"/>
          <p:cNvSpPr/>
          <p:nvPr/>
        </p:nvSpPr>
        <p:spPr>
          <a:xfrm>
            <a:off x="8897112" y="3209544"/>
            <a:ext cx="402336" cy="402336"/>
          </a:xfrm>
          <a:prstGeom prst="roundRect">
            <a:avLst>
              <a:gd name="adj" fmla="val 13636"/>
            </a:avLst>
          </a:prstGeom>
          <a:solidFill>
            <a:srgbClr val="F472B6">
              <a:alpha val="92000"/>
            </a:srgbClr>
          </a:solidFill>
          <a:ln/>
        </p:spPr>
      </p:sp>
      <p:sp>
        <p:nvSpPr>
          <p:cNvPr id="41" name="tile-4-3"/>
          <p:cNvSpPr/>
          <p:nvPr/>
        </p:nvSpPr>
        <p:spPr>
          <a:xfrm>
            <a:off x="9390888" y="3209544"/>
            <a:ext cx="402336" cy="402336"/>
          </a:xfrm>
          <a:prstGeom prst="roundRect">
            <a:avLst>
              <a:gd name="adj" fmla="val 13636"/>
            </a:avLst>
          </a:prstGeom>
          <a:solidFill>
            <a:srgbClr val="BE185D">
              <a:alpha val="92000"/>
            </a:srgbClr>
          </a:solidFill>
          <a:ln/>
        </p:spPr>
      </p:sp>
      <p:sp>
        <p:nvSpPr>
          <p:cNvPr id="42" name="tile-4-4"/>
          <p:cNvSpPr/>
          <p:nvPr/>
        </p:nvSpPr>
        <p:spPr>
          <a:xfrm>
            <a:off x="9884664" y="3209544"/>
            <a:ext cx="402336" cy="402336"/>
          </a:xfrm>
          <a:prstGeom prst="roundRect">
            <a:avLst>
              <a:gd name="adj" fmla="val 13636"/>
            </a:avLst>
          </a:prstGeom>
          <a:solidFill>
            <a:srgbClr val="F472B6">
              <a:alpha val="92000"/>
            </a:srgbClr>
          </a:solidFill>
          <a:ln/>
        </p:spPr>
      </p:sp>
      <p:sp>
        <p:nvSpPr>
          <p:cNvPr id="43" name="tile-4-5"/>
          <p:cNvSpPr/>
          <p:nvPr/>
        </p:nvSpPr>
        <p:spPr>
          <a:xfrm>
            <a:off x="10378440" y="3209544"/>
            <a:ext cx="402336" cy="402336"/>
          </a:xfrm>
          <a:prstGeom prst="roundRect">
            <a:avLst>
              <a:gd name="adj" fmla="val 13636"/>
            </a:avLst>
          </a:prstGeom>
          <a:solidFill>
            <a:srgbClr val="1E293B"/>
          </a:solidFill>
          <a:ln/>
        </p:spPr>
      </p:sp>
      <p:sp>
        <p:nvSpPr>
          <p:cNvPr id="44" name="tile-4-6"/>
          <p:cNvSpPr/>
          <p:nvPr/>
        </p:nvSpPr>
        <p:spPr>
          <a:xfrm>
            <a:off x="10872216" y="3209544"/>
            <a:ext cx="402336" cy="402336"/>
          </a:xfrm>
          <a:prstGeom prst="roundRect">
            <a:avLst>
              <a:gd name="adj" fmla="val 13636"/>
            </a:avLst>
          </a:prstGeom>
          <a:solidFill>
            <a:srgbClr val="22D3EE">
              <a:alpha val="92000"/>
            </a:srgbClr>
          </a:solidFill>
          <a:ln/>
        </p:spPr>
      </p:sp>
      <p:sp>
        <p:nvSpPr>
          <p:cNvPr id="45" name="tile-4-7"/>
          <p:cNvSpPr/>
          <p:nvPr/>
        </p:nvSpPr>
        <p:spPr>
          <a:xfrm>
            <a:off x="11365992" y="3209544"/>
            <a:ext cx="402336" cy="402336"/>
          </a:xfrm>
          <a:prstGeom prst="roundRect">
            <a:avLst>
              <a:gd name="adj" fmla="val 13636"/>
            </a:avLst>
          </a:prstGeom>
          <a:solidFill>
            <a:srgbClr val="22D3EE">
              <a:alpha val="92000"/>
            </a:srgbClr>
          </a:solidFill>
          <a:ln/>
        </p:spPr>
      </p:sp>
      <p:sp>
        <p:nvSpPr>
          <p:cNvPr id="46" name="tile-5-0"/>
          <p:cNvSpPr/>
          <p:nvPr/>
        </p:nvSpPr>
        <p:spPr>
          <a:xfrm>
            <a:off x="7909560" y="3703320"/>
            <a:ext cx="402336" cy="402336"/>
          </a:xfrm>
          <a:prstGeom prst="roundRect">
            <a:avLst>
              <a:gd name="adj" fmla="val 13636"/>
            </a:avLst>
          </a:prstGeom>
          <a:solidFill>
            <a:srgbClr val="1E293B"/>
          </a:solidFill>
          <a:ln/>
        </p:spPr>
      </p:sp>
      <p:sp>
        <p:nvSpPr>
          <p:cNvPr id="47" name="tile-5-1"/>
          <p:cNvSpPr/>
          <p:nvPr/>
        </p:nvSpPr>
        <p:spPr>
          <a:xfrm>
            <a:off x="8403336" y="3703320"/>
            <a:ext cx="402336" cy="402336"/>
          </a:xfrm>
          <a:prstGeom prst="roundRect">
            <a:avLst>
              <a:gd name="adj" fmla="val 13636"/>
            </a:avLst>
          </a:prstGeom>
          <a:solidFill>
            <a:srgbClr val="0E7490">
              <a:alpha val="92000"/>
            </a:srgbClr>
          </a:solidFill>
          <a:ln/>
        </p:spPr>
      </p:sp>
      <p:sp>
        <p:nvSpPr>
          <p:cNvPr id="48" name="tile-5-2"/>
          <p:cNvSpPr/>
          <p:nvPr/>
        </p:nvSpPr>
        <p:spPr>
          <a:xfrm>
            <a:off x="8897112" y="3703320"/>
            <a:ext cx="402336" cy="402336"/>
          </a:xfrm>
          <a:prstGeom prst="roundRect">
            <a:avLst>
              <a:gd name="adj" fmla="val 13636"/>
            </a:avLst>
          </a:prstGeom>
          <a:solidFill>
            <a:srgbClr val="BE185D">
              <a:alpha val="92000"/>
            </a:srgbClr>
          </a:solidFill>
          <a:ln/>
        </p:spPr>
      </p:sp>
      <p:sp>
        <p:nvSpPr>
          <p:cNvPr id="49" name="tile-5-3"/>
          <p:cNvSpPr/>
          <p:nvPr/>
        </p:nvSpPr>
        <p:spPr>
          <a:xfrm>
            <a:off x="9390888" y="3703320"/>
            <a:ext cx="402336" cy="402336"/>
          </a:xfrm>
          <a:prstGeom prst="roundRect">
            <a:avLst>
              <a:gd name="adj" fmla="val 13636"/>
            </a:avLst>
          </a:prstGeom>
          <a:solidFill>
            <a:srgbClr val="22D3EE">
              <a:alpha val="92000"/>
            </a:srgbClr>
          </a:solidFill>
          <a:ln/>
        </p:spPr>
      </p:sp>
      <p:sp>
        <p:nvSpPr>
          <p:cNvPr id="50" name="tile-5-4"/>
          <p:cNvSpPr/>
          <p:nvPr/>
        </p:nvSpPr>
        <p:spPr>
          <a:xfrm>
            <a:off x="9884664" y="3703320"/>
            <a:ext cx="402336" cy="402336"/>
          </a:xfrm>
          <a:prstGeom prst="roundRect">
            <a:avLst>
              <a:gd name="adj" fmla="val 13636"/>
            </a:avLst>
          </a:prstGeom>
          <a:solidFill>
            <a:srgbClr val="1E293B"/>
          </a:solidFill>
          <a:ln/>
        </p:spPr>
      </p:sp>
      <p:sp>
        <p:nvSpPr>
          <p:cNvPr id="51" name="tile-5-5"/>
          <p:cNvSpPr/>
          <p:nvPr/>
        </p:nvSpPr>
        <p:spPr>
          <a:xfrm>
            <a:off x="10378440" y="3703320"/>
            <a:ext cx="402336" cy="402336"/>
          </a:xfrm>
          <a:prstGeom prst="roundRect">
            <a:avLst>
              <a:gd name="adj" fmla="val 13636"/>
            </a:avLst>
          </a:prstGeom>
          <a:solidFill>
            <a:srgbClr val="6D28D9">
              <a:alpha val="92000"/>
            </a:srgbClr>
          </a:solidFill>
          <a:ln/>
        </p:spPr>
      </p:sp>
      <p:sp>
        <p:nvSpPr>
          <p:cNvPr id="52" name="tile-5-6"/>
          <p:cNvSpPr/>
          <p:nvPr/>
        </p:nvSpPr>
        <p:spPr>
          <a:xfrm>
            <a:off x="10872216" y="3703320"/>
            <a:ext cx="402336" cy="402336"/>
          </a:xfrm>
          <a:prstGeom prst="roundRect">
            <a:avLst>
              <a:gd name="adj" fmla="val 13636"/>
            </a:avLst>
          </a:prstGeom>
          <a:solidFill>
            <a:srgbClr val="22D3EE">
              <a:alpha val="92000"/>
            </a:srgbClr>
          </a:solidFill>
          <a:ln/>
        </p:spPr>
      </p:sp>
      <p:sp>
        <p:nvSpPr>
          <p:cNvPr id="53" name="tile-5-7"/>
          <p:cNvSpPr/>
          <p:nvPr/>
        </p:nvSpPr>
        <p:spPr>
          <a:xfrm>
            <a:off x="11365992" y="3703320"/>
            <a:ext cx="402336" cy="402336"/>
          </a:xfrm>
          <a:prstGeom prst="roundRect">
            <a:avLst>
              <a:gd name="adj" fmla="val 13636"/>
            </a:avLst>
          </a:prstGeom>
          <a:solidFill>
            <a:srgbClr val="BE185D">
              <a:alpha val="92000"/>
            </a:srgbClr>
          </a:solidFill>
          <a:ln/>
        </p:spPr>
      </p:sp>
      <p:sp>
        <p:nvSpPr>
          <p:cNvPr id="54" name="tile-6-0"/>
          <p:cNvSpPr/>
          <p:nvPr/>
        </p:nvSpPr>
        <p:spPr>
          <a:xfrm>
            <a:off x="7909560" y="4197096"/>
            <a:ext cx="402336" cy="402336"/>
          </a:xfrm>
          <a:prstGeom prst="roundRect">
            <a:avLst>
              <a:gd name="adj" fmla="val 13636"/>
            </a:avLst>
          </a:prstGeom>
          <a:solidFill>
            <a:srgbClr val="0E7490">
              <a:alpha val="92000"/>
            </a:srgbClr>
          </a:solidFill>
          <a:ln/>
        </p:spPr>
      </p:sp>
      <p:sp>
        <p:nvSpPr>
          <p:cNvPr id="55" name="tile-6-1"/>
          <p:cNvSpPr/>
          <p:nvPr/>
        </p:nvSpPr>
        <p:spPr>
          <a:xfrm>
            <a:off x="8403336" y="4197096"/>
            <a:ext cx="402336" cy="402336"/>
          </a:xfrm>
          <a:prstGeom prst="roundRect">
            <a:avLst>
              <a:gd name="adj" fmla="val 13636"/>
            </a:avLst>
          </a:prstGeom>
          <a:solidFill>
            <a:srgbClr val="F472B6">
              <a:alpha val="92000"/>
            </a:srgbClr>
          </a:solidFill>
          <a:ln/>
        </p:spPr>
      </p:sp>
      <p:sp>
        <p:nvSpPr>
          <p:cNvPr id="56" name="tile-6-2"/>
          <p:cNvSpPr/>
          <p:nvPr/>
        </p:nvSpPr>
        <p:spPr>
          <a:xfrm>
            <a:off x="8897112" y="4197096"/>
            <a:ext cx="402336" cy="402336"/>
          </a:xfrm>
          <a:prstGeom prst="roundRect">
            <a:avLst>
              <a:gd name="adj" fmla="val 13636"/>
            </a:avLst>
          </a:prstGeom>
          <a:solidFill>
            <a:srgbClr val="F472B6">
              <a:alpha val="92000"/>
            </a:srgbClr>
          </a:solidFill>
          <a:ln/>
        </p:spPr>
      </p:sp>
      <p:sp>
        <p:nvSpPr>
          <p:cNvPr id="57" name="tile-6-3"/>
          <p:cNvSpPr/>
          <p:nvPr/>
        </p:nvSpPr>
        <p:spPr>
          <a:xfrm>
            <a:off x="9390888" y="4197096"/>
            <a:ext cx="402336" cy="402336"/>
          </a:xfrm>
          <a:prstGeom prst="roundRect">
            <a:avLst>
              <a:gd name="adj" fmla="val 13636"/>
            </a:avLst>
          </a:prstGeom>
          <a:solidFill>
            <a:srgbClr val="1E293B"/>
          </a:solidFill>
          <a:ln/>
        </p:spPr>
      </p:sp>
      <p:sp>
        <p:nvSpPr>
          <p:cNvPr id="58" name="tile-6-4"/>
          <p:cNvSpPr/>
          <p:nvPr/>
        </p:nvSpPr>
        <p:spPr>
          <a:xfrm>
            <a:off x="9884664" y="4197096"/>
            <a:ext cx="402336" cy="402336"/>
          </a:xfrm>
          <a:prstGeom prst="roundRect">
            <a:avLst>
              <a:gd name="adj" fmla="val 13636"/>
            </a:avLst>
          </a:prstGeom>
          <a:solidFill>
            <a:srgbClr val="22D3EE">
              <a:alpha val="92000"/>
            </a:srgbClr>
          </a:solidFill>
          <a:ln/>
        </p:spPr>
      </p:sp>
      <p:sp>
        <p:nvSpPr>
          <p:cNvPr id="59" name="tile-6-5"/>
          <p:cNvSpPr/>
          <p:nvPr/>
        </p:nvSpPr>
        <p:spPr>
          <a:xfrm>
            <a:off x="10378440" y="4197096"/>
            <a:ext cx="402336" cy="402336"/>
          </a:xfrm>
          <a:prstGeom prst="roundRect">
            <a:avLst>
              <a:gd name="adj" fmla="val 13636"/>
            </a:avLst>
          </a:prstGeom>
          <a:solidFill>
            <a:srgbClr val="0E7490">
              <a:alpha val="92000"/>
            </a:srgbClr>
          </a:solidFill>
          <a:ln/>
        </p:spPr>
      </p:sp>
      <p:sp>
        <p:nvSpPr>
          <p:cNvPr id="60" name="tile-6-6"/>
          <p:cNvSpPr/>
          <p:nvPr/>
        </p:nvSpPr>
        <p:spPr>
          <a:xfrm>
            <a:off x="10872216" y="4197096"/>
            <a:ext cx="402336" cy="402336"/>
          </a:xfrm>
          <a:prstGeom prst="roundRect">
            <a:avLst>
              <a:gd name="adj" fmla="val 13636"/>
            </a:avLst>
          </a:prstGeom>
          <a:solidFill>
            <a:srgbClr val="F472B6">
              <a:alpha val="92000"/>
            </a:srgbClr>
          </a:solidFill>
          <a:ln/>
        </p:spPr>
      </p:sp>
      <p:sp>
        <p:nvSpPr>
          <p:cNvPr id="61" name="tile-6-7"/>
          <p:cNvSpPr/>
          <p:nvPr/>
        </p:nvSpPr>
        <p:spPr>
          <a:xfrm>
            <a:off x="11365992" y="4197096"/>
            <a:ext cx="402336" cy="402336"/>
          </a:xfrm>
          <a:prstGeom prst="roundRect">
            <a:avLst>
              <a:gd name="adj" fmla="val 13636"/>
            </a:avLst>
          </a:prstGeom>
          <a:solidFill>
            <a:srgbClr val="0E7490">
              <a:alpha val="92000"/>
            </a:srgbClr>
          </a:solidFill>
          <a:ln/>
        </p:spPr>
      </p:sp>
      <p:sp>
        <p:nvSpPr>
          <p:cNvPr id="62" name="tile-7-0"/>
          <p:cNvSpPr/>
          <p:nvPr/>
        </p:nvSpPr>
        <p:spPr>
          <a:xfrm>
            <a:off x="7909560" y="4690872"/>
            <a:ext cx="402336" cy="402336"/>
          </a:xfrm>
          <a:prstGeom prst="roundRect">
            <a:avLst>
              <a:gd name="adj" fmla="val 13636"/>
            </a:avLst>
          </a:prstGeom>
          <a:solidFill>
            <a:srgbClr val="22D3EE">
              <a:alpha val="92000"/>
            </a:srgbClr>
          </a:solidFill>
          <a:ln/>
        </p:spPr>
      </p:sp>
      <p:sp>
        <p:nvSpPr>
          <p:cNvPr id="63" name="tile-7-1"/>
          <p:cNvSpPr/>
          <p:nvPr/>
        </p:nvSpPr>
        <p:spPr>
          <a:xfrm>
            <a:off x="8403336" y="4690872"/>
            <a:ext cx="402336" cy="402336"/>
          </a:xfrm>
          <a:prstGeom prst="roundRect">
            <a:avLst>
              <a:gd name="adj" fmla="val 13636"/>
            </a:avLst>
          </a:prstGeom>
          <a:solidFill>
            <a:srgbClr val="22D3EE">
              <a:alpha val="92000"/>
            </a:srgbClr>
          </a:solidFill>
          <a:ln/>
        </p:spPr>
      </p:sp>
      <p:sp>
        <p:nvSpPr>
          <p:cNvPr id="64" name="tile-7-2"/>
          <p:cNvSpPr/>
          <p:nvPr/>
        </p:nvSpPr>
        <p:spPr>
          <a:xfrm>
            <a:off x="8897112" y="4690872"/>
            <a:ext cx="402336" cy="402336"/>
          </a:xfrm>
          <a:prstGeom prst="roundRect">
            <a:avLst>
              <a:gd name="adj" fmla="val 13636"/>
            </a:avLst>
          </a:prstGeom>
          <a:solidFill>
            <a:srgbClr val="0E7490">
              <a:alpha val="92000"/>
            </a:srgbClr>
          </a:solidFill>
          <a:ln/>
        </p:spPr>
      </p:sp>
      <p:sp>
        <p:nvSpPr>
          <p:cNvPr id="65" name="tile-7-3"/>
          <p:cNvSpPr/>
          <p:nvPr/>
        </p:nvSpPr>
        <p:spPr>
          <a:xfrm>
            <a:off x="9390888" y="4690872"/>
            <a:ext cx="402336" cy="402336"/>
          </a:xfrm>
          <a:prstGeom prst="roundRect">
            <a:avLst>
              <a:gd name="adj" fmla="val 13636"/>
            </a:avLst>
          </a:prstGeom>
          <a:solidFill>
            <a:srgbClr val="1E293B"/>
          </a:solidFill>
          <a:ln/>
        </p:spPr>
      </p:sp>
      <p:sp>
        <p:nvSpPr>
          <p:cNvPr id="66" name="tile-7-4"/>
          <p:cNvSpPr/>
          <p:nvPr/>
        </p:nvSpPr>
        <p:spPr>
          <a:xfrm>
            <a:off x="9884664" y="4690872"/>
            <a:ext cx="402336" cy="402336"/>
          </a:xfrm>
          <a:prstGeom prst="roundRect">
            <a:avLst>
              <a:gd name="adj" fmla="val 13636"/>
            </a:avLst>
          </a:prstGeom>
          <a:solidFill>
            <a:srgbClr val="6D28D9">
              <a:alpha val="92000"/>
            </a:srgbClr>
          </a:solidFill>
          <a:ln/>
        </p:spPr>
      </p:sp>
      <p:sp>
        <p:nvSpPr>
          <p:cNvPr id="67" name="tile-7-5"/>
          <p:cNvSpPr/>
          <p:nvPr/>
        </p:nvSpPr>
        <p:spPr>
          <a:xfrm>
            <a:off x="10378440" y="4690872"/>
            <a:ext cx="402336" cy="402336"/>
          </a:xfrm>
          <a:prstGeom prst="roundRect">
            <a:avLst>
              <a:gd name="adj" fmla="val 13636"/>
            </a:avLst>
          </a:prstGeom>
          <a:solidFill>
            <a:srgbClr val="6D28D9">
              <a:alpha val="92000"/>
            </a:srgbClr>
          </a:solidFill>
          <a:ln/>
        </p:spPr>
      </p:sp>
      <p:sp>
        <p:nvSpPr>
          <p:cNvPr id="68" name="tile-7-6"/>
          <p:cNvSpPr/>
          <p:nvPr/>
        </p:nvSpPr>
        <p:spPr>
          <a:xfrm>
            <a:off x="10872216" y="4690872"/>
            <a:ext cx="402336" cy="402336"/>
          </a:xfrm>
          <a:prstGeom prst="roundRect">
            <a:avLst>
              <a:gd name="adj" fmla="val 13636"/>
            </a:avLst>
          </a:prstGeom>
          <a:solidFill>
            <a:srgbClr val="1E293B"/>
          </a:solidFill>
          <a:ln/>
        </p:spPr>
      </p:sp>
      <p:sp>
        <p:nvSpPr>
          <p:cNvPr id="69" name="tile-7-7"/>
          <p:cNvSpPr/>
          <p:nvPr/>
        </p:nvSpPr>
        <p:spPr>
          <a:xfrm>
            <a:off x="11365992" y="4690872"/>
            <a:ext cx="402336" cy="402336"/>
          </a:xfrm>
          <a:prstGeom prst="roundRect">
            <a:avLst>
              <a:gd name="adj" fmla="val 13636"/>
            </a:avLst>
          </a:prstGeom>
          <a:solidFill>
            <a:srgbClr val="BE185D">
              <a:alpha val="92000"/>
            </a:srgbClr>
          </a:solidFill>
          <a:ln/>
        </p:spPr>
      </p:sp>
    </p:spTree>
  </p:cSld>
  <p:clrMapOvr>
    <a:masterClrMapping/>
  </p:clrMapOvr>
</p:sld>
</file>

<file path=ppt/theme/theme1.xml><?xml version="1.0" encoding="utf-8"?>
<a:theme xmlns:a="http://schemas.openxmlformats.org/drawingml/2006/main" name="PixelMosaic">
  <a:themeElements>
    <a:clrScheme name="PixelMosaic">
      <a:dk1>
        <a:srgbClr val="0B0F19"/>
      </a:dk1>
      <a:lt1>
        <a:srgbClr val="FFFFFF"/>
      </a:lt1>
      <a:dk2>
        <a:srgbClr val="334155"/>
      </a:dk2>
      <a:lt2>
        <a:srgbClr val="F1F4F9"/>
      </a:lt2>
      <a:accent1>
        <a:srgbClr val="0E7490"/>
      </a:accent1>
      <a:accent2>
        <a:srgbClr val="BE185D"/>
      </a:accent2>
      <a:accent3>
        <a:srgbClr val="6D28D9"/>
      </a:accent3>
      <a:accent4>
        <a:srgbClr val="22D3EE"/>
      </a:accent4>
      <a:accent5>
        <a:srgbClr val="F472B6"/>
      </a:accent5>
      <a:accent6>
        <a:srgbClr val="94A3B8"/>
      </a:accent6>
      <a:hlink>
        <a:srgbClr val="0E7490"/>
      </a:hlink>
      <a:folHlink>
        <a:srgbClr val="6D28D9"/>
      </a:folHlink>
    </a:clrScheme>
    <a:fontScheme name="PixelMosai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Crowd-Sourced Pixel Art Mosaic Generator</dc:title>
  <dc:subject>Cloud computing project: BRD and implementation</dc:subject>
  <dc:creator>PptxGenJS</dc:creator>
  <cp:lastModifiedBy>PptxGenJS</cp:lastModifiedBy>
  <cp:revision>1</cp:revision>
  <dcterms:created xsi:type="dcterms:W3CDTF">2026-10-27T05:31:45Z</dcterms:created>
  <dcterms:modified xsi:type="dcterms:W3CDTF">2026-10-27T05:31:45Z</dcterms:modified>
</cp:coreProperties>
</file>